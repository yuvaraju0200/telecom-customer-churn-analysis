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71" r:id="rId2"/>
    <p:sldId id="270" r:id="rId3"/>
    <p:sldId id="256" r:id="rId4"/>
    <p:sldId id="257" r:id="rId5"/>
    <p:sldId id="278" r:id="rId6"/>
    <p:sldId id="261" r:id="rId7"/>
    <p:sldId id="259" r:id="rId8"/>
    <p:sldId id="260" r:id="rId9"/>
    <p:sldId id="263" r:id="rId10"/>
    <p:sldId id="258" r:id="rId11"/>
    <p:sldId id="264" r:id="rId12"/>
    <p:sldId id="262" r:id="rId13"/>
    <p:sldId id="275" r:id="rId14"/>
    <p:sldId id="266" r:id="rId15"/>
    <p:sldId id="267" r:id="rId16"/>
    <p:sldId id="272" r:id="rId17"/>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39" d="100"/>
          <a:sy n="39" d="100"/>
        </p:scale>
        <p:origin x="940" y="5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4800" cy="515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10358438" y="0"/>
            <a:ext cx="7924800" cy="515938"/>
          </a:xfrm>
          <a:prstGeom prst="rect">
            <a:avLst/>
          </a:prstGeom>
        </p:spPr>
        <p:txBody>
          <a:bodyPr vert="horz" lIns="91440" tIns="45720" rIns="91440" bIns="45720" rtlCol="0"/>
          <a:lstStyle>
            <a:lvl1pPr algn="r">
              <a:defRPr sz="1200"/>
            </a:lvl1pPr>
          </a:lstStyle>
          <a:p>
            <a:fld id="{2A77B4B7-FFEB-465B-A269-19CCA458A1FA}" type="datetimeFigureOut">
              <a:rPr lang="en-IN" smtClean="0"/>
              <a:t>15-11-2025</a:t>
            </a:fld>
            <a:endParaRPr lang="en-IN"/>
          </a:p>
        </p:txBody>
      </p:sp>
      <p:sp>
        <p:nvSpPr>
          <p:cNvPr id="4" name="Slide Image Placeholder 3"/>
          <p:cNvSpPr>
            <a:spLocks noGrp="1" noRot="1" noChangeAspect="1"/>
          </p:cNvSpPr>
          <p:nvPr>
            <p:ph type="sldImg" idx="2"/>
          </p:nvPr>
        </p:nvSpPr>
        <p:spPr>
          <a:xfrm>
            <a:off x="6057900" y="1285875"/>
            <a:ext cx="6172200" cy="3471863"/>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828800" y="4951413"/>
            <a:ext cx="14630400" cy="40497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771063"/>
            <a:ext cx="7924800" cy="515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10358438" y="9771063"/>
            <a:ext cx="7924800" cy="515937"/>
          </a:xfrm>
          <a:prstGeom prst="rect">
            <a:avLst/>
          </a:prstGeom>
        </p:spPr>
        <p:txBody>
          <a:bodyPr vert="horz" lIns="91440" tIns="45720" rIns="91440" bIns="45720" rtlCol="0" anchor="b"/>
          <a:lstStyle>
            <a:lvl1pPr algn="r">
              <a:defRPr sz="1200"/>
            </a:lvl1pPr>
          </a:lstStyle>
          <a:p>
            <a:fld id="{2E66022B-7F18-4115-AB51-A25C45DBC6E0}" type="slidenum">
              <a:rPr lang="en-IN" smtClean="0"/>
              <a:t>‹#›</a:t>
            </a:fld>
            <a:endParaRPr lang="en-IN"/>
          </a:p>
        </p:txBody>
      </p:sp>
    </p:spTree>
    <p:extLst>
      <p:ext uri="{BB962C8B-B14F-4D97-AF65-F5344CB8AC3E}">
        <p14:creationId xmlns:p14="http://schemas.microsoft.com/office/powerpoint/2010/main" val="34450311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E66022B-7F18-4115-AB51-A25C45DBC6E0}" type="slidenum">
              <a:rPr lang="en-IN" smtClean="0"/>
              <a:t>6</a:t>
            </a:fld>
            <a:endParaRPr lang="en-IN"/>
          </a:p>
        </p:txBody>
      </p:sp>
    </p:spTree>
    <p:extLst>
      <p:ext uri="{BB962C8B-B14F-4D97-AF65-F5344CB8AC3E}">
        <p14:creationId xmlns:p14="http://schemas.microsoft.com/office/powerpoint/2010/main" val="2676420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2000" b="0" i="0">
                <a:solidFill>
                  <a:srgbClr val="B14F31"/>
                </a:solidFill>
                <a:latin typeface="Calibri"/>
                <a:cs typeface="Calibri"/>
              </a:defRPr>
            </a:lvl1pPr>
          </a:lstStyle>
          <a:p>
            <a:pPr marR="71120" algn="r">
              <a:lnSpc>
                <a:spcPts val="2385"/>
              </a:lnSpc>
              <a:spcBef>
                <a:spcPts val="35"/>
              </a:spcBef>
            </a:pPr>
            <a:r>
              <a:rPr spc="204" dirty="0"/>
              <a:t>Presented</a:t>
            </a:r>
            <a:r>
              <a:rPr spc="85" dirty="0"/>
              <a:t> </a:t>
            </a:r>
            <a:r>
              <a:rPr spc="290" dirty="0"/>
              <a:t>By</a:t>
            </a:r>
            <a:r>
              <a:rPr spc="85" dirty="0"/>
              <a:t> </a:t>
            </a:r>
            <a:r>
              <a:rPr spc="-50" dirty="0"/>
              <a:t>:</a:t>
            </a:r>
          </a:p>
          <a:p>
            <a:pPr marR="5080" algn="r">
              <a:lnSpc>
                <a:spcPts val="2385"/>
              </a:lnSpc>
            </a:pPr>
            <a:r>
              <a:rPr b="1" spc="225" dirty="0">
                <a:latin typeface="Calibri"/>
                <a:cs typeface="Calibri"/>
              </a:rPr>
              <a:t>Eleanor</a:t>
            </a:r>
            <a:r>
              <a:rPr b="1" spc="110" dirty="0">
                <a:latin typeface="Calibri"/>
                <a:cs typeface="Calibri"/>
              </a:rPr>
              <a:t> </a:t>
            </a:r>
            <a:r>
              <a:rPr b="1" spc="220" dirty="0">
                <a:latin typeface="Calibri"/>
                <a:cs typeface="Calibri"/>
              </a:rPr>
              <a:t>Fitzgerald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11/15/2025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2000" b="0" i="0">
                <a:solidFill>
                  <a:srgbClr val="B14F31"/>
                </a:solidFill>
                <a:latin typeface="Calibri"/>
                <a:cs typeface="Calibri"/>
              </a:defRPr>
            </a:lvl1pPr>
          </a:lstStyle>
          <a:p>
            <a:pPr marR="71120" algn="r">
              <a:lnSpc>
                <a:spcPts val="2385"/>
              </a:lnSpc>
              <a:spcBef>
                <a:spcPts val="35"/>
              </a:spcBef>
            </a:pPr>
            <a:r>
              <a:rPr spc="204" dirty="0"/>
              <a:t>Presented</a:t>
            </a:r>
            <a:r>
              <a:rPr spc="85" dirty="0"/>
              <a:t> </a:t>
            </a:r>
            <a:r>
              <a:rPr spc="290" dirty="0"/>
              <a:t>By</a:t>
            </a:r>
            <a:r>
              <a:rPr spc="85" dirty="0"/>
              <a:t> </a:t>
            </a:r>
            <a:r>
              <a:rPr spc="-50" dirty="0"/>
              <a:t>:</a:t>
            </a:r>
          </a:p>
          <a:p>
            <a:pPr marR="5080" algn="r">
              <a:lnSpc>
                <a:spcPts val="2385"/>
              </a:lnSpc>
            </a:pPr>
            <a:r>
              <a:rPr b="1" spc="225" dirty="0">
                <a:latin typeface="Calibri"/>
                <a:cs typeface="Calibri"/>
              </a:rPr>
              <a:t>Eleanor</a:t>
            </a:r>
            <a:r>
              <a:rPr b="1" spc="110" dirty="0">
                <a:latin typeface="Calibri"/>
                <a:cs typeface="Calibri"/>
              </a:rPr>
              <a:t> </a:t>
            </a:r>
            <a:r>
              <a:rPr b="1" spc="220" dirty="0">
                <a:latin typeface="Calibri"/>
                <a:cs typeface="Calibri"/>
              </a:rPr>
              <a:t>Fitzgerald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11/15/2025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2000" b="0" i="0">
                <a:solidFill>
                  <a:srgbClr val="B14F31"/>
                </a:solidFill>
                <a:latin typeface="Calibri"/>
                <a:cs typeface="Calibri"/>
              </a:defRPr>
            </a:lvl1pPr>
          </a:lstStyle>
          <a:p>
            <a:pPr marR="71120" algn="r">
              <a:lnSpc>
                <a:spcPts val="2385"/>
              </a:lnSpc>
              <a:spcBef>
                <a:spcPts val="35"/>
              </a:spcBef>
            </a:pPr>
            <a:r>
              <a:rPr spc="204" dirty="0"/>
              <a:t>Presented</a:t>
            </a:r>
            <a:r>
              <a:rPr spc="85" dirty="0"/>
              <a:t> </a:t>
            </a:r>
            <a:r>
              <a:rPr spc="290" dirty="0"/>
              <a:t>By</a:t>
            </a:r>
            <a:r>
              <a:rPr spc="85" dirty="0"/>
              <a:t> </a:t>
            </a:r>
            <a:r>
              <a:rPr spc="-50" dirty="0"/>
              <a:t>:</a:t>
            </a:r>
          </a:p>
          <a:p>
            <a:pPr marR="5080" algn="r">
              <a:lnSpc>
                <a:spcPts val="2385"/>
              </a:lnSpc>
            </a:pPr>
            <a:r>
              <a:rPr b="1" spc="225" dirty="0">
                <a:latin typeface="Calibri"/>
                <a:cs typeface="Calibri"/>
              </a:rPr>
              <a:t>Eleanor</a:t>
            </a:r>
            <a:r>
              <a:rPr b="1" spc="110" dirty="0">
                <a:latin typeface="Calibri"/>
                <a:cs typeface="Calibri"/>
              </a:rPr>
              <a:t> </a:t>
            </a:r>
            <a:r>
              <a:rPr b="1" spc="220" dirty="0">
                <a:latin typeface="Calibri"/>
                <a:cs typeface="Calibri"/>
              </a:rPr>
              <a:t>Fitzgerald</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11/15/2025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defRPr sz="2000" b="0" i="0">
                <a:solidFill>
                  <a:srgbClr val="B14F31"/>
                </a:solidFill>
                <a:latin typeface="Calibri"/>
                <a:cs typeface="Calibri"/>
              </a:defRPr>
            </a:lvl1pPr>
          </a:lstStyle>
          <a:p>
            <a:pPr marR="71120" algn="r">
              <a:lnSpc>
                <a:spcPts val="2385"/>
              </a:lnSpc>
              <a:spcBef>
                <a:spcPts val="35"/>
              </a:spcBef>
            </a:pPr>
            <a:r>
              <a:rPr spc="204" dirty="0"/>
              <a:t>Presented</a:t>
            </a:r>
            <a:r>
              <a:rPr spc="85" dirty="0"/>
              <a:t> </a:t>
            </a:r>
            <a:r>
              <a:rPr spc="290" dirty="0"/>
              <a:t>By</a:t>
            </a:r>
            <a:r>
              <a:rPr spc="85" dirty="0"/>
              <a:t> </a:t>
            </a:r>
            <a:r>
              <a:rPr spc="-50" dirty="0"/>
              <a:t>:</a:t>
            </a:r>
          </a:p>
          <a:p>
            <a:pPr marR="5080" algn="r">
              <a:lnSpc>
                <a:spcPts val="2385"/>
              </a:lnSpc>
            </a:pPr>
            <a:r>
              <a:rPr b="1" spc="225" dirty="0">
                <a:latin typeface="Calibri"/>
                <a:cs typeface="Calibri"/>
              </a:rPr>
              <a:t>Eleanor</a:t>
            </a:r>
            <a:r>
              <a:rPr b="1" spc="110" dirty="0">
                <a:latin typeface="Calibri"/>
                <a:cs typeface="Calibri"/>
              </a:rPr>
              <a:t> </a:t>
            </a:r>
            <a:r>
              <a:rPr b="1" spc="220" dirty="0">
                <a:latin typeface="Calibri"/>
                <a:cs typeface="Calibri"/>
              </a:rPr>
              <a:t>Fitzgerald</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11/15/2025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2000" b="0" i="0">
                <a:solidFill>
                  <a:srgbClr val="B14F31"/>
                </a:solidFill>
                <a:latin typeface="Calibri"/>
                <a:cs typeface="Calibri"/>
              </a:defRPr>
            </a:lvl1pPr>
          </a:lstStyle>
          <a:p>
            <a:pPr marR="71120" algn="r">
              <a:lnSpc>
                <a:spcPts val="2385"/>
              </a:lnSpc>
              <a:spcBef>
                <a:spcPts val="35"/>
              </a:spcBef>
            </a:pPr>
            <a:r>
              <a:rPr spc="204" dirty="0"/>
              <a:t>Presented</a:t>
            </a:r>
            <a:r>
              <a:rPr spc="85" dirty="0"/>
              <a:t> </a:t>
            </a:r>
            <a:r>
              <a:rPr spc="290" dirty="0"/>
              <a:t>By</a:t>
            </a:r>
            <a:r>
              <a:rPr spc="85" dirty="0"/>
              <a:t> </a:t>
            </a:r>
            <a:r>
              <a:rPr spc="-50" dirty="0"/>
              <a:t>:</a:t>
            </a:r>
          </a:p>
          <a:p>
            <a:pPr marR="5080" algn="r">
              <a:lnSpc>
                <a:spcPts val="2385"/>
              </a:lnSpc>
            </a:pPr>
            <a:r>
              <a:rPr b="1" spc="225" dirty="0">
                <a:latin typeface="Calibri"/>
                <a:cs typeface="Calibri"/>
              </a:rPr>
              <a:t>Eleanor</a:t>
            </a:r>
            <a:r>
              <a:rPr b="1" spc="110" dirty="0">
                <a:latin typeface="Calibri"/>
                <a:cs typeface="Calibri"/>
              </a:rPr>
              <a:t> </a:t>
            </a:r>
            <a:r>
              <a:rPr b="1" spc="220" dirty="0">
                <a:latin typeface="Calibri"/>
                <a:cs typeface="Calibri"/>
              </a:rPr>
              <a:t>Fitzgerald</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11/15/2025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14400" y="411480"/>
            <a:ext cx="16459200" cy="164592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914400" y="2366010"/>
            <a:ext cx="1645920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4824933" y="8939538"/>
            <a:ext cx="2447290" cy="636904"/>
          </a:xfrm>
          <a:prstGeom prst="rect">
            <a:avLst/>
          </a:prstGeom>
        </p:spPr>
        <p:txBody>
          <a:bodyPr wrap="square" lIns="0" tIns="0" rIns="0" bIns="0">
            <a:spAutoFit/>
          </a:bodyPr>
          <a:lstStyle>
            <a:lvl1pPr>
              <a:defRPr sz="2000" b="0" i="0">
                <a:solidFill>
                  <a:srgbClr val="B14F31"/>
                </a:solidFill>
                <a:latin typeface="Calibri"/>
                <a:cs typeface="Calibri"/>
              </a:defRPr>
            </a:lvl1pPr>
          </a:lstStyle>
          <a:p>
            <a:pPr marR="71120" algn="r">
              <a:lnSpc>
                <a:spcPts val="2385"/>
              </a:lnSpc>
              <a:spcBef>
                <a:spcPts val="35"/>
              </a:spcBef>
            </a:pPr>
            <a:r>
              <a:rPr spc="204" dirty="0"/>
              <a:t>Presented</a:t>
            </a:r>
            <a:r>
              <a:rPr spc="85" dirty="0"/>
              <a:t> </a:t>
            </a:r>
            <a:r>
              <a:rPr spc="290" dirty="0"/>
              <a:t>By</a:t>
            </a:r>
            <a:r>
              <a:rPr spc="85" dirty="0"/>
              <a:t> </a:t>
            </a:r>
            <a:r>
              <a:rPr spc="-50" dirty="0"/>
              <a:t>:</a:t>
            </a:r>
          </a:p>
          <a:p>
            <a:pPr marR="5080" algn="r">
              <a:lnSpc>
                <a:spcPts val="2385"/>
              </a:lnSpc>
            </a:pPr>
            <a:r>
              <a:rPr b="1" spc="225" dirty="0">
                <a:latin typeface="Calibri"/>
                <a:cs typeface="Calibri"/>
              </a:rPr>
              <a:t>Eleanor</a:t>
            </a:r>
            <a:r>
              <a:rPr b="1" spc="110" dirty="0">
                <a:latin typeface="Calibri"/>
                <a:cs typeface="Calibri"/>
              </a:rPr>
              <a:t> </a:t>
            </a:r>
            <a:r>
              <a:rPr b="1" spc="220" dirty="0">
                <a:latin typeface="Calibri"/>
                <a:cs typeface="Calibri"/>
              </a:rPr>
              <a:t>Fitzgerald</a:t>
            </a: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11/15/2025</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24976767-1984-62A2-030C-825C748CEE04}"/>
              </a:ext>
            </a:extLst>
          </p:cNvPr>
          <p:cNvSpPr/>
          <p:nvPr/>
        </p:nvSpPr>
        <p:spPr>
          <a:xfrm>
            <a:off x="87444" y="0"/>
            <a:ext cx="18113112" cy="10286999"/>
          </a:xfrm>
          <a:custGeom>
            <a:avLst/>
            <a:gdLst/>
            <a:ahLst/>
            <a:cxnLst/>
            <a:rect l="l" t="t" r="r" b="b"/>
            <a:pathLst>
              <a:path w="8361041" h="6410935">
                <a:moveTo>
                  <a:pt x="0" y="0"/>
                </a:moveTo>
                <a:lnTo>
                  <a:pt x="8361041" y="0"/>
                </a:lnTo>
                <a:lnTo>
                  <a:pt x="8361041" y="6410935"/>
                </a:lnTo>
                <a:lnTo>
                  <a:pt x="0" y="6410935"/>
                </a:lnTo>
                <a:lnTo>
                  <a:pt x="0" y="0"/>
                </a:lnTo>
                <a:close/>
              </a:path>
            </a:pathLst>
          </a:custGeom>
          <a:blipFill>
            <a:blip r:embed="rId2"/>
            <a:stretch>
              <a:fillRect l="-1839" r="-1839" b="-3102"/>
            </a:stretch>
          </a:blipFill>
        </p:spPr>
      </p:sp>
      <p:sp>
        <p:nvSpPr>
          <p:cNvPr id="5" name="TextBox 4">
            <a:extLst>
              <a:ext uri="{FF2B5EF4-FFF2-40B4-BE49-F238E27FC236}">
                <a16:creationId xmlns:a16="http://schemas.microsoft.com/office/drawing/2014/main" id="{33A64831-784D-C533-A631-17EA16D29F08}"/>
              </a:ext>
            </a:extLst>
          </p:cNvPr>
          <p:cNvSpPr txBox="1"/>
          <p:nvPr/>
        </p:nvSpPr>
        <p:spPr>
          <a:xfrm>
            <a:off x="9176657" y="8343900"/>
            <a:ext cx="9285156" cy="1754326"/>
          </a:xfrm>
          <a:prstGeom prst="rect">
            <a:avLst/>
          </a:prstGeom>
          <a:noFill/>
        </p:spPr>
        <p:txBody>
          <a:bodyPr wrap="square" rtlCol="0">
            <a:spAutoFit/>
          </a:bodyPr>
          <a:lstStyle/>
          <a:p>
            <a:r>
              <a:rPr lang="en-US" sz="3200" dirty="0">
                <a:solidFill>
                  <a:schemeClr val="tx2">
                    <a:lumMod val="60000"/>
                    <a:lumOff val="40000"/>
                  </a:schemeClr>
                </a:solidFill>
              </a:rPr>
              <a:t>NAME</a:t>
            </a:r>
            <a:r>
              <a:rPr lang="en-US" sz="3600" dirty="0">
                <a:solidFill>
                  <a:schemeClr val="tx2">
                    <a:lumMod val="60000"/>
                    <a:lumOff val="40000"/>
                  </a:schemeClr>
                </a:solidFill>
              </a:rPr>
              <a:t> :   </a:t>
            </a:r>
            <a:r>
              <a:rPr lang="en-US" sz="3600" dirty="0" err="1">
                <a:solidFill>
                  <a:schemeClr val="tx2">
                    <a:lumMod val="60000"/>
                    <a:lumOff val="40000"/>
                  </a:schemeClr>
                </a:solidFill>
              </a:rPr>
              <a:t>Yuvaraju</a:t>
            </a:r>
            <a:endParaRPr lang="en-US" sz="3600" dirty="0">
              <a:solidFill>
                <a:schemeClr val="tx2">
                  <a:lumMod val="60000"/>
                  <a:lumOff val="40000"/>
                </a:schemeClr>
              </a:solidFill>
            </a:endParaRPr>
          </a:p>
          <a:p>
            <a:r>
              <a:rPr lang="en-US" sz="3200" dirty="0">
                <a:solidFill>
                  <a:schemeClr val="tx2">
                    <a:lumMod val="60000"/>
                    <a:lumOff val="40000"/>
                  </a:schemeClr>
                </a:solidFill>
              </a:rPr>
              <a:t>BATCH NO  </a:t>
            </a:r>
            <a:r>
              <a:rPr lang="en-US" sz="3600" dirty="0">
                <a:solidFill>
                  <a:schemeClr val="tx2">
                    <a:lumMod val="60000"/>
                    <a:lumOff val="40000"/>
                  </a:schemeClr>
                </a:solidFill>
              </a:rPr>
              <a:t>: 403</a:t>
            </a:r>
          </a:p>
          <a:p>
            <a:r>
              <a:rPr lang="en-US" sz="3200" dirty="0">
                <a:solidFill>
                  <a:schemeClr val="tx2">
                    <a:lumMod val="60000"/>
                    <a:lumOff val="40000"/>
                  </a:schemeClr>
                </a:solidFill>
              </a:rPr>
              <a:t>BRANCH </a:t>
            </a:r>
            <a:r>
              <a:rPr lang="en-US" sz="3600" dirty="0">
                <a:solidFill>
                  <a:schemeClr val="tx2">
                    <a:lumMod val="60000"/>
                    <a:lumOff val="40000"/>
                  </a:schemeClr>
                </a:solidFill>
              </a:rPr>
              <a:t>:  </a:t>
            </a:r>
            <a:r>
              <a:rPr lang="en-US" sz="3600" dirty="0" err="1">
                <a:solidFill>
                  <a:schemeClr val="tx2">
                    <a:lumMod val="60000"/>
                    <a:lumOff val="40000"/>
                  </a:schemeClr>
                </a:solidFill>
              </a:rPr>
              <a:t>Innomatics</a:t>
            </a:r>
            <a:r>
              <a:rPr lang="en-US" sz="3600" dirty="0">
                <a:solidFill>
                  <a:schemeClr val="tx2">
                    <a:lumMod val="60000"/>
                    <a:lumOff val="40000"/>
                  </a:schemeClr>
                </a:solidFill>
              </a:rPr>
              <a:t> Research Labs,</a:t>
            </a:r>
          </a:p>
        </p:txBody>
      </p:sp>
      <p:sp>
        <p:nvSpPr>
          <p:cNvPr id="7" name="TextBox 6">
            <a:extLst>
              <a:ext uri="{FF2B5EF4-FFF2-40B4-BE49-F238E27FC236}">
                <a16:creationId xmlns:a16="http://schemas.microsoft.com/office/drawing/2014/main" id="{8EAA850D-085A-1425-F91F-F01F25490210}"/>
              </a:ext>
            </a:extLst>
          </p:cNvPr>
          <p:cNvSpPr txBox="1"/>
          <p:nvPr/>
        </p:nvSpPr>
        <p:spPr>
          <a:xfrm>
            <a:off x="4038600" y="5981700"/>
            <a:ext cx="11353800" cy="830997"/>
          </a:xfrm>
          <a:prstGeom prst="rect">
            <a:avLst/>
          </a:prstGeom>
          <a:noFill/>
        </p:spPr>
        <p:txBody>
          <a:bodyPr wrap="square" rtlCol="0">
            <a:spAutoFit/>
          </a:bodyPr>
          <a:lstStyle/>
          <a:p>
            <a:r>
              <a:rPr lang="en-US" sz="4800" b="1" dirty="0"/>
              <a:t>Telecom Customer Churn Analysis</a:t>
            </a:r>
            <a:endParaRPr lang="en-US" sz="2400" dirty="0">
              <a:latin typeface="Calibri"/>
              <a:cs typeface="Calibri"/>
            </a:endParaRPr>
          </a:p>
        </p:txBody>
      </p:sp>
    </p:spTree>
    <p:extLst>
      <p:ext uri="{BB962C8B-B14F-4D97-AF65-F5344CB8AC3E}">
        <p14:creationId xmlns:p14="http://schemas.microsoft.com/office/powerpoint/2010/main" val="36439428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399337D-0A0C-FC37-C1E5-6470362C5EDB}"/>
            </a:ext>
          </a:extLst>
        </p:cNvPr>
        <p:cNvGrpSpPr/>
        <p:nvPr/>
      </p:nvGrpSpPr>
      <p:grpSpPr>
        <a:xfrm>
          <a:off x="0" y="0"/>
          <a:ext cx="0" cy="0"/>
          <a:chOff x="0" y="0"/>
          <a:chExt cx="0" cy="0"/>
        </a:xfrm>
      </p:grpSpPr>
      <p:pic>
        <p:nvPicPr>
          <p:cNvPr id="4098" name="Picture 2" descr="GitHub - Harshwardhanpjadhav/Customer-Churn: Telecom Customer Churn  Prediction This repository contains a machine learning project focused on  predicting customer churn in the telecommunications industry. By leveraging  a dataset of customer demographics ...">
            <a:extLst>
              <a:ext uri="{FF2B5EF4-FFF2-40B4-BE49-F238E27FC236}">
                <a16:creationId xmlns:a16="http://schemas.microsoft.com/office/drawing/2014/main" id="{8049A74B-0FA3-D7FC-4EB7-8F7FD8A9EA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0" cy="10401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38132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20AE1C5-1D8C-8C0B-116A-A53AD7D6C5C6}"/>
              </a:ext>
            </a:extLst>
          </p:cNvPr>
          <p:cNvSpPr txBox="1"/>
          <p:nvPr/>
        </p:nvSpPr>
        <p:spPr>
          <a:xfrm>
            <a:off x="609600" y="111353"/>
            <a:ext cx="10439400"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12700">
              <a:lnSpc>
                <a:spcPct val="100000"/>
              </a:lnSpc>
              <a:spcBef>
                <a:spcPts val="1200"/>
              </a:spcBef>
            </a:pPr>
            <a:r>
              <a:rPr lang="en-US" sz="3600" b="1" dirty="0">
                <a:solidFill>
                  <a:srgbClr val="FF0000"/>
                </a:solidFill>
                <a:latin typeface="Calibri"/>
                <a:cs typeface="Calibri"/>
              </a:rPr>
              <a:t>          CUSTOMER CHURN ANALYSIS :</a:t>
            </a:r>
          </a:p>
        </p:txBody>
      </p:sp>
      <p:sp>
        <p:nvSpPr>
          <p:cNvPr id="15" name="TextBox 14">
            <a:extLst>
              <a:ext uri="{FF2B5EF4-FFF2-40B4-BE49-F238E27FC236}">
                <a16:creationId xmlns:a16="http://schemas.microsoft.com/office/drawing/2014/main" id="{2519BA4C-338F-0038-5ABB-66DB39E683B6}"/>
              </a:ext>
            </a:extLst>
          </p:cNvPr>
          <p:cNvSpPr txBox="1"/>
          <p:nvPr/>
        </p:nvSpPr>
        <p:spPr>
          <a:xfrm>
            <a:off x="228600" y="880190"/>
            <a:ext cx="17906999" cy="3890489"/>
          </a:xfrm>
          <a:prstGeom prst="rect">
            <a:avLst/>
          </a:prstGeom>
          <a:solidFill>
            <a:schemeClr val="bg1">
              <a:lumMod val="95000"/>
            </a:schemeClr>
          </a:solidFill>
        </p:spPr>
        <p:txBody>
          <a:bodyPr wrap="square" rtlCol="0">
            <a:spAutoFit/>
          </a:bodyPr>
          <a:lstStyle/>
          <a:p>
            <a:pPr marL="457200" indent="-457200">
              <a:lnSpc>
                <a:spcPct val="150000"/>
              </a:lnSpc>
              <a:buFont typeface="Wingdings" panose="05000000000000000000" pitchFamily="2" charset="2"/>
              <a:buChar char="q"/>
            </a:pPr>
            <a:r>
              <a:rPr lang="en-US" sz="2800" b="1" dirty="0"/>
              <a:t> Telecom Customer Churn Analysis is the process of finding out   why customers are leaving a telecom company (disconnecting services) and which customers are likely to leave in the future.</a:t>
            </a:r>
          </a:p>
          <a:p>
            <a:pPr>
              <a:lnSpc>
                <a:spcPct val="150000"/>
              </a:lnSpc>
            </a:pPr>
            <a:endParaRPr lang="en-US" sz="2800" b="1" dirty="0"/>
          </a:p>
          <a:p>
            <a:pPr marL="457200" indent="-457200">
              <a:lnSpc>
                <a:spcPct val="150000"/>
              </a:lnSpc>
              <a:buFont typeface="Wingdings" panose="05000000000000000000" pitchFamily="2" charset="2"/>
              <a:buChar char="Ø"/>
            </a:pPr>
            <a:r>
              <a:rPr lang="en-US" sz="2800" b="1" dirty="0"/>
              <a:t> Churn  --- &gt; customers stopping their service..</a:t>
            </a:r>
          </a:p>
          <a:p>
            <a:pPr marL="457200" indent="-457200">
              <a:lnSpc>
                <a:spcPct val="150000"/>
              </a:lnSpc>
              <a:buFont typeface="Wingdings" panose="05000000000000000000" pitchFamily="2" charset="2"/>
              <a:buChar char="Ø"/>
            </a:pPr>
            <a:r>
              <a:rPr lang="en-US" sz="2800" b="1" dirty="0"/>
              <a:t>Churn analysis ----&gt;  studying customer </a:t>
            </a:r>
            <a:r>
              <a:rPr lang="en-US" sz="2800" b="1" dirty="0" err="1"/>
              <a:t>behaviour</a:t>
            </a:r>
            <a:r>
              <a:rPr lang="en-US" sz="2800" b="1" dirty="0"/>
              <a:t>  to understand and reduce churn</a:t>
            </a:r>
          </a:p>
          <a:p>
            <a:pPr>
              <a:lnSpc>
                <a:spcPct val="150000"/>
              </a:lnSpc>
            </a:pPr>
            <a:endParaRPr lang="en-US" sz="2800" b="1" dirty="0"/>
          </a:p>
        </p:txBody>
      </p:sp>
      <p:sp>
        <p:nvSpPr>
          <p:cNvPr id="16" name="TextBox 15">
            <a:extLst>
              <a:ext uri="{FF2B5EF4-FFF2-40B4-BE49-F238E27FC236}">
                <a16:creationId xmlns:a16="http://schemas.microsoft.com/office/drawing/2014/main" id="{2A178968-CBEE-696D-D6F4-6B05290290F3}"/>
              </a:ext>
            </a:extLst>
          </p:cNvPr>
          <p:cNvSpPr txBox="1"/>
          <p:nvPr/>
        </p:nvSpPr>
        <p:spPr>
          <a:xfrm>
            <a:off x="228600" y="5143500"/>
            <a:ext cx="17650023" cy="4708981"/>
          </a:xfrm>
          <a:prstGeom prst="rect">
            <a:avLst/>
          </a:prstGeom>
          <a:solidFill>
            <a:schemeClr val="bg1">
              <a:lumMod val="95000"/>
            </a:schemeClr>
          </a:solidFill>
        </p:spPr>
        <p:txBody>
          <a:bodyPr wrap="square" rtlCol="0">
            <a:spAutoFit/>
          </a:bodyPr>
          <a:lstStyle/>
          <a:p>
            <a:pPr marL="571500" indent="-571500">
              <a:buFont typeface="Wingdings" panose="05000000000000000000" pitchFamily="2" charset="2"/>
              <a:buChar char="q"/>
            </a:pPr>
            <a:r>
              <a:rPr lang="en-US" sz="4000" b="1" dirty="0">
                <a:solidFill>
                  <a:srgbClr val="FF0000"/>
                </a:solidFill>
              </a:rPr>
              <a:t> Purpose of Churn Analysis</a:t>
            </a:r>
          </a:p>
          <a:p>
            <a:endParaRPr lang="en-US" sz="4000" b="1" dirty="0">
              <a:solidFill>
                <a:srgbClr val="FF0000"/>
              </a:solidFill>
            </a:endParaRPr>
          </a:p>
          <a:p>
            <a:pPr marL="571500" indent="-571500">
              <a:buFont typeface="Wingdings" panose="05000000000000000000" pitchFamily="2" charset="2"/>
              <a:buChar char="Ø"/>
            </a:pPr>
            <a:r>
              <a:rPr lang="en-US" sz="4000" dirty="0"/>
              <a:t>  Reduce customer loss</a:t>
            </a:r>
          </a:p>
          <a:p>
            <a:pPr marL="571500" indent="-571500">
              <a:lnSpc>
                <a:spcPct val="150000"/>
              </a:lnSpc>
              <a:buFont typeface="Wingdings" panose="05000000000000000000" pitchFamily="2" charset="2"/>
              <a:buChar char="Ø"/>
            </a:pPr>
            <a:r>
              <a:rPr lang="en-US" sz="4000" dirty="0"/>
              <a:t>   Identify high-risk customers</a:t>
            </a:r>
          </a:p>
          <a:p>
            <a:pPr marL="571500" indent="-571500">
              <a:buFont typeface="Wingdings" panose="05000000000000000000" pitchFamily="2" charset="2"/>
              <a:buChar char="Ø"/>
            </a:pPr>
            <a:r>
              <a:rPr lang="en-US" sz="4000" dirty="0"/>
              <a:t>  Improve customer experience</a:t>
            </a:r>
          </a:p>
          <a:p>
            <a:pPr marL="571500" indent="-571500">
              <a:buFont typeface="Wingdings" panose="05000000000000000000" pitchFamily="2" charset="2"/>
              <a:buChar char="Ø"/>
            </a:pPr>
            <a:r>
              <a:rPr lang="en-US" sz="4000" dirty="0"/>
              <a:t>   Increase company revenue</a:t>
            </a:r>
          </a:p>
          <a:p>
            <a:pPr marL="571500" indent="-571500">
              <a:buFont typeface="Wingdings" panose="05000000000000000000" pitchFamily="2" charset="2"/>
              <a:buChar char="Ø"/>
            </a:pPr>
            <a:r>
              <a:rPr lang="en-US" sz="4000" dirty="0"/>
              <a:t>   Make better business decisions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0" y="0"/>
            <a:ext cx="10287000" cy="10287000"/>
          </a:xfrm>
          <a:prstGeom prst="rect">
            <a:avLst/>
          </a:prstGeom>
        </p:spPr>
      </p:pic>
      <p:sp>
        <p:nvSpPr>
          <p:cNvPr id="16" name="TextBox 15">
            <a:extLst>
              <a:ext uri="{FF2B5EF4-FFF2-40B4-BE49-F238E27FC236}">
                <a16:creationId xmlns:a16="http://schemas.microsoft.com/office/drawing/2014/main" id="{8E622795-8EF5-D136-B201-BA08FD9E60EB}"/>
              </a:ext>
            </a:extLst>
          </p:cNvPr>
          <p:cNvSpPr txBox="1"/>
          <p:nvPr/>
        </p:nvSpPr>
        <p:spPr>
          <a:xfrm>
            <a:off x="10836729" y="1866900"/>
            <a:ext cx="6553200" cy="76944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4400" b="1" spc="-10" dirty="0">
                <a:solidFill>
                  <a:srgbClr val="FF0000"/>
                </a:solidFill>
              </a:rPr>
              <a:t>AGENDA :</a:t>
            </a:r>
            <a:endParaRPr lang="en-IN" sz="4400" b="1" dirty="0">
              <a:solidFill>
                <a:srgbClr val="FF0000"/>
              </a:solidFill>
            </a:endParaRPr>
          </a:p>
        </p:txBody>
      </p:sp>
      <p:sp>
        <p:nvSpPr>
          <p:cNvPr id="18" name="TextBox 17">
            <a:extLst>
              <a:ext uri="{FF2B5EF4-FFF2-40B4-BE49-F238E27FC236}">
                <a16:creationId xmlns:a16="http://schemas.microsoft.com/office/drawing/2014/main" id="{211BEF9E-929C-63AE-B53A-B4FD341DC560}"/>
              </a:ext>
            </a:extLst>
          </p:cNvPr>
          <p:cNvSpPr txBox="1"/>
          <p:nvPr/>
        </p:nvSpPr>
        <p:spPr>
          <a:xfrm>
            <a:off x="9448800" y="2933700"/>
            <a:ext cx="8458200" cy="6833089"/>
          </a:xfrm>
          <a:prstGeom prst="rect">
            <a:avLst/>
          </a:prstGeom>
          <a:noFill/>
        </p:spPr>
        <p:txBody>
          <a:bodyPr wrap="square" rtlCol="0">
            <a:spAutoFit/>
          </a:bodyPr>
          <a:lstStyle/>
          <a:p>
            <a:pPr marL="298450" marR="3735704" indent="-285750">
              <a:lnSpc>
                <a:spcPct val="150000"/>
              </a:lnSpc>
              <a:spcBef>
                <a:spcPts val="95"/>
              </a:spcBef>
              <a:buFont typeface="Wingdings" panose="05000000000000000000" pitchFamily="2" charset="2"/>
              <a:buChar char="Ø"/>
            </a:pPr>
            <a:r>
              <a:rPr lang="en-US" sz="3600" b="1" dirty="0">
                <a:latin typeface="Times New Roman"/>
                <a:cs typeface="Times New Roman"/>
              </a:rPr>
              <a:t>   Introduction </a:t>
            </a:r>
          </a:p>
          <a:p>
            <a:pPr marL="298450" marR="3735704" indent="-285750">
              <a:lnSpc>
                <a:spcPct val="150000"/>
              </a:lnSpc>
              <a:spcBef>
                <a:spcPts val="95"/>
              </a:spcBef>
              <a:buFont typeface="Wingdings" panose="05000000000000000000" pitchFamily="2" charset="2"/>
              <a:buChar char="Ø"/>
            </a:pPr>
            <a:r>
              <a:rPr lang="en-US" sz="3600" b="1" dirty="0">
                <a:latin typeface="Times New Roman"/>
                <a:cs typeface="Times New Roman"/>
              </a:rPr>
              <a:t>  Project</a:t>
            </a:r>
            <a:r>
              <a:rPr lang="en-US" sz="3600" b="1" spc="-10" dirty="0">
                <a:latin typeface="Times New Roman"/>
                <a:cs typeface="Times New Roman"/>
              </a:rPr>
              <a:t> Overview </a:t>
            </a:r>
          </a:p>
          <a:p>
            <a:pPr marL="298450" marR="3735704" indent="-285750">
              <a:lnSpc>
                <a:spcPct val="150000"/>
              </a:lnSpc>
              <a:spcBef>
                <a:spcPts val="95"/>
              </a:spcBef>
              <a:buFont typeface="Wingdings" panose="05000000000000000000" pitchFamily="2" charset="2"/>
              <a:buChar char="Ø"/>
            </a:pPr>
            <a:r>
              <a:rPr lang="en-US" sz="3600" b="1" dirty="0">
                <a:latin typeface="Times New Roman"/>
                <a:cs typeface="Times New Roman"/>
              </a:rPr>
              <a:t>    Data </a:t>
            </a:r>
            <a:r>
              <a:rPr lang="en-US" sz="3600" b="1" spc="-10" dirty="0">
                <a:latin typeface="Times New Roman"/>
                <a:cs typeface="Times New Roman"/>
              </a:rPr>
              <a:t>Source</a:t>
            </a:r>
            <a:r>
              <a:rPr lang="en-US" sz="3600" b="1" spc="1025" dirty="0">
                <a:latin typeface="Times New Roman"/>
                <a:cs typeface="Times New Roman"/>
              </a:rPr>
              <a:t> </a:t>
            </a:r>
          </a:p>
          <a:p>
            <a:pPr marL="298450" marR="3735704" indent="-285750">
              <a:lnSpc>
                <a:spcPct val="150000"/>
              </a:lnSpc>
              <a:spcBef>
                <a:spcPts val="95"/>
              </a:spcBef>
              <a:buFont typeface="Wingdings" panose="05000000000000000000" pitchFamily="2" charset="2"/>
              <a:buChar char="Ø"/>
            </a:pPr>
            <a:r>
              <a:rPr lang="en-US" sz="3600" b="1" dirty="0">
                <a:latin typeface="Times New Roman"/>
                <a:cs typeface="Times New Roman"/>
              </a:rPr>
              <a:t>    Data</a:t>
            </a:r>
            <a:r>
              <a:rPr lang="en-US" sz="3600" b="1" spc="-10" dirty="0">
                <a:latin typeface="Times New Roman"/>
                <a:cs typeface="Times New Roman"/>
              </a:rPr>
              <a:t> Preparation</a:t>
            </a:r>
            <a:endParaRPr lang="en-US" sz="3600" dirty="0">
              <a:latin typeface="Times New Roman"/>
              <a:cs typeface="Times New Roman"/>
            </a:endParaRPr>
          </a:p>
          <a:p>
            <a:pPr marL="298450" marR="5080" indent="-285750">
              <a:lnSpc>
                <a:spcPct val="150000"/>
              </a:lnSpc>
              <a:spcBef>
                <a:spcPts val="320"/>
              </a:spcBef>
              <a:buFont typeface="Wingdings" panose="05000000000000000000" pitchFamily="2" charset="2"/>
              <a:buChar char="Ø"/>
            </a:pPr>
            <a:r>
              <a:rPr lang="en-US" sz="3600" b="1" dirty="0">
                <a:latin typeface="Times New Roman"/>
                <a:cs typeface="Times New Roman"/>
              </a:rPr>
              <a:t>     Dashboard</a:t>
            </a:r>
            <a:r>
              <a:rPr lang="en-US" sz="3600" b="1" spc="-10" dirty="0">
                <a:latin typeface="Times New Roman"/>
                <a:cs typeface="Times New Roman"/>
              </a:rPr>
              <a:t> Visualizations</a:t>
            </a:r>
          </a:p>
          <a:p>
            <a:pPr marL="298450" marR="5080" indent="-285750">
              <a:lnSpc>
                <a:spcPct val="150000"/>
              </a:lnSpc>
              <a:spcBef>
                <a:spcPts val="320"/>
              </a:spcBef>
              <a:buFont typeface="Wingdings" panose="05000000000000000000" pitchFamily="2" charset="2"/>
              <a:buChar char="Ø"/>
            </a:pPr>
            <a:r>
              <a:rPr lang="en-US" sz="3600" b="1" spc="-10" dirty="0">
                <a:latin typeface="Times New Roman"/>
                <a:cs typeface="Times New Roman"/>
              </a:rPr>
              <a:t>    Problem Statement</a:t>
            </a:r>
          </a:p>
          <a:p>
            <a:pPr marL="298450" marR="5080" indent="-285750">
              <a:lnSpc>
                <a:spcPct val="150000"/>
              </a:lnSpc>
              <a:spcBef>
                <a:spcPts val="320"/>
              </a:spcBef>
              <a:buFont typeface="Wingdings" panose="05000000000000000000" pitchFamily="2" charset="2"/>
              <a:buChar char="Ø"/>
            </a:pPr>
            <a:r>
              <a:rPr lang="en-US" sz="3600" b="1" spc="-10" dirty="0">
                <a:latin typeface="Times New Roman"/>
                <a:cs typeface="Times New Roman"/>
              </a:rPr>
              <a:t>     </a:t>
            </a:r>
            <a:r>
              <a:rPr lang="en-US" sz="3600" b="1" dirty="0">
                <a:latin typeface="Times New Roman"/>
                <a:cs typeface="Times New Roman"/>
              </a:rPr>
              <a:t>Applications &amp; </a:t>
            </a:r>
            <a:r>
              <a:rPr lang="en-US" sz="3600" b="1" spc="-10" dirty="0">
                <a:latin typeface="Times New Roman"/>
                <a:cs typeface="Times New Roman"/>
              </a:rPr>
              <a:t>Recommendations</a:t>
            </a:r>
          </a:p>
          <a:p>
            <a:pPr marL="298450" marR="5080" indent="-285750">
              <a:lnSpc>
                <a:spcPct val="150000"/>
              </a:lnSpc>
              <a:spcBef>
                <a:spcPts val="320"/>
              </a:spcBef>
              <a:buFont typeface="Wingdings" panose="05000000000000000000" pitchFamily="2" charset="2"/>
              <a:buChar char="Ø"/>
            </a:pPr>
            <a:r>
              <a:rPr lang="en-US" sz="3600" b="1" spc="-10" dirty="0">
                <a:latin typeface="Times New Roman"/>
                <a:cs typeface="Times New Roman"/>
              </a:rPr>
              <a:t>     Conclusion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4B13913-B3D4-43EA-38B7-18312F2C7A56}"/>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8FDB1D1F-2038-3E88-0722-7DE7EED88855}"/>
              </a:ext>
            </a:extLst>
          </p:cNvPr>
          <p:cNvPicPr/>
          <p:nvPr/>
        </p:nvPicPr>
        <p:blipFill>
          <a:blip r:embed="rId2" cstate="print"/>
          <a:stretch>
            <a:fillRect/>
          </a:stretch>
        </p:blipFill>
        <p:spPr>
          <a:xfrm>
            <a:off x="228601" y="95250"/>
            <a:ext cx="7086599" cy="10096500"/>
          </a:xfrm>
          <a:prstGeom prst="rect">
            <a:avLst/>
          </a:prstGeom>
        </p:spPr>
      </p:pic>
      <p:sp>
        <p:nvSpPr>
          <p:cNvPr id="15" name="TextBox 14">
            <a:extLst>
              <a:ext uri="{FF2B5EF4-FFF2-40B4-BE49-F238E27FC236}">
                <a16:creationId xmlns:a16="http://schemas.microsoft.com/office/drawing/2014/main" id="{F0C80A5A-FC88-D919-25BC-6C16EE38DFE8}"/>
              </a:ext>
            </a:extLst>
          </p:cNvPr>
          <p:cNvSpPr txBox="1"/>
          <p:nvPr/>
        </p:nvSpPr>
        <p:spPr>
          <a:xfrm>
            <a:off x="7543800" y="95250"/>
            <a:ext cx="10477499" cy="1024896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4400" b="1" u="sng" spc="300" dirty="0">
                <a:solidFill>
                  <a:srgbClr val="FF0000"/>
                </a:solidFill>
              </a:rPr>
              <a:t>OBJECTIVE</a:t>
            </a:r>
            <a:r>
              <a:rPr lang="en-US" sz="4400" b="1" dirty="0"/>
              <a:t> :</a:t>
            </a:r>
          </a:p>
          <a:p>
            <a:pPr marL="571500" indent="-571500">
              <a:buFont typeface="Wingdings" panose="05000000000000000000" pitchFamily="2" charset="2"/>
              <a:buChar char="Ø"/>
            </a:pPr>
            <a:r>
              <a:rPr lang="en-US" sz="4400" dirty="0"/>
              <a:t>To find out why customers are leaving the company.</a:t>
            </a:r>
          </a:p>
          <a:p>
            <a:pPr marL="571500" indent="-571500">
              <a:buFont typeface="Wingdings" panose="05000000000000000000" pitchFamily="2" charset="2"/>
              <a:buChar char="Ø"/>
            </a:pPr>
            <a:r>
              <a:rPr lang="en-US" sz="4400" dirty="0"/>
              <a:t>To understand which customers are more likely to churn.</a:t>
            </a:r>
          </a:p>
          <a:p>
            <a:pPr marL="571500" indent="-571500">
              <a:buFont typeface="Wingdings" panose="05000000000000000000" pitchFamily="2" charset="2"/>
              <a:buChar char="Ø"/>
            </a:pPr>
            <a:r>
              <a:rPr lang="en-US" sz="4400" dirty="0"/>
              <a:t>To help the business reduce customer churn using data insights.</a:t>
            </a:r>
          </a:p>
          <a:p>
            <a:endParaRPr lang="en-US" sz="4400" dirty="0"/>
          </a:p>
          <a:p>
            <a:r>
              <a:rPr lang="en-US" sz="4400" b="1" u="sng" spc="300" dirty="0">
                <a:solidFill>
                  <a:srgbClr val="FF0000"/>
                </a:solidFill>
              </a:rPr>
              <a:t>PROBLEM STATEMENT :</a:t>
            </a:r>
          </a:p>
          <a:p>
            <a:pPr marL="571500" indent="-571500">
              <a:buFont typeface="Wingdings" panose="05000000000000000000" pitchFamily="2" charset="2"/>
              <a:buChar char="q"/>
            </a:pPr>
            <a:r>
              <a:rPr lang="en-US" sz="4400" dirty="0"/>
              <a:t>"Many customers are leaving the telecom service. The company does not know the exact reasons for this churn. We need to analyze the data to identify the main factors that cause customers to leave and help the company retain them."</a:t>
            </a:r>
          </a:p>
        </p:txBody>
      </p:sp>
    </p:spTree>
    <p:extLst>
      <p:ext uri="{BB962C8B-B14F-4D97-AF65-F5344CB8AC3E}">
        <p14:creationId xmlns:p14="http://schemas.microsoft.com/office/powerpoint/2010/main" val="2490784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 name="object 2">
            <a:extLst>
              <a:ext uri="{FF2B5EF4-FFF2-40B4-BE49-F238E27FC236}">
                <a16:creationId xmlns:a16="http://schemas.microsoft.com/office/drawing/2014/main" id="{32B2303D-B8B8-4A17-CD6D-E8AF44F7BAE6}"/>
              </a:ext>
            </a:extLst>
          </p:cNvPr>
          <p:cNvPicPr/>
          <p:nvPr/>
        </p:nvPicPr>
        <p:blipFill>
          <a:blip r:embed="rId3" cstate="print"/>
          <a:stretch>
            <a:fillRect/>
          </a:stretch>
        </p:blipFill>
        <p:spPr>
          <a:xfrm>
            <a:off x="-10886" y="266700"/>
            <a:ext cx="6945086" cy="9906000"/>
          </a:xfrm>
          <a:prstGeom prst="rect">
            <a:avLst/>
          </a:prstGeom>
        </p:spPr>
      </p:pic>
      <p:sp>
        <p:nvSpPr>
          <p:cNvPr id="15" name="TextBox 14">
            <a:extLst>
              <a:ext uri="{FF2B5EF4-FFF2-40B4-BE49-F238E27FC236}">
                <a16:creationId xmlns:a16="http://schemas.microsoft.com/office/drawing/2014/main" id="{1EF59138-0428-851F-8DD5-04282932C456}"/>
              </a:ext>
            </a:extLst>
          </p:cNvPr>
          <p:cNvSpPr txBox="1"/>
          <p:nvPr/>
        </p:nvSpPr>
        <p:spPr>
          <a:xfrm>
            <a:off x="8001000" y="163286"/>
            <a:ext cx="9677400" cy="70788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4000" b="1" spc="-20" dirty="0">
                <a:solidFill>
                  <a:srgbClr val="FF0000"/>
                </a:solidFill>
              </a:rPr>
              <a:t>DATA  </a:t>
            </a:r>
            <a:r>
              <a:rPr lang="en-IN" sz="4000" b="1" spc="-10" dirty="0">
                <a:solidFill>
                  <a:srgbClr val="FF0000"/>
                </a:solidFill>
              </a:rPr>
              <a:t>PREPARATION :</a:t>
            </a:r>
            <a:endParaRPr lang="en-IN" sz="4000" b="1" dirty="0">
              <a:solidFill>
                <a:srgbClr val="FF0000"/>
              </a:solidFill>
            </a:endParaRPr>
          </a:p>
        </p:txBody>
      </p:sp>
      <p:sp>
        <p:nvSpPr>
          <p:cNvPr id="16" name="TextBox 15">
            <a:extLst>
              <a:ext uri="{FF2B5EF4-FFF2-40B4-BE49-F238E27FC236}">
                <a16:creationId xmlns:a16="http://schemas.microsoft.com/office/drawing/2014/main" id="{C42DEFCE-CE8C-00AD-DE52-66DFE1CF0216}"/>
              </a:ext>
            </a:extLst>
          </p:cNvPr>
          <p:cNvSpPr txBox="1"/>
          <p:nvPr/>
        </p:nvSpPr>
        <p:spPr>
          <a:xfrm>
            <a:off x="7696200" y="892943"/>
            <a:ext cx="10287000" cy="914744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571500" indent="-571500">
              <a:lnSpc>
                <a:spcPct val="150000"/>
              </a:lnSpc>
              <a:buFont typeface="Wingdings" panose="05000000000000000000" pitchFamily="2" charset="2"/>
              <a:buChar char="Ø"/>
            </a:pPr>
            <a:r>
              <a:rPr lang="en-US" sz="3600" dirty="0"/>
              <a:t>Load the data from Data Set in CSV file.</a:t>
            </a:r>
          </a:p>
          <a:p>
            <a:pPr marL="571500" indent="-571500">
              <a:lnSpc>
                <a:spcPct val="150000"/>
              </a:lnSpc>
              <a:buFont typeface="Wingdings" panose="05000000000000000000" pitchFamily="2" charset="2"/>
              <a:buChar char="Ø"/>
            </a:pPr>
            <a:r>
              <a:rPr lang="en-US" sz="3600" dirty="0"/>
              <a:t>Open Transform Data and change all columns to the correct data type.</a:t>
            </a:r>
          </a:p>
          <a:p>
            <a:pPr marL="571500" indent="-571500">
              <a:lnSpc>
                <a:spcPct val="150000"/>
              </a:lnSpc>
              <a:buFont typeface="Wingdings" panose="05000000000000000000" pitchFamily="2" charset="2"/>
              <a:buChar char="Ø"/>
            </a:pPr>
            <a:r>
              <a:rPr lang="en-US" sz="3600" dirty="0"/>
              <a:t>Use Trim and Clean to remove spaces and unwanted characters.</a:t>
            </a:r>
          </a:p>
          <a:p>
            <a:pPr marL="571500" indent="-571500">
              <a:lnSpc>
                <a:spcPct val="150000"/>
              </a:lnSpc>
              <a:buFont typeface="Wingdings" panose="05000000000000000000" pitchFamily="2" charset="2"/>
              <a:buChar char="Ø"/>
            </a:pPr>
            <a:r>
              <a:rPr lang="en-US" sz="3600" dirty="0"/>
              <a:t>Remove duplicates and blank rows.</a:t>
            </a:r>
          </a:p>
          <a:p>
            <a:pPr marL="571500" indent="-571500">
              <a:lnSpc>
                <a:spcPct val="150000"/>
              </a:lnSpc>
              <a:buFont typeface="Wingdings" panose="05000000000000000000" pitchFamily="2" charset="2"/>
              <a:buChar char="Ø"/>
            </a:pPr>
            <a:r>
              <a:rPr lang="en-US" sz="3600" dirty="0"/>
              <a:t>Use Replace Values to fix spelling errors or incorrect category names.</a:t>
            </a:r>
          </a:p>
          <a:p>
            <a:pPr marL="571500" indent="-571500">
              <a:lnSpc>
                <a:spcPct val="150000"/>
              </a:lnSpc>
              <a:buFont typeface="Wingdings" panose="05000000000000000000" pitchFamily="2" charset="2"/>
              <a:buChar char="Ø"/>
            </a:pPr>
            <a:r>
              <a:rPr lang="en-US" sz="3600" dirty="0"/>
              <a:t>Fill or replace null values with 0 or “Unknown”.</a:t>
            </a:r>
          </a:p>
          <a:p>
            <a:pPr marL="571500" indent="-571500">
              <a:lnSpc>
                <a:spcPct val="150000"/>
              </a:lnSpc>
              <a:buFont typeface="Wingdings" panose="05000000000000000000" pitchFamily="2" charset="2"/>
              <a:buChar char="Ø"/>
            </a:pPr>
            <a:r>
              <a:rPr lang="en-US" sz="3600" dirty="0"/>
              <a:t>Delete unwanted columns and click Close &amp; Apply to load the cleaned data.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79615" y="99832"/>
            <a:ext cx="5001985" cy="9996668"/>
          </a:xfrm>
          <a:prstGeom prst="rect">
            <a:avLst/>
          </a:prstGeom>
        </p:spPr>
      </p:pic>
      <p:sp>
        <p:nvSpPr>
          <p:cNvPr id="13" name="TextBox 12">
            <a:extLst>
              <a:ext uri="{FF2B5EF4-FFF2-40B4-BE49-F238E27FC236}">
                <a16:creationId xmlns:a16="http://schemas.microsoft.com/office/drawing/2014/main" id="{18DD1FBB-8997-518E-C3D3-06D9C6F5FA7A}"/>
              </a:ext>
            </a:extLst>
          </p:cNvPr>
          <p:cNvSpPr txBox="1"/>
          <p:nvPr/>
        </p:nvSpPr>
        <p:spPr>
          <a:xfrm>
            <a:off x="6324600" y="190500"/>
            <a:ext cx="9906000" cy="83099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4800" b="1" spc="-10" dirty="0">
                <a:solidFill>
                  <a:srgbClr val="FF0000"/>
                </a:solidFill>
              </a:rPr>
              <a:t>Dashboard  Visualizations :</a:t>
            </a:r>
            <a:endParaRPr lang="en-IN" sz="4800" b="1" dirty="0">
              <a:solidFill>
                <a:srgbClr val="FF0000"/>
              </a:solidFill>
            </a:endParaRPr>
          </a:p>
        </p:txBody>
      </p:sp>
      <p:sp>
        <p:nvSpPr>
          <p:cNvPr id="14" name="TextBox 13">
            <a:extLst>
              <a:ext uri="{FF2B5EF4-FFF2-40B4-BE49-F238E27FC236}">
                <a16:creationId xmlns:a16="http://schemas.microsoft.com/office/drawing/2014/main" id="{925C4A4C-BCD4-5FAF-9C80-AC803E89B1A4}"/>
              </a:ext>
            </a:extLst>
          </p:cNvPr>
          <p:cNvSpPr txBox="1"/>
          <p:nvPr/>
        </p:nvSpPr>
        <p:spPr>
          <a:xfrm>
            <a:off x="5638800" y="1181100"/>
            <a:ext cx="14554200" cy="866968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12700">
              <a:lnSpc>
                <a:spcPct val="150000"/>
              </a:lnSpc>
              <a:spcBef>
                <a:spcPts val="1630"/>
              </a:spcBef>
            </a:pPr>
            <a:r>
              <a:rPr lang="en-IN" sz="3200" dirty="0"/>
              <a:t>     </a:t>
            </a:r>
            <a:r>
              <a:rPr lang="en-IN" sz="3600" b="1" dirty="0"/>
              <a:t>1.</a:t>
            </a:r>
            <a:r>
              <a:rPr lang="en-IN" sz="3600" b="1" spc="-70" dirty="0"/>
              <a:t> </a:t>
            </a:r>
            <a:r>
              <a:rPr lang="en-IN" sz="3600" b="1" dirty="0"/>
              <a:t>Customer</a:t>
            </a:r>
            <a:r>
              <a:rPr lang="en-IN" sz="3600" b="1" spc="-70" dirty="0"/>
              <a:t> </a:t>
            </a:r>
            <a:r>
              <a:rPr lang="en-IN" sz="3600" b="1" dirty="0"/>
              <a:t>Demographics</a:t>
            </a:r>
            <a:r>
              <a:rPr lang="en-IN" sz="3600" b="1" spc="-70" dirty="0"/>
              <a:t> </a:t>
            </a:r>
            <a:r>
              <a:rPr lang="en-IN" sz="3600" b="1" spc="-10" dirty="0"/>
              <a:t>Dashboard</a:t>
            </a:r>
            <a:endParaRPr lang="en-IN" sz="3200" b="1" spc="-10" dirty="0"/>
          </a:p>
          <a:p>
            <a:pPr marL="1073785" indent="-457200">
              <a:lnSpc>
                <a:spcPct val="150000"/>
              </a:lnSpc>
              <a:spcBef>
                <a:spcPts val="1225"/>
              </a:spcBef>
              <a:buFont typeface="Wingdings" panose="05000000000000000000" pitchFamily="2" charset="2"/>
              <a:buChar char="Ø"/>
            </a:pPr>
            <a:r>
              <a:rPr lang="en-IN" sz="3200" dirty="0"/>
              <a:t>Visuals</a:t>
            </a:r>
            <a:r>
              <a:rPr lang="en-IN" sz="3200" spc="-65" dirty="0"/>
              <a:t> </a:t>
            </a:r>
            <a:r>
              <a:rPr lang="en-IN" sz="3200" spc="-10" dirty="0"/>
              <a:t>Used:</a:t>
            </a:r>
            <a:endParaRPr lang="en-IN" sz="3200" dirty="0"/>
          </a:p>
          <a:p>
            <a:pPr marL="1073785" indent="-457200">
              <a:lnSpc>
                <a:spcPct val="150000"/>
              </a:lnSpc>
              <a:spcBef>
                <a:spcPts val="1065"/>
              </a:spcBef>
              <a:buFont typeface="Wingdings" panose="05000000000000000000" pitchFamily="2" charset="2"/>
              <a:buChar char="Ø"/>
            </a:pPr>
            <a:r>
              <a:rPr lang="en-IN" sz="3200" dirty="0"/>
              <a:t>Donut</a:t>
            </a:r>
            <a:r>
              <a:rPr lang="en-IN" sz="3200" spc="-60" dirty="0"/>
              <a:t> </a:t>
            </a:r>
            <a:r>
              <a:rPr lang="en-IN" sz="3200" dirty="0"/>
              <a:t>Chart</a:t>
            </a:r>
            <a:r>
              <a:rPr lang="en-IN" sz="3200" spc="-55" dirty="0"/>
              <a:t> </a:t>
            </a:r>
            <a:r>
              <a:rPr lang="en-IN" sz="3200" dirty="0"/>
              <a:t>→</a:t>
            </a:r>
            <a:r>
              <a:rPr lang="en-IN" sz="3200" spc="-55" dirty="0"/>
              <a:t> </a:t>
            </a:r>
            <a:r>
              <a:rPr lang="en-IN" sz="3200" dirty="0"/>
              <a:t>Gender</a:t>
            </a:r>
            <a:r>
              <a:rPr lang="en-IN" sz="3200" spc="-55" dirty="0"/>
              <a:t> </a:t>
            </a:r>
            <a:r>
              <a:rPr lang="en-IN" sz="3200" spc="-10" dirty="0"/>
              <a:t>distribution</a:t>
            </a:r>
            <a:endParaRPr lang="en-IN" sz="3200" dirty="0"/>
          </a:p>
          <a:p>
            <a:pPr marL="1073785" marR="5723255" indent="-457200">
              <a:lnSpc>
                <a:spcPct val="150000"/>
              </a:lnSpc>
              <a:buFont typeface="Wingdings" panose="05000000000000000000" pitchFamily="2" charset="2"/>
              <a:buChar char="Ø"/>
            </a:pPr>
            <a:r>
              <a:rPr lang="en-IN" sz="3200" dirty="0"/>
              <a:t>Bar</a:t>
            </a:r>
            <a:r>
              <a:rPr lang="en-IN" sz="3200" spc="-40" dirty="0"/>
              <a:t> </a:t>
            </a:r>
            <a:r>
              <a:rPr lang="en-IN" sz="3200" dirty="0"/>
              <a:t>Chart</a:t>
            </a:r>
            <a:r>
              <a:rPr lang="en-IN" sz="3200" spc="-35" dirty="0"/>
              <a:t> </a:t>
            </a:r>
            <a:r>
              <a:rPr lang="en-IN" sz="3200" dirty="0"/>
              <a:t>→Senior</a:t>
            </a:r>
            <a:r>
              <a:rPr lang="en-IN" sz="3200" spc="-35" dirty="0"/>
              <a:t> </a:t>
            </a:r>
            <a:r>
              <a:rPr lang="en-IN" sz="3200" dirty="0"/>
              <a:t>citizen</a:t>
            </a:r>
            <a:r>
              <a:rPr lang="en-IN" sz="3200" spc="-35" dirty="0"/>
              <a:t> </a:t>
            </a:r>
            <a:r>
              <a:rPr lang="en-IN" sz="3200" dirty="0"/>
              <a:t>vs.</a:t>
            </a:r>
            <a:r>
              <a:rPr lang="en-IN" sz="3200" spc="-40" dirty="0"/>
              <a:t> </a:t>
            </a:r>
            <a:r>
              <a:rPr lang="en-IN" sz="3200" spc="-20" dirty="0"/>
              <a:t>non-</a:t>
            </a:r>
            <a:r>
              <a:rPr lang="en-IN" sz="3200" dirty="0"/>
              <a:t>senior</a:t>
            </a:r>
            <a:r>
              <a:rPr lang="en-IN" sz="3200" spc="-35" dirty="0"/>
              <a:t> </a:t>
            </a:r>
            <a:r>
              <a:rPr lang="en-IN" sz="3200" dirty="0"/>
              <a:t>churn </a:t>
            </a:r>
            <a:r>
              <a:rPr lang="en-IN" sz="3200" spc="-10" dirty="0"/>
              <a:t>comparison</a:t>
            </a:r>
          </a:p>
          <a:p>
            <a:pPr marL="1073785" marR="5723255" indent="-457200">
              <a:lnSpc>
                <a:spcPct val="150000"/>
              </a:lnSpc>
              <a:buFont typeface="Wingdings" panose="05000000000000000000" pitchFamily="2" charset="2"/>
              <a:buChar char="Ø"/>
            </a:pPr>
            <a:r>
              <a:rPr lang="en-IN" sz="3200" spc="-10" dirty="0"/>
              <a:t> </a:t>
            </a:r>
            <a:r>
              <a:rPr lang="en-IN" sz="3200" dirty="0"/>
              <a:t>Column</a:t>
            </a:r>
            <a:r>
              <a:rPr lang="en-IN" sz="3200" spc="-60" dirty="0"/>
              <a:t> </a:t>
            </a:r>
            <a:r>
              <a:rPr lang="en-IN" sz="3200" dirty="0"/>
              <a:t>Chart</a:t>
            </a:r>
            <a:r>
              <a:rPr lang="en-IN" sz="3200" spc="-60" dirty="0"/>
              <a:t> </a:t>
            </a:r>
            <a:r>
              <a:rPr lang="en-IN" sz="3200" dirty="0"/>
              <a:t>→</a:t>
            </a:r>
            <a:r>
              <a:rPr lang="en-IN" sz="3200" spc="-60" dirty="0"/>
              <a:t> </a:t>
            </a:r>
            <a:r>
              <a:rPr lang="en-IN" sz="3200" dirty="0"/>
              <a:t>Tenure</a:t>
            </a:r>
            <a:r>
              <a:rPr lang="en-IN" sz="3200" spc="-60" dirty="0"/>
              <a:t> </a:t>
            </a:r>
            <a:r>
              <a:rPr lang="en-IN" sz="3200" spc="-10" dirty="0"/>
              <a:t>segmentation</a:t>
            </a:r>
            <a:endParaRPr lang="en-IN" sz="3200" dirty="0"/>
          </a:p>
          <a:p>
            <a:pPr marL="1073785" indent="-457200">
              <a:lnSpc>
                <a:spcPct val="150000"/>
              </a:lnSpc>
              <a:spcBef>
                <a:spcPts val="1065"/>
              </a:spcBef>
              <a:buFont typeface="Wingdings" panose="05000000000000000000" pitchFamily="2" charset="2"/>
              <a:buChar char="Ø"/>
            </a:pPr>
            <a:r>
              <a:rPr lang="en-IN" sz="3200" dirty="0"/>
              <a:t>Line</a:t>
            </a:r>
            <a:r>
              <a:rPr lang="en-IN" sz="3200" spc="-50" dirty="0"/>
              <a:t> </a:t>
            </a:r>
            <a:r>
              <a:rPr lang="en-IN" sz="3200" dirty="0"/>
              <a:t>Chart</a:t>
            </a:r>
            <a:r>
              <a:rPr lang="en-IN" sz="3200" spc="-45" dirty="0"/>
              <a:t> </a:t>
            </a:r>
            <a:r>
              <a:rPr lang="en-IN" sz="3200" dirty="0"/>
              <a:t>→</a:t>
            </a:r>
            <a:r>
              <a:rPr lang="en-IN" sz="3200" spc="-45" dirty="0"/>
              <a:t> </a:t>
            </a:r>
            <a:r>
              <a:rPr lang="en-IN" sz="3200" dirty="0"/>
              <a:t>Churn</a:t>
            </a:r>
            <a:r>
              <a:rPr lang="en-IN" sz="3200" spc="-45" dirty="0"/>
              <a:t> </a:t>
            </a:r>
            <a:r>
              <a:rPr lang="en-IN" sz="3200" dirty="0"/>
              <a:t>rate</a:t>
            </a:r>
            <a:r>
              <a:rPr lang="en-IN" sz="3200" spc="-45" dirty="0"/>
              <a:t> </a:t>
            </a:r>
            <a:r>
              <a:rPr lang="en-IN" sz="3200" dirty="0"/>
              <a:t>across</a:t>
            </a:r>
            <a:r>
              <a:rPr lang="en-IN" sz="3200" spc="-45" dirty="0"/>
              <a:t> </a:t>
            </a:r>
            <a:r>
              <a:rPr lang="en-IN" sz="3200" dirty="0"/>
              <a:t>tenure</a:t>
            </a:r>
            <a:r>
              <a:rPr lang="en-IN" sz="3200" spc="-45" dirty="0"/>
              <a:t> </a:t>
            </a:r>
            <a:r>
              <a:rPr lang="en-IN" sz="3200" spc="-10" dirty="0"/>
              <a:t>groups</a:t>
            </a:r>
            <a:endParaRPr lang="en-IN" sz="3200" dirty="0"/>
          </a:p>
          <a:p>
            <a:pPr marL="1073785" marR="5080" indent="-457200">
              <a:lnSpc>
                <a:spcPct val="150000"/>
              </a:lnSpc>
              <a:buFont typeface="Wingdings" panose="05000000000000000000" pitchFamily="2" charset="2"/>
              <a:buChar char="Ø"/>
            </a:pPr>
            <a:r>
              <a:rPr lang="en-IN" sz="3200" dirty="0"/>
              <a:t>Cards</a:t>
            </a:r>
            <a:r>
              <a:rPr lang="en-IN" sz="3200" spc="-70" dirty="0"/>
              <a:t> </a:t>
            </a:r>
            <a:r>
              <a:rPr lang="en-IN" sz="3200" dirty="0"/>
              <a:t>→</a:t>
            </a:r>
            <a:r>
              <a:rPr lang="en-IN" sz="3200" spc="-65" dirty="0"/>
              <a:t> </a:t>
            </a:r>
            <a:r>
              <a:rPr lang="en-IN" sz="3200" dirty="0"/>
              <a:t>Total</a:t>
            </a:r>
            <a:r>
              <a:rPr lang="en-IN" sz="3200" spc="-65" dirty="0"/>
              <a:t> </a:t>
            </a:r>
            <a:r>
              <a:rPr lang="en-IN" sz="3200" dirty="0"/>
              <a:t>Customers,</a:t>
            </a:r>
            <a:r>
              <a:rPr lang="en-IN" sz="3200" spc="-65" dirty="0"/>
              <a:t> </a:t>
            </a:r>
            <a:r>
              <a:rPr lang="en-IN" sz="3200" dirty="0"/>
              <a:t>Churned</a:t>
            </a:r>
            <a:r>
              <a:rPr lang="en-IN" sz="3200" spc="-70" dirty="0"/>
              <a:t> </a:t>
            </a:r>
            <a:r>
              <a:rPr lang="en-IN" sz="3200" dirty="0"/>
              <a:t>Customers,</a:t>
            </a:r>
            <a:r>
              <a:rPr lang="en-IN" sz="3200" spc="-65" dirty="0"/>
              <a:t> </a:t>
            </a:r>
          </a:p>
          <a:p>
            <a:pPr marL="1073785" marR="5080" indent="-457200">
              <a:lnSpc>
                <a:spcPct val="150000"/>
              </a:lnSpc>
              <a:buFont typeface="Wingdings" panose="05000000000000000000" pitchFamily="2" charset="2"/>
              <a:buChar char="Ø"/>
            </a:pPr>
            <a:r>
              <a:rPr lang="en-IN" sz="3200" dirty="0"/>
              <a:t>Churn</a:t>
            </a:r>
            <a:r>
              <a:rPr lang="en-IN" sz="3200" spc="-65" dirty="0"/>
              <a:t> </a:t>
            </a:r>
            <a:r>
              <a:rPr lang="en-IN" sz="3200" dirty="0"/>
              <a:t>Rate,</a:t>
            </a:r>
            <a:r>
              <a:rPr lang="en-IN" sz="3200" spc="-65" dirty="0"/>
              <a:t> </a:t>
            </a:r>
            <a:r>
              <a:rPr lang="en-IN" sz="3200" dirty="0"/>
              <a:t>Avg.</a:t>
            </a:r>
            <a:r>
              <a:rPr lang="en-IN" sz="3200" spc="-70" dirty="0"/>
              <a:t> </a:t>
            </a:r>
            <a:r>
              <a:rPr lang="en-IN" sz="3200" dirty="0"/>
              <a:t>Tenure,</a:t>
            </a:r>
            <a:r>
              <a:rPr lang="en-IN" sz="3200" spc="-65" dirty="0"/>
              <a:t> </a:t>
            </a:r>
            <a:r>
              <a:rPr lang="en-IN" sz="3200" dirty="0"/>
              <a:t>Avg.</a:t>
            </a:r>
            <a:r>
              <a:rPr lang="en-IN" sz="3200" spc="-65" dirty="0"/>
              <a:t> </a:t>
            </a:r>
            <a:r>
              <a:rPr lang="en-IN" sz="3200" dirty="0"/>
              <a:t>Monthly</a:t>
            </a:r>
            <a:r>
              <a:rPr lang="en-IN" sz="3200" spc="-65" dirty="0"/>
              <a:t> </a:t>
            </a:r>
            <a:r>
              <a:rPr lang="en-IN" sz="3200" spc="-10" dirty="0"/>
              <a:t>Charges </a:t>
            </a:r>
          </a:p>
          <a:p>
            <a:pPr marL="1073785" marR="5080" indent="-457200">
              <a:lnSpc>
                <a:spcPct val="150000"/>
              </a:lnSpc>
              <a:buFont typeface="Wingdings" panose="05000000000000000000" pitchFamily="2" charset="2"/>
              <a:buChar char="Ø"/>
            </a:pPr>
            <a:r>
              <a:rPr lang="en-IN" sz="3200" dirty="0"/>
              <a:t>Purpose:</a:t>
            </a:r>
            <a:r>
              <a:rPr lang="en-IN" sz="3200" spc="-75" dirty="0"/>
              <a:t> </a:t>
            </a:r>
            <a:r>
              <a:rPr lang="en-IN" sz="3200" dirty="0"/>
              <a:t>Understand</a:t>
            </a:r>
            <a:r>
              <a:rPr lang="en-IN" sz="3200" spc="-70" dirty="0"/>
              <a:t> </a:t>
            </a:r>
            <a:r>
              <a:rPr lang="en-IN" sz="3200" dirty="0"/>
              <a:t>customer</a:t>
            </a:r>
            <a:r>
              <a:rPr lang="en-IN" sz="3200" spc="-70" dirty="0"/>
              <a:t> </a:t>
            </a:r>
            <a:r>
              <a:rPr lang="en-IN" sz="3200" dirty="0"/>
              <a:t>profile</a:t>
            </a:r>
            <a:r>
              <a:rPr lang="en-IN" sz="3200" spc="-75" dirty="0"/>
              <a:t> </a:t>
            </a:r>
            <a:r>
              <a:rPr lang="en-IN" sz="3200" dirty="0"/>
              <a:t>and</a:t>
            </a:r>
            <a:r>
              <a:rPr lang="en-IN" sz="3200" spc="-70" dirty="0"/>
              <a:t> </a:t>
            </a:r>
            <a:r>
              <a:rPr lang="en-IN" sz="3200" dirty="0"/>
              <a:t>churn</a:t>
            </a:r>
            <a:r>
              <a:rPr lang="en-IN" sz="3200" spc="-70" dirty="0"/>
              <a:t> </a:t>
            </a:r>
          </a:p>
          <a:p>
            <a:pPr marL="616585" marR="5080">
              <a:lnSpc>
                <a:spcPct val="150000"/>
              </a:lnSpc>
            </a:pPr>
            <a:r>
              <a:rPr lang="en-IN" sz="3200" spc="-70" dirty="0"/>
              <a:t>		</a:t>
            </a:r>
            <a:r>
              <a:rPr lang="en-IN" sz="3200" dirty="0" err="1"/>
              <a:t>behavior</a:t>
            </a:r>
            <a:r>
              <a:rPr lang="en-IN" sz="3200" spc="-75" dirty="0"/>
              <a:t> </a:t>
            </a:r>
            <a:r>
              <a:rPr lang="en-IN" sz="3200" dirty="0"/>
              <a:t>by</a:t>
            </a:r>
            <a:r>
              <a:rPr lang="en-IN" sz="3200" spc="-70" dirty="0"/>
              <a:t> </a:t>
            </a:r>
            <a:r>
              <a:rPr lang="en-IN" sz="3200" spc="-10" dirty="0"/>
              <a:t>demographics.</a:t>
            </a:r>
            <a:endParaRPr lang="en-IN" sz="3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47153" y="201508"/>
            <a:ext cx="4429647" cy="9971192"/>
          </a:xfrm>
          <a:prstGeom prst="rect">
            <a:avLst/>
          </a:prstGeom>
        </p:spPr>
      </p:pic>
      <p:sp>
        <p:nvSpPr>
          <p:cNvPr id="19" name="TextBox 18">
            <a:extLst>
              <a:ext uri="{FF2B5EF4-FFF2-40B4-BE49-F238E27FC236}">
                <a16:creationId xmlns:a16="http://schemas.microsoft.com/office/drawing/2014/main" id="{ECADC7B2-A8C7-B27D-3A47-043476305447}"/>
              </a:ext>
            </a:extLst>
          </p:cNvPr>
          <p:cNvSpPr txBox="1"/>
          <p:nvPr/>
        </p:nvSpPr>
        <p:spPr>
          <a:xfrm>
            <a:off x="6019800" y="185179"/>
            <a:ext cx="11353799"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3600" b="1" dirty="0">
                <a:solidFill>
                  <a:srgbClr val="FF0000"/>
                </a:solidFill>
              </a:rPr>
              <a:t>      DASHBOARD	 VISUALIZATIONS :</a:t>
            </a:r>
          </a:p>
        </p:txBody>
      </p:sp>
      <p:sp>
        <p:nvSpPr>
          <p:cNvPr id="20" name="TextBox 19">
            <a:extLst>
              <a:ext uri="{FF2B5EF4-FFF2-40B4-BE49-F238E27FC236}">
                <a16:creationId xmlns:a16="http://schemas.microsoft.com/office/drawing/2014/main" id="{991ABF30-976B-E888-B9B0-474131A4BDC3}"/>
              </a:ext>
            </a:extLst>
          </p:cNvPr>
          <p:cNvSpPr txBox="1"/>
          <p:nvPr/>
        </p:nvSpPr>
        <p:spPr>
          <a:xfrm>
            <a:off x="4893129" y="1028700"/>
            <a:ext cx="14478000" cy="717087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12700">
              <a:lnSpc>
                <a:spcPct val="150000"/>
              </a:lnSpc>
              <a:spcBef>
                <a:spcPts val="1630"/>
              </a:spcBef>
            </a:pPr>
            <a:r>
              <a:rPr lang="en-IN" sz="3600" dirty="0">
                <a:latin typeface="Times New Roman"/>
                <a:cs typeface="Times New Roman"/>
              </a:rPr>
              <a:t>2.</a:t>
            </a:r>
            <a:r>
              <a:rPr lang="en-IN" sz="3600" spc="-90" dirty="0">
                <a:latin typeface="Times New Roman"/>
                <a:cs typeface="Times New Roman"/>
              </a:rPr>
              <a:t> </a:t>
            </a:r>
            <a:r>
              <a:rPr lang="en-IN" sz="3600" dirty="0">
                <a:latin typeface="Times New Roman"/>
                <a:cs typeface="Times New Roman"/>
              </a:rPr>
              <a:t>Service</a:t>
            </a:r>
            <a:r>
              <a:rPr lang="en-IN" sz="3600" spc="-90" dirty="0">
                <a:latin typeface="Times New Roman"/>
                <a:cs typeface="Times New Roman"/>
              </a:rPr>
              <a:t> </a:t>
            </a:r>
            <a:r>
              <a:rPr lang="en-IN" sz="3600" dirty="0">
                <a:latin typeface="Times New Roman"/>
                <a:cs typeface="Times New Roman"/>
              </a:rPr>
              <a:t>Subscription</a:t>
            </a:r>
            <a:r>
              <a:rPr lang="en-IN" sz="3600" spc="-85" dirty="0">
                <a:latin typeface="Times New Roman"/>
                <a:cs typeface="Times New Roman"/>
              </a:rPr>
              <a:t> </a:t>
            </a:r>
            <a:r>
              <a:rPr lang="en-IN" sz="3600" spc="-10" dirty="0">
                <a:latin typeface="Times New Roman"/>
                <a:cs typeface="Times New Roman"/>
              </a:rPr>
              <a:t>Dashboard</a:t>
            </a:r>
            <a:endParaRPr lang="en-IN" sz="3600" dirty="0">
              <a:latin typeface="Times New Roman"/>
              <a:cs typeface="Times New Roman"/>
            </a:endParaRPr>
          </a:p>
          <a:p>
            <a:pPr marL="1073785" indent="-457200">
              <a:lnSpc>
                <a:spcPct val="200000"/>
              </a:lnSpc>
              <a:spcBef>
                <a:spcPts val="1225"/>
              </a:spcBef>
              <a:buFont typeface="Wingdings" panose="05000000000000000000" pitchFamily="2" charset="2"/>
              <a:buChar char="Ø"/>
            </a:pPr>
            <a:r>
              <a:rPr lang="en-IN" sz="2800" b="1" dirty="0">
                <a:latin typeface="Times New Roman"/>
                <a:cs typeface="Times New Roman"/>
              </a:rPr>
              <a:t>Visuals</a:t>
            </a:r>
            <a:r>
              <a:rPr lang="en-IN" sz="2800" b="1" spc="-65" dirty="0">
                <a:latin typeface="Times New Roman"/>
                <a:cs typeface="Times New Roman"/>
              </a:rPr>
              <a:t> </a:t>
            </a:r>
            <a:r>
              <a:rPr lang="en-IN" sz="2800" b="1" spc="-10" dirty="0">
                <a:latin typeface="Times New Roman"/>
                <a:cs typeface="Times New Roman"/>
              </a:rPr>
              <a:t>Used:</a:t>
            </a:r>
            <a:endParaRPr lang="en-IN" sz="2800" dirty="0">
              <a:latin typeface="Times New Roman"/>
              <a:cs typeface="Times New Roman"/>
            </a:endParaRPr>
          </a:p>
          <a:p>
            <a:pPr marL="1073785" indent="-457200">
              <a:lnSpc>
                <a:spcPct val="150000"/>
              </a:lnSpc>
              <a:spcBef>
                <a:spcPts val="1065"/>
              </a:spcBef>
              <a:buFont typeface="Wingdings" panose="05000000000000000000" pitchFamily="2" charset="2"/>
              <a:buChar char="Ø"/>
            </a:pPr>
            <a:r>
              <a:rPr lang="en-IN" sz="2800" b="1" dirty="0">
                <a:latin typeface="Times New Roman"/>
                <a:cs typeface="Times New Roman"/>
              </a:rPr>
              <a:t>Stacked</a:t>
            </a:r>
            <a:r>
              <a:rPr lang="en-IN" sz="2800" b="1" spc="-60" dirty="0">
                <a:latin typeface="Times New Roman"/>
                <a:cs typeface="Times New Roman"/>
              </a:rPr>
              <a:t> </a:t>
            </a:r>
            <a:r>
              <a:rPr lang="en-IN" sz="2800" b="1" dirty="0">
                <a:latin typeface="Times New Roman"/>
                <a:cs typeface="Times New Roman"/>
              </a:rPr>
              <a:t>Column</a:t>
            </a:r>
            <a:r>
              <a:rPr lang="en-IN" sz="2800" b="1" spc="-60" dirty="0">
                <a:latin typeface="Times New Roman"/>
                <a:cs typeface="Times New Roman"/>
              </a:rPr>
              <a:t> </a:t>
            </a:r>
            <a:r>
              <a:rPr lang="en-IN" sz="2800" b="1" dirty="0">
                <a:latin typeface="Times New Roman"/>
                <a:cs typeface="Times New Roman"/>
              </a:rPr>
              <a:t>Chart</a:t>
            </a:r>
            <a:r>
              <a:rPr lang="en-IN" sz="2800" b="1" spc="-55" dirty="0">
                <a:latin typeface="Times New Roman"/>
                <a:cs typeface="Times New Roman"/>
              </a:rPr>
              <a:t> </a:t>
            </a:r>
            <a:r>
              <a:rPr lang="en-IN" sz="2800" b="1" dirty="0">
                <a:latin typeface="Times New Roman"/>
                <a:cs typeface="Times New Roman"/>
              </a:rPr>
              <a:t>→</a:t>
            </a:r>
            <a:r>
              <a:rPr lang="en-IN" sz="2800" b="1" spc="-60" dirty="0">
                <a:latin typeface="Times New Roman"/>
                <a:cs typeface="Times New Roman"/>
              </a:rPr>
              <a:t> </a:t>
            </a:r>
            <a:r>
              <a:rPr lang="en-IN" sz="2800" b="1" dirty="0">
                <a:latin typeface="Times New Roman"/>
                <a:cs typeface="Times New Roman"/>
              </a:rPr>
              <a:t>Phone</a:t>
            </a:r>
            <a:r>
              <a:rPr lang="en-IN" sz="2800" b="1" spc="-55" dirty="0">
                <a:latin typeface="Times New Roman"/>
                <a:cs typeface="Times New Roman"/>
              </a:rPr>
              <a:t> </a:t>
            </a:r>
            <a:r>
              <a:rPr lang="en-IN" sz="2800" b="1" dirty="0">
                <a:latin typeface="Times New Roman"/>
                <a:cs typeface="Times New Roman"/>
              </a:rPr>
              <a:t>service</a:t>
            </a:r>
            <a:r>
              <a:rPr lang="en-IN" sz="2800" b="1" spc="-60" dirty="0">
                <a:latin typeface="Times New Roman"/>
                <a:cs typeface="Times New Roman"/>
              </a:rPr>
              <a:t> </a:t>
            </a:r>
            <a:r>
              <a:rPr lang="en-IN" sz="2800" b="1" dirty="0">
                <a:latin typeface="Times New Roman"/>
                <a:cs typeface="Times New Roman"/>
              </a:rPr>
              <a:t>and</a:t>
            </a:r>
            <a:r>
              <a:rPr lang="en-IN" sz="2800" b="1" spc="-60" dirty="0">
                <a:latin typeface="Times New Roman"/>
                <a:cs typeface="Times New Roman"/>
              </a:rPr>
              <a:t> </a:t>
            </a:r>
            <a:r>
              <a:rPr lang="en-IN" sz="2800" b="1" dirty="0">
                <a:latin typeface="Times New Roman"/>
                <a:cs typeface="Times New Roman"/>
              </a:rPr>
              <a:t>internet</a:t>
            </a:r>
            <a:r>
              <a:rPr lang="en-IN" sz="2800" b="1" spc="-55" dirty="0">
                <a:latin typeface="Times New Roman"/>
                <a:cs typeface="Times New Roman"/>
              </a:rPr>
              <a:t> </a:t>
            </a:r>
            <a:r>
              <a:rPr lang="en-IN" sz="2800" b="1" dirty="0">
                <a:latin typeface="Times New Roman"/>
                <a:cs typeface="Times New Roman"/>
              </a:rPr>
              <a:t>service</a:t>
            </a:r>
            <a:r>
              <a:rPr lang="en-IN" sz="2800" b="1" spc="-60" dirty="0">
                <a:latin typeface="Times New Roman"/>
                <a:cs typeface="Times New Roman"/>
              </a:rPr>
              <a:t> </a:t>
            </a:r>
            <a:r>
              <a:rPr lang="en-IN" sz="2800" b="1" spc="-10" dirty="0">
                <a:latin typeface="Times New Roman"/>
                <a:cs typeface="Times New Roman"/>
              </a:rPr>
              <a:t>usage</a:t>
            </a:r>
          </a:p>
          <a:p>
            <a:pPr marL="1073785" marR="5080" indent="-457200">
              <a:lnSpc>
                <a:spcPct val="150000"/>
              </a:lnSpc>
              <a:buFont typeface="Wingdings" panose="05000000000000000000" pitchFamily="2" charset="2"/>
              <a:buChar char="Ø"/>
            </a:pPr>
            <a:r>
              <a:rPr lang="en-IN" sz="2800" b="1" dirty="0">
                <a:latin typeface="Times New Roman"/>
                <a:cs typeface="Times New Roman"/>
              </a:rPr>
              <a:t>Funnel</a:t>
            </a:r>
            <a:r>
              <a:rPr lang="en-IN" sz="2800" b="1" spc="-55" dirty="0">
                <a:latin typeface="Times New Roman"/>
                <a:cs typeface="Times New Roman"/>
              </a:rPr>
              <a:t> </a:t>
            </a:r>
            <a:r>
              <a:rPr lang="en-IN" sz="2800" b="1" dirty="0">
                <a:latin typeface="Times New Roman"/>
                <a:cs typeface="Times New Roman"/>
              </a:rPr>
              <a:t>Chart</a:t>
            </a:r>
            <a:r>
              <a:rPr lang="en-IN" sz="2800" b="1" spc="-50" dirty="0">
                <a:latin typeface="Times New Roman"/>
                <a:cs typeface="Times New Roman"/>
              </a:rPr>
              <a:t> </a:t>
            </a:r>
            <a:r>
              <a:rPr lang="en-IN" sz="2800" b="1" dirty="0">
                <a:latin typeface="Times New Roman"/>
                <a:cs typeface="Times New Roman"/>
              </a:rPr>
              <a:t>→</a:t>
            </a:r>
            <a:r>
              <a:rPr lang="en-IN" sz="2800" b="1" spc="-50" dirty="0">
                <a:latin typeface="Times New Roman"/>
                <a:cs typeface="Times New Roman"/>
              </a:rPr>
              <a:t> </a:t>
            </a:r>
            <a:r>
              <a:rPr lang="en-IN" sz="2800" b="1" dirty="0">
                <a:latin typeface="Times New Roman"/>
                <a:cs typeface="Times New Roman"/>
              </a:rPr>
              <a:t>Churn</a:t>
            </a:r>
            <a:r>
              <a:rPr lang="en-IN" sz="2800" b="1" spc="-55" dirty="0">
                <a:latin typeface="Times New Roman"/>
                <a:cs typeface="Times New Roman"/>
              </a:rPr>
              <a:t> </a:t>
            </a:r>
            <a:r>
              <a:rPr lang="en-IN" sz="2800" b="1" dirty="0">
                <a:latin typeface="Times New Roman"/>
                <a:cs typeface="Times New Roman"/>
              </a:rPr>
              <a:t>rate</a:t>
            </a:r>
            <a:r>
              <a:rPr lang="en-IN" sz="2800" b="1" spc="-50" dirty="0">
                <a:latin typeface="Times New Roman"/>
                <a:cs typeface="Times New Roman"/>
              </a:rPr>
              <a:t> </a:t>
            </a:r>
            <a:r>
              <a:rPr lang="en-IN" sz="2800" b="1" dirty="0">
                <a:latin typeface="Times New Roman"/>
                <a:cs typeface="Times New Roman"/>
              </a:rPr>
              <a:t>by</a:t>
            </a:r>
            <a:r>
              <a:rPr lang="en-IN" sz="2800" b="1" spc="-50" dirty="0">
                <a:latin typeface="Times New Roman"/>
                <a:cs typeface="Times New Roman"/>
              </a:rPr>
              <a:t> </a:t>
            </a:r>
            <a:r>
              <a:rPr lang="en-IN" sz="2800" b="1" dirty="0">
                <a:latin typeface="Times New Roman"/>
                <a:cs typeface="Times New Roman"/>
              </a:rPr>
              <a:t>Internet</a:t>
            </a:r>
            <a:r>
              <a:rPr lang="en-IN" sz="2800" b="1" spc="-55" dirty="0">
                <a:latin typeface="Times New Roman"/>
                <a:cs typeface="Times New Roman"/>
              </a:rPr>
              <a:t> </a:t>
            </a:r>
            <a:r>
              <a:rPr lang="en-IN" sz="2800" b="1" dirty="0">
                <a:latin typeface="Times New Roman"/>
                <a:cs typeface="Times New Roman"/>
              </a:rPr>
              <a:t>Service</a:t>
            </a:r>
            <a:r>
              <a:rPr lang="en-IN" sz="2800" b="1" spc="-50" dirty="0">
                <a:latin typeface="Times New Roman"/>
                <a:cs typeface="Times New Roman"/>
              </a:rPr>
              <a:t> </a:t>
            </a:r>
            <a:r>
              <a:rPr lang="en-IN" sz="2800" b="1" dirty="0">
                <a:latin typeface="Times New Roman"/>
                <a:cs typeface="Times New Roman"/>
              </a:rPr>
              <a:t>Type</a:t>
            </a:r>
            <a:r>
              <a:rPr lang="en-IN" sz="2800" b="1" spc="-50" dirty="0">
                <a:latin typeface="Times New Roman"/>
                <a:cs typeface="Times New Roman"/>
              </a:rPr>
              <a:t> </a:t>
            </a:r>
            <a:r>
              <a:rPr lang="en-IN" sz="2800" b="1" dirty="0">
                <a:latin typeface="Times New Roman"/>
                <a:cs typeface="Times New Roman"/>
              </a:rPr>
              <a:t>(DSL,</a:t>
            </a:r>
            <a:r>
              <a:rPr lang="en-IN" sz="2800" b="1" spc="-55" dirty="0">
                <a:latin typeface="Times New Roman"/>
                <a:cs typeface="Times New Roman"/>
              </a:rPr>
              <a:t> </a:t>
            </a:r>
            <a:r>
              <a:rPr lang="en-IN" sz="2800" b="1" dirty="0">
                <a:latin typeface="Times New Roman"/>
                <a:cs typeface="Times New Roman"/>
              </a:rPr>
              <a:t>Fiber</a:t>
            </a:r>
            <a:r>
              <a:rPr lang="en-IN" sz="2800" b="1" spc="-50" dirty="0">
                <a:latin typeface="Times New Roman"/>
                <a:cs typeface="Times New Roman"/>
              </a:rPr>
              <a:t> </a:t>
            </a:r>
            <a:r>
              <a:rPr lang="en-IN" sz="2800" b="1" dirty="0">
                <a:latin typeface="Times New Roman"/>
                <a:cs typeface="Times New Roman"/>
              </a:rPr>
              <a:t>Optic,</a:t>
            </a:r>
            <a:r>
              <a:rPr lang="en-IN" sz="2800" b="1" spc="-50" dirty="0">
                <a:latin typeface="Times New Roman"/>
                <a:cs typeface="Times New Roman"/>
              </a:rPr>
              <a:t> </a:t>
            </a:r>
            <a:r>
              <a:rPr lang="en-IN" sz="2800" b="1" dirty="0">
                <a:latin typeface="Times New Roman"/>
                <a:cs typeface="Times New Roman"/>
              </a:rPr>
              <a:t>No </a:t>
            </a:r>
            <a:r>
              <a:rPr lang="en-IN" sz="2800" b="1" spc="-10" dirty="0">
                <a:latin typeface="Times New Roman"/>
                <a:cs typeface="Times New Roman"/>
              </a:rPr>
              <a:t>Internet)</a:t>
            </a:r>
          </a:p>
          <a:p>
            <a:pPr marL="1073785" marR="5080" indent="-457200">
              <a:lnSpc>
                <a:spcPct val="150000"/>
              </a:lnSpc>
              <a:buFont typeface="Wingdings" panose="05000000000000000000" pitchFamily="2" charset="2"/>
              <a:buChar char="Ø"/>
            </a:pPr>
            <a:r>
              <a:rPr lang="en-IN" sz="2800" b="1" spc="-10" dirty="0">
                <a:latin typeface="Times New Roman"/>
                <a:cs typeface="Times New Roman"/>
              </a:rPr>
              <a:t> </a:t>
            </a:r>
            <a:r>
              <a:rPr lang="en-IN" sz="2800" b="1" dirty="0">
                <a:latin typeface="Times New Roman"/>
                <a:cs typeface="Times New Roman"/>
              </a:rPr>
              <a:t>Clustered</a:t>
            </a:r>
            <a:r>
              <a:rPr lang="en-IN" sz="2800" b="1" spc="-45" dirty="0">
                <a:latin typeface="Times New Roman"/>
                <a:cs typeface="Times New Roman"/>
              </a:rPr>
              <a:t> </a:t>
            </a:r>
            <a:r>
              <a:rPr lang="en-IN" sz="2800" b="1" dirty="0">
                <a:latin typeface="Times New Roman"/>
                <a:cs typeface="Times New Roman"/>
              </a:rPr>
              <a:t>Bar</a:t>
            </a:r>
            <a:r>
              <a:rPr lang="en-IN" sz="2800" b="1" spc="-40" dirty="0">
                <a:latin typeface="Times New Roman"/>
                <a:cs typeface="Times New Roman"/>
              </a:rPr>
              <a:t> </a:t>
            </a:r>
            <a:r>
              <a:rPr lang="en-IN" sz="2800" b="1" dirty="0">
                <a:latin typeface="Times New Roman"/>
                <a:cs typeface="Times New Roman"/>
              </a:rPr>
              <a:t>Chart</a:t>
            </a:r>
            <a:r>
              <a:rPr lang="en-IN" sz="2800" b="1" spc="-45" dirty="0">
                <a:latin typeface="Times New Roman"/>
                <a:cs typeface="Times New Roman"/>
              </a:rPr>
              <a:t> </a:t>
            </a:r>
            <a:r>
              <a:rPr lang="en-IN" sz="2800" b="1" dirty="0">
                <a:latin typeface="Times New Roman"/>
                <a:cs typeface="Times New Roman"/>
              </a:rPr>
              <a:t>→</a:t>
            </a:r>
            <a:r>
              <a:rPr lang="en-IN" sz="2800" b="1" spc="-40" dirty="0">
                <a:latin typeface="Times New Roman"/>
                <a:cs typeface="Times New Roman"/>
              </a:rPr>
              <a:t> </a:t>
            </a:r>
            <a:r>
              <a:rPr lang="en-IN" sz="2800" b="1" spc="-25" dirty="0">
                <a:latin typeface="Times New Roman"/>
                <a:cs typeface="Times New Roman"/>
              </a:rPr>
              <a:t>Add-</a:t>
            </a:r>
            <a:r>
              <a:rPr lang="en-IN" sz="2800" b="1" dirty="0">
                <a:latin typeface="Times New Roman"/>
                <a:cs typeface="Times New Roman"/>
              </a:rPr>
              <a:t>on</a:t>
            </a:r>
            <a:r>
              <a:rPr lang="en-IN" sz="2800" b="1" spc="-45" dirty="0">
                <a:latin typeface="Times New Roman"/>
                <a:cs typeface="Times New Roman"/>
              </a:rPr>
              <a:t> </a:t>
            </a:r>
            <a:r>
              <a:rPr lang="en-IN" sz="2800" b="1" dirty="0">
                <a:latin typeface="Times New Roman"/>
                <a:cs typeface="Times New Roman"/>
              </a:rPr>
              <a:t>service</a:t>
            </a:r>
            <a:r>
              <a:rPr lang="en-IN" sz="2800" b="1" spc="-40" dirty="0">
                <a:latin typeface="Times New Roman"/>
                <a:cs typeface="Times New Roman"/>
              </a:rPr>
              <a:t> </a:t>
            </a:r>
            <a:r>
              <a:rPr lang="en-IN" sz="2800" b="1" dirty="0">
                <a:latin typeface="Times New Roman"/>
                <a:cs typeface="Times New Roman"/>
              </a:rPr>
              <a:t>usage</a:t>
            </a:r>
            <a:r>
              <a:rPr lang="en-IN" sz="2800" b="1" spc="-45" dirty="0">
                <a:latin typeface="Times New Roman"/>
                <a:cs typeface="Times New Roman"/>
              </a:rPr>
              <a:t> </a:t>
            </a:r>
            <a:r>
              <a:rPr lang="en-IN" sz="2800" b="1" dirty="0">
                <a:latin typeface="Times New Roman"/>
                <a:cs typeface="Times New Roman"/>
              </a:rPr>
              <a:t>by</a:t>
            </a:r>
            <a:r>
              <a:rPr lang="en-IN" sz="2800" b="1" spc="-40" dirty="0">
                <a:latin typeface="Times New Roman"/>
                <a:cs typeface="Times New Roman"/>
              </a:rPr>
              <a:t> </a:t>
            </a:r>
            <a:r>
              <a:rPr lang="en-IN" sz="2800" b="1" dirty="0">
                <a:latin typeface="Times New Roman"/>
                <a:cs typeface="Times New Roman"/>
              </a:rPr>
              <a:t>churned</a:t>
            </a:r>
            <a:r>
              <a:rPr lang="en-IN" sz="2800" b="1" spc="-45" dirty="0">
                <a:latin typeface="Times New Roman"/>
                <a:cs typeface="Times New Roman"/>
              </a:rPr>
              <a:t> </a:t>
            </a:r>
            <a:r>
              <a:rPr lang="en-IN" sz="2800" b="1" spc="-10" dirty="0">
                <a:latin typeface="Times New Roman"/>
                <a:cs typeface="Times New Roman"/>
              </a:rPr>
              <a:t>customers</a:t>
            </a:r>
            <a:endParaRPr lang="en-IN" sz="2800" dirty="0">
              <a:latin typeface="Times New Roman"/>
              <a:cs typeface="Times New Roman"/>
            </a:endParaRPr>
          </a:p>
          <a:p>
            <a:pPr marL="1073785" marR="3027680" indent="-457200">
              <a:lnSpc>
                <a:spcPct val="150000"/>
              </a:lnSpc>
              <a:buFont typeface="Wingdings" panose="05000000000000000000" pitchFamily="2" charset="2"/>
              <a:buChar char="Ø"/>
            </a:pPr>
            <a:r>
              <a:rPr lang="en-IN" sz="2800" b="1" dirty="0">
                <a:latin typeface="Times New Roman"/>
                <a:cs typeface="Times New Roman"/>
              </a:rPr>
              <a:t>Scatter</a:t>
            </a:r>
            <a:r>
              <a:rPr lang="en-IN" sz="2800" b="1" spc="-55" dirty="0">
                <a:latin typeface="Times New Roman"/>
                <a:cs typeface="Times New Roman"/>
              </a:rPr>
              <a:t> </a:t>
            </a:r>
            <a:r>
              <a:rPr lang="en-IN" sz="2800" b="1" dirty="0">
                <a:latin typeface="Times New Roman"/>
                <a:cs typeface="Times New Roman"/>
              </a:rPr>
              <a:t>Plot</a:t>
            </a:r>
            <a:r>
              <a:rPr lang="en-IN" sz="2800" b="1" spc="-55" dirty="0">
                <a:latin typeface="Times New Roman"/>
                <a:cs typeface="Times New Roman"/>
              </a:rPr>
              <a:t> </a:t>
            </a:r>
            <a:r>
              <a:rPr lang="en-IN" sz="2800" b="1" dirty="0">
                <a:latin typeface="Times New Roman"/>
                <a:cs typeface="Times New Roman"/>
              </a:rPr>
              <a:t>→</a:t>
            </a:r>
            <a:r>
              <a:rPr lang="en-IN" sz="2800" b="1" spc="-55" dirty="0">
                <a:latin typeface="Times New Roman"/>
                <a:cs typeface="Times New Roman"/>
              </a:rPr>
              <a:t> </a:t>
            </a:r>
            <a:r>
              <a:rPr lang="en-IN" sz="2800" b="1" dirty="0">
                <a:latin typeface="Times New Roman"/>
                <a:cs typeface="Times New Roman"/>
              </a:rPr>
              <a:t>Correlation</a:t>
            </a:r>
            <a:r>
              <a:rPr lang="en-IN" sz="2800" b="1" spc="-50" dirty="0">
                <a:latin typeface="Times New Roman"/>
                <a:cs typeface="Times New Roman"/>
              </a:rPr>
              <a:t> </a:t>
            </a:r>
            <a:r>
              <a:rPr lang="en-IN" sz="2800" b="1" dirty="0">
                <a:latin typeface="Times New Roman"/>
                <a:cs typeface="Times New Roman"/>
              </a:rPr>
              <a:t>between</a:t>
            </a:r>
            <a:r>
              <a:rPr lang="en-IN" sz="2800" b="1" spc="-55" dirty="0">
                <a:latin typeface="Times New Roman"/>
                <a:cs typeface="Times New Roman"/>
              </a:rPr>
              <a:t> </a:t>
            </a:r>
            <a:r>
              <a:rPr lang="en-IN" sz="2800" b="1" dirty="0">
                <a:latin typeface="Times New Roman"/>
                <a:cs typeface="Times New Roman"/>
              </a:rPr>
              <a:t>number</a:t>
            </a:r>
            <a:r>
              <a:rPr lang="en-IN" sz="2800" b="1" spc="-55" dirty="0">
                <a:latin typeface="Times New Roman"/>
                <a:cs typeface="Times New Roman"/>
              </a:rPr>
              <a:t> </a:t>
            </a:r>
            <a:r>
              <a:rPr lang="en-IN" sz="2800" b="1" dirty="0">
                <a:latin typeface="Times New Roman"/>
                <a:cs typeface="Times New Roman"/>
              </a:rPr>
              <a:t>of</a:t>
            </a:r>
            <a:r>
              <a:rPr lang="en-IN" sz="2800" b="1" spc="-55" dirty="0">
                <a:latin typeface="Times New Roman"/>
                <a:cs typeface="Times New Roman"/>
              </a:rPr>
              <a:t> </a:t>
            </a:r>
            <a:r>
              <a:rPr lang="en-IN" sz="2800" b="1" dirty="0">
                <a:latin typeface="Times New Roman"/>
                <a:cs typeface="Times New Roman"/>
              </a:rPr>
              <a:t>services</a:t>
            </a:r>
            <a:r>
              <a:rPr lang="en-IN" sz="2800" b="1" spc="-50" dirty="0">
                <a:latin typeface="Times New Roman"/>
                <a:cs typeface="Times New Roman"/>
              </a:rPr>
              <a:t> </a:t>
            </a:r>
            <a:r>
              <a:rPr lang="en-IN" sz="2800" b="1" dirty="0">
                <a:latin typeface="Times New Roman"/>
                <a:cs typeface="Times New Roman"/>
              </a:rPr>
              <a:t>and</a:t>
            </a:r>
            <a:r>
              <a:rPr lang="en-IN" sz="2800" b="1" spc="-55" dirty="0">
                <a:latin typeface="Times New Roman"/>
                <a:cs typeface="Times New Roman"/>
              </a:rPr>
              <a:t> </a:t>
            </a:r>
            <a:r>
              <a:rPr lang="en-IN" sz="2800" b="1" spc="-10" dirty="0">
                <a:latin typeface="Times New Roman"/>
                <a:cs typeface="Times New Roman"/>
              </a:rPr>
              <a:t>churn</a:t>
            </a:r>
          </a:p>
          <a:p>
            <a:pPr marL="1073785" marR="3027680" indent="-457200">
              <a:lnSpc>
                <a:spcPct val="150000"/>
              </a:lnSpc>
              <a:buFont typeface="Wingdings" panose="05000000000000000000" pitchFamily="2" charset="2"/>
              <a:buChar char="Ø"/>
            </a:pPr>
            <a:r>
              <a:rPr lang="en-IN" sz="2800" b="1" spc="-10" dirty="0">
                <a:latin typeface="Times New Roman"/>
                <a:cs typeface="Times New Roman"/>
              </a:rPr>
              <a:t> </a:t>
            </a:r>
            <a:r>
              <a:rPr lang="en-IN" sz="2800" b="1" dirty="0">
                <a:latin typeface="Times New Roman"/>
                <a:cs typeface="Times New Roman"/>
              </a:rPr>
              <a:t>Pie</a:t>
            </a:r>
            <a:r>
              <a:rPr lang="en-IN" sz="2800" b="1" spc="-40" dirty="0">
                <a:latin typeface="Times New Roman"/>
                <a:cs typeface="Times New Roman"/>
              </a:rPr>
              <a:t> </a:t>
            </a:r>
            <a:r>
              <a:rPr lang="en-IN" sz="2800" b="1" dirty="0">
                <a:latin typeface="Times New Roman"/>
                <a:cs typeface="Times New Roman"/>
              </a:rPr>
              <a:t>Chart</a:t>
            </a:r>
            <a:r>
              <a:rPr lang="en-IN" sz="2800" b="1" spc="-40" dirty="0">
                <a:latin typeface="Times New Roman"/>
                <a:cs typeface="Times New Roman"/>
              </a:rPr>
              <a:t> </a:t>
            </a:r>
            <a:r>
              <a:rPr lang="en-IN" sz="2800" b="1" dirty="0">
                <a:latin typeface="Times New Roman"/>
                <a:cs typeface="Times New Roman"/>
              </a:rPr>
              <a:t>→</a:t>
            </a:r>
            <a:r>
              <a:rPr lang="en-IN" sz="2800" b="1" spc="-40" dirty="0">
                <a:latin typeface="Times New Roman"/>
                <a:cs typeface="Times New Roman"/>
              </a:rPr>
              <a:t> </a:t>
            </a:r>
            <a:r>
              <a:rPr lang="en-IN" sz="2800" b="1" dirty="0">
                <a:latin typeface="Times New Roman"/>
                <a:cs typeface="Times New Roman"/>
              </a:rPr>
              <a:t>Fiber</a:t>
            </a:r>
            <a:r>
              <a:rPr lang="en-IN" sz="2800" b="1" spc="-40" dirty="0">
                <a:latin typeface="Times New Roman"/>
                <a:cs typeface="Times New Roman"/>
              </a:rPr>
              <a:t> </a:t>
            </a:r>
            <a:r>
              <a:rPr lang="en-IN" sz="2800" b="1" dirty="0">
                <a:latin typeface="Times New Roman"/>
                <a:cs typeface="Times New Roman"/>
              </a:rPr>
              <a:t>vs.</a:t>
            </a:r>
            <a:r>
              <a:rPr lang="en-IN" sz="2800" b="1" spc="-40" dirty="0">
                <a:latin typeface="Times New Roman"/>
                <a:cs typeface="Times New Roman"/>
              </a:rPr>
              <a:t> </a:t>
            </a:r>
            <a:r>
              <a:rPr lang="en-IN" sz="2800" b="1" dirty="0">
                <a:latin typeface="Times New Roman"/>
                <a:cs typeface="Times New Roman"/>
              </a:rPr>
              <a:t>DSL</a:t>
            </a:r>
            <a:r>
              <a:rPr lang="en-IN" sz="2800" b="1" spc="-35" dirty="0">
                <a:latin typeface="Times New Roman"/>
                <a:cs typeface="Times New Roman"/>
              </a:rPr>
              <a:t> </a:t>
            </a:r>
            <a:r>
              <a:rPr lang="en-IN" sz="2800" b="1" dirty="0">
                <a:latin typeface="Times New Roman"/>
                <a:cs typeface="Times New Roman"/>
              </a:rPr>
              <a:t>vs.</a:t>
            </a:r>
            <a:r>
              <a:rPr lang="en-IN" sz="2800" b="1" spc="-40" dirty="0">
                <a:latin typeface="Times New Roman"/>
                <a:cs typeface="Times New Roman"/>
              </a:rPr>
              <a:t> </a:t>
            </a:r>
            <a:r>
              <a:rPr lang="en-IN" sz="2800" b="1" dirty="0">
                <a:latin typeface="Times New Roman"/>
                <a:cs typeface="Times New Roman"/>
              </a:rPr>
              <a:t>No</a:t>
            </a:r>
            <a:r>
              <a:rPr lang="en-IN" sz="2800" b="1" spc="-40" dirty="0">
                <a:latin typeface="Times New Roman"/>
                <a:cs typeface="Times New Roman"/>
              </a:rPr>
              <a:t> </a:t>
            </a:r>
            <a:r>
              <a:rPr lang="en-IN" sz="2800" b="1" dirty="0">
                <a:latin typeface="Times New Roman"/>
                <a:cs typeface="Times New Roman"/>
              </a:rPr>
              <a:t>Internet</a:t>
            </a:r>
            <a:r>
              <a:rPr lang="en-IN" sz="2800" b="1" spc="-40" dirty="0">
                <a:latin typeface="Times New Roman"/>
                <a:cs typeface="Times New Roman"/>
              </a:rPr>
              <a:t> </a:t>
            </a:r>
            <a:r>
              <a:rPr lang="en-IN" sz="2800" b="1" spc="-10" dirty="0">
                <a:latin typeface="Times New Roman"/>
                <a:cs typeface="Times New Roman"/>
              </a:rPr>
              <a:t>customers</a:t>
            </a:r>
            <a:endParaRPr lang="en-IN" sz="2800" dirty="0">
              <a:latin typeface="Times New Roman"/>
              <a:cs typeface="Times New Roman"/>
            </a:endParaRPr>
          </a:p>
          <a:p>
            <a:pPr marL="1073785" marR="1751330" indent="-457200">
              <a:lnSpc>
                <a:spcPct val="150000"/>
              </a:lnSpc>
              <a:buFont typeface="Wingdings" panose="05000000000000000000" pitchFamily="2" charset="2"/>
              <a:buChar char="Ø"/>
            </a:pPr>
            <a:r>
              <a:rPr lang="en-IN" sz="2800" b="1" dirty="0">
                <a:latin typeface="Times New Roman"/>
                <a:cs typeface="Times New Roman"/>
              </a:rPr>
              <a:t>Slicers</a:t>
            </a:r>
            <a:r>
              <a:rPr lang="en-IN" sz="2800" b="1" spc="-60" dirty="0">
                <a:latin typeface="Times New Roman"/>
                <a:cs typeface="Times New Roman"/>
              </a:rPr>
              <a:t> </a:t>
            </a:r>
            <a:r>
              <a:rPr lang="en-IN" sz="2800" b="1" dirty="0">
                <a:latin typeface="Times New Roman"/>
                <a:cs typeface="Times New Roman"/>
              </a:rPr>
              <a:t>→</a:t>
            </a:r>
            <a:r>
              <a:rPr lang="en-IN" sz="2800" b="1" spc="-60" dirty="0">
                <a:latin typeface="Times New Roman"/>
                <a:cs typeface="Times New Roman"/>
              </a:rPr>
              <a:t> </a:t>
            </a:r>
            <a:r>
              <a:rPr lang="en-IN" sz="2800" b="1" dirty="0">
                <a:latin typeface="Times New Roman"/>
                <a:cs typeface="Times New Roman"/>
              </a:rPr>
              <a:t>Gender,</a:t>
            </a:r>
            <a:r>
              <a:rPr lang="en-IN" sz="2800" b="1" spc="-55" dirty="0">
                <a:latin typeface="Times New Roman"/>
                <a:cs typeface="Times New Roman"/>
              </a:rPr>
              <a:t> </a:t>
            </a:r>
            <a:r>
              <a:rPr lang="en-IN" sz="2800" b="1" dirty="0">
                <a:latin typeface="Times New Roman"/>
                <a:cs typeface="Times New Roman"/>
              </a:rPr>
              <a:t>Senior</a:t>
            </a:r>
            <a:r>
              <a:rPr lang="en-IN" sz="2800" b="1" spc="-60" dirty="0">
                <a:latin typeface="Times New Roman"/>
                <a:cs typeface="Times New Roman"/>
              </a:rPr>
              <a:t> </a:t>
            </a:r>
            <a:r>
              <a:rPr lang="en-IN" sz="2800" b="1" dirty="0">
                <a:latin typeface="Times New Roman"/>
                <a:cs typeface="Times New Roman"/>
              </a:rPr>
              <a:t>Citizen,</a:t>
            </a:r>
            <a:r>
              <a:rPr lang="en-IN" sz="2800" b="1" spc="-55" dirty="0">
                <a:latin typeface="Times New Roman"/>
                <a:cs typeface="Times New Roman"/>
              </a:rPr>
              <a:t> </a:t>
            </a:r>
            <a:r>
              <a:rPr lang="en-IN" sz="2800" b="1" dirty="0">
                <a:latin typeface="Times New Roman"/>
                <a:cs typeface="Times New Roman"/>
              </a:rPr>
              <a:t>Internet</a:t>
            </a:r>
            <a:r>
              <a:rPr lang="en-IN" sz="2800" b="1" spc="-60" dirty="0">
                <a:latin typeface="Times New Roman"/>
                <a:cs typeface="Times New Roman"/>
              </a:rPr>
              <a:t> </a:t>
            </a:r>
            <a:r>
              <a:rPr lang="en-IN" sz="2800" b="1" dirty="0">
                <a:latin typeface="Times New Roman"/>
                <a:cs typeface="Times New Roman"/>
              </a:rPr>
              <a:t>Service,</a:t>
            </a:r>
            <a:r>
              <a:rPr lang="en-IN" sz="2800" b="1" spc="-60" dirty="0">
                <a:latin typeface="Times New Roman"/>
                <a:cs typeface="Times New Roman"/>
              </a:rPr>
              <a:t> </a:t>
            </a:r>
            <a:r>
              <a:rPr lang="en-IN" sz="2800" b="1" dirty="0">
                <a:latin typeface="Times New Roman"/>
                <a:cs typeface="Times New Roman"/>
              </a:rPr>
              <a:t>Contract</a:t>
            </a:r>
            <a:r>
              <a:rPr lang="en-IN" sz="2800" b="1" spc="-55" dirty="0">
                <a:latin typeface="Times New Roman"/>
                <a:cs typeface="Times New Roman"/>
              </a:rPr>
              <a:t> </a:t>
            </a:r>
            <a:r>
              <a:rPr lang="en-IN" sz="2800" b="1" spc="-20" dirty="0">
                <a:latin typeface="Times New Roman"/>
                <a:cs typeface="Times New Roman"/>
              </a:rPr>
              <a:t>Type</a:t>
            </a:r>
          </a:p>
          <a:p>
            <a:pPr marL="1073785" marR="1751330" indent="-457200">
              <a:lnSpc>
                <a:spcPct val="150000"/>
              </a:lnSpc>
              <a:buFont typeface="Wingdings" panose="05000000000000000000" pitchFamily="2" charset="2"/>
              <a:buChar char="Ø"/>
            </a:pPr>
            <a:r>
              <a:rPr lang="en-IN" sz="2800" b="1" spc="-20" dirty="0">
                <a:latin typeface="Times New Roman"/>
                <a:cs typeface="Times New Roman"/>
              </a:rPr>
              <a:t> </a:t>
            </a:r>
            <a:r>
              <a:rPr lang="en-IN" sz="2800" b="1" dirty="0">
                <a:latin typeface="Times New Roman"/>
                <a:cs typeface="Times New Roman"/>
              </a:rPr>
              <a:t>Purpose:</a:t>
            </a:r>
            <a:r>
              <a:rPr lang="en-IN" sz="2800" b="1" spc="-70" dirty="0">
                <a:latin typeface="Times New Roman"/>
                <a:cs typeface="Times New Roman"/>
              </a:rPr>
              <a:t> </a:t>
            </a:r>
            <a:r>
              <a:rPr lang="en-IN" sz="2800" b="1" dirty="0">
                <a:latin typeface="Times New Roman"/>
                <a:cs typeface="Times New Roman"/>
              </a:rPr>
              <a:t>Identify</a:t>
            </a:r>
            <a:r>
              <a:rPr lang="en-IN" sz="2800" b="1" spc="-75" dirty="0">
                <a:latin typeface="Times New Roman"/>
                <a:cs typeface="Times New Roman"/>
              </a:rPr>
              <a:t> </a:t>
            </a:r>
            <a:r>
              <a:rPr lang="en-IN" sz="2800" b="1" dirty="0">
                <a:latin typeface="Times New Roman"/>
                <a:cs typeface="Times New Roman"/>
              </a:rPr>
              <a:t>which</a:t>
            </a:r>
            <a:r>
              <a:rPr lang="en-IN" sz="2800" b="1" spc="-70" dirty="0">
                <a:latin typeface="Times New Roman"/>
                <a:cs typeface="Times New Roman"/>
              </a:rPr>
              <a:t> </a:t>
            </a:r>
            <a:r>
              <a:rPr lang="en-IN" sz="2800" b="1" dirty="0">
                <a:latin typeface="Times New Roman"/>
                <a:cs typeface="Times New Roman"/>
              </a:rPr>
              <a:t>services</a:t>
            </a:r>
            <a:r>
              <a:rPr lang="en-IN" sz="2800" b="1" spc="-70" dirty="0">
                <a:latin typeface="Times New Roman"/>
                <a:cs typeface="Times New Roman"/>
              </a:rPr>
              <a:t> </a:t>
            </a:r>
            <a:r>
              <a:rPr lang="en-IN" sz="2800" b="1" dirty="0">
                <a:latin typeface="Times New Roman"/>
                <a:cs typeface="Times New Roman"/>
              </a:rPr>
              <a:t>and</a:t>
            </a:r>
            <a:r>
              <a:rPr lang="en-IN" sz="2800" b="1" spc="-70" dirty="0">
                <a:latin typeface="Times New Roman"/>
                <a:cs typeface="Times New Roman"/>
              </a:rPr>
              <a:t> </a:t>
            </a:r>
            <a:r>
              <a:rPr lang="en-IN" sz="2800" b="1" dirty="0">
                <a:latin typeface="Times New Roman"/>
                <a:cs typeface="Times New Roman"/>
              </a:rPr>
              <a:t>combinations</a:t>
            </a:r>
            <a:r>
              <a:rPr lang="en-IN" sz="2800" b="1" spc="-70" dirty="0">
                <a:latin typeface="Times New Roman"/>
                <a:cs typeface="Times New Roman"/>
              </a:rPr>
              <a:t> </a:t>
            </a:r>
            <a:r>
              <a:rPr lang="en-IN" sz="2800" b="1" dirty="0">
                <a:latin typeface="Times New Roman"/>
                <a:cs typeface="Times New Roman"/>
              </a:rPr>
              <a:t>impact</a:t>
            </a:r>
            <a:r>
              <a:rPr lang="en-IN" sz="2800" b="1" spc="-70" dirty="0">
                <a:latin typeface="Times New Roman"/>
                <a:cs typeface="Times New Roman"/>
              </a:rPr>
              <a:t> </a:t>
            </a:r>
            <a:r>
              <a:rPr lang="en-IN" sz="2800" b="1" dirty="0">
                <a:latin typeface="Times New Roman"/>
                <a:cs typeface="Times New Roman"/>
              </a:rPr>
              <a:t>churn</a:t>
            </a:r>
            <a:r>
              <a:rPr lang="en-IN" sz="2800" b="1" spc="-70" dirty="0">
                <a:latin typeface="Times New Roman"/>
                <a:cs typeface="Times New Roman"/>
              </a:rPr>
              <a:t> </a:t>
            </a:r>
            <a:r>
              <a:rPr lang="en-IN" sz="2800" b="1" dirty="0">
                <a:latin typeface="Times New Roman"/>
                <a:cs typeface="Times New Roman"/>
              </a:rPr>
              <a:t>the</a:t>
            </a:r>
            <a:r>
              <a:rPr lang="en-IN" sz="2800" b="1" spc="-70" dirty="0">
                <a:latin typeface="Times New Roman"/>
                <a:cs typeface="Times New Roman"/>
              </a:rPr>
              <a:t> </a:t>
            </a:r>
            <a:r>
              <a:rPr lang="en-IN" sz="2800" b="1" spc="-10" dirty="0">
                <a:latin typeface="Times New Roman"/>
                <a:cs typeface="Times New Roman"/>
              </a:rPr>
              <a:t>most.</a:t>
            </a:r>
            <a:endParaRPr lang="en-IN" sz="2800" dirty="0">
              <a:latin typeface="Times New Roman"/>
              <a:cs typeface="Times New Roman"/>
            </a:endParaRPr>
          </a:p>
          <a:p>
            <a:pPr>
              <a:lnSpc>
                <a:spcPct val="150000"/>
              </a:lnSpc>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886" y="114300"/>
            <a:ext cx="5878285" cy="9906000"/>
          </a:xfrm>
          <a:prstGeom prst="rect">
            <a:avLst/>
          </a:prstGeom>
        </p:spPr>
      </p:pic>
      <p:sp>
        <p:nvSpPr>
          <p:cNvPr id="13" name="TextBox 12">
            <a:extLst>
              <a:ext uri="{FF2B5EF4-FFF2-40B4-BE49-F238E27FC236}">
                <a16:creationId xmlns:a16="http://schemas.microsoft.com/office/drawing/2014/main" id="{74BEE4AC-A8F2-CFEA-DBA2-559C88133835}"/>
              </a:ext>
            </a:extLst>
          </p:cNvPr>
          <p:cNvSpPr txBox="1"/>
          <p:nvPr/>
        </p:nvSpPr>
        <p:spPr>
          <a:xfrm>
            <a:off x="6705600" y="662479"/>
            <a:ext cx="10134600"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3600" b="1" spc="-10" dirty="0">
                <a:solidFill>
                  <a:srgbClr val="FF0000"/>
                </a:solidFill>
              </a:rPr>
              <a:t>     Dashboard</a:t>
            </a:r>
            <a:r>
              <a:rPr lang="en-IN" sz="3600" b="1" dirty="0">
                <a:solidFill>
                  <a:srgbClr val="FF0000"/>
                </a:solidFill>
              </a:rPr>
              <a:t>	 </a:t>
            </a:r>
            <a:r>
              <a:rPr lang="en-IN" sz="3600" b="1" spc="-10" dirty="0">
                <a:solidFill>
                  <a:srgbClr val="FF0000"/>
                </a:solidFill>
              </a:rPr>
              <a:t>Visualizations</a:t>
            </a:r>
            <a:endParaRPr lang="en-IN" sz="3600" b="1" dirty="0">
              <a:solidFill>
                <a:srgbClr val="FF0000"/>
              </a:solidFill>
            </a:endParaRPr>
          </a:p>
        </p:txBody>
      </p:sp>
      <p:sp>
        <p:nvSpPr>
          <p:cNvPr id="14" name="TextBox 13">
            <a:extLst>
              <a:ext uri="{FF2B5EF4-FFF2-40B4-BE49-F238E27FC236}">
                <a16:creationId xmlns:a16="http://schemas.microsoft.com/office/drawing/2014/main" id="{5A0ABBC3-9A53-2CAA-DFE0-2FE411404FEA}"/>
              </a:ext>
            </a:extLst>
          </p:cNvPr>
          <p:cNvSpPr txBox="1"/>
          <p:nvPr/>
        </p:nvSpPr>
        <p:spPr>
          <a:xfrm>
            <a:off x="6019800" y="1562100"/>
            <a:ext cx="14173200" cy="7764433"/>
          </a:xfrm>
          <a:prstGeom prst="rect">
            <a:avLst/>
          </a:prstGeom>
          <a:noFill/>
        </p:spPr>
        <p:txBody>
          <a:bodyPr wrap="square" rtlCol="0">
            <a:spAutoFit/>
          </a:bodyPr>
          <a:lstStyle/>
          <a:p>
            <a:pPr marL="12700">
              <a:lnSpc>
                <a:spcPct val="200000"/>
              </a:lnSpc>
              <a:spcBef>
                <a:spcPts val="1630"/>
              </a:spcBef>
            </a:pPr>
            <a:r>
              <a:rPr lang="en-US" sz="3200" b="1" dirty="0">
                <a:latin typeface="Times New Roman"/>
                <a:cs typeface="Times New Roman"/>
              </a:rPr>
              <a:t>3.</a:t>
            </a:r>
            <a:r>
              <a:rPr lang="en-US" sz="3200" b="1" spc="-50" dirty="0">
                <a:latin typeface="Times New Roman"/>
                <a:cs typeface="Times New Roman"/>
              </a:rPr>
              <a:t> </a:t>
            </a:r>
            <a:r>
              <a:rPr lang="en-US" sz="3200" b="1" dirty="0">
                <a:latin typeface="Times New Roman"/>
                <a:cs typeface="Times New Roman"/>
              </a:rPr>
              <a:t>Contract</a:t>
            </a:r>
            <a:r>
              <a:rPr lang="en-US" sz="3200" b="1" spc="-50" dirty="0">
                <a:latin typeface="Times New Roman"/>
                <a:cs typeface="Times New Roman"/>
              </a:rPr>
              <a:t> </a:t>
            </a:r>
            <a:r>
              <a:rPr lang="en-US" sz="3200" b="1" dirty="0">
                <a:latin typeface="Times New Roman"/>
                <a:cs typeface="Times New Roman"/>
              </a:rPr>
              <a:t>&amp;</a:t>
            </a:r>
            <a:r>
              <a:rPr lang="en-US" sz="3200" b="1" spc="-45" dirty="0">
                <a:latin typeface="Times New Roman"/>
                <a:cs typeface="Times New Roman"/>
              </a:rPr>
              <a:t> </a:t>
            </a:r>
            <a:r>
              <a:rPr lang="en-US" sz="3200" b="1" dirty="0">
                <a:latin typeface="Times New Roman"/>
                <a:cs typeface="Times New Roman"/>
              </a:rPr>
              <a:t>Billing</a:t>
            </a:r>
            <a:r>
              <a:rPr lang="en-US" sz="3200" b="1" spc="-50" dirty="0">
                <a:latin typeface="Times New Roman"/>
                <a:cs typeface="Times New Roman"/>
              </a:rPr>
              <a:t> </a:t>
            </a:r>
            <a:r>
              <a:rPr lang="en-US" sz="3200" b="1" spc="-10" dirty="0">
                <a:latin typeface="Times New Roman"/>
                <a:cs typeface="Times New Roman"/>
              </a:rPr>
              <a:t>Dashboard</a:t>
            </a:r>
            <a:endParaRPr lang="en-US" sz="3200" dirty="0">
              <a:latin typeface="Times New Roman"/>
              <a:cs typeface="Times New Roman"/>
            </a:endParaRPr>
          </a:p>
          <a:p>
            <a:pPr marL="959485" indent="-342900">
              <a:lnSpc>
                <a:spcPct val="200000"/>
              </a:lnSpc>
              <a:spcBef>
                <a:spcPts val="1225"/>
              </a:spcBef>
              <a:buFont typeface="Wingdings" panose="05000000000000000000" pitchFamily="2" charset="2"/>
              <a:buChar char="Ø"/>
            </a:pPr>
            <a:r>
              <a:rPr lang="en-US" sz="2400" b="1" dirty="0">
                <a:latin typeface="Times New Roman"/>
                <a:cs typeface="Times New Roman"/>
              </a:rPr>
              <a:t>Visuals</a:t>
            </a:r>
            <a:r>
              <a:rPr lang="en-US" sz="2400" b="1" spc="-65" dirty="0">
                <a:latin typeface="Times New Roman"/>
                <a:cs typeface="Times New Roman"/>
              </a:rPr>
              <a:t> </a:t>
            </a:r>
            <a:r>
              <a:rPr lang="en-US" sz="2400" b="1" spc="-10" dirty="0">
                <a:latin typeface="Times New Roman"/>
                <a:cs typeface="Times New Roman"/>
              </a:rPr>
              <a:t>Used:</a:t>
            </a:r>
            <a:endParaRPr lang="en-US" sz="2400" dirty="0">
              <a:latin typeface="Times New Roman"/>
              <a:cs typeface="Times New Roman"/>
            </a:endParaRPr>
          </a:p>
          <a:p>
            <a:pPr marL="959485" marR="1981200" indent="-342900">
              <a:lnSpc>
                <a:spcPct val="200000"/>
              </a:lnSpc>
              <a:buFont typeface="Wingdings" panose="05000000000000000000" pitchFamily="2" charset="2"/>
              <a:buChar char="Ø"/>
            </a:pPr>
            <a:r>
              <a:rPr lang="en-US" sz="2400" b="1" dirty="0">
                <a:latin typeface="Times New Roman"/>
                <a:cs typeface="Times New Roman"/>
              </a:rPr>
              <a:t>Bar</a:t>
            </a:r>
            <a:r>
              <a:rPr lang="en-US" sz="2400" b="1" spc="-45" dirty="0">
                <a:latin typeface="Times New Roman"/>
                <a:cs typeface="Times New Roman"/>
              </a:rPr>
              <a:t> </a:t>
            </a:r>
            <a:r>
              <a:rPr lang="en-US" sz="2400" b="1" dirty="0">
                <a:latin typeface="Times New Roman"/>
                <a:cs typeface="Times New Roman"/>
              </a:rPr>
              <a:t>Chart</a:t>
            </a:r>
            <a:r>
              <a:rPr lang="en-US" sz="2400" b="1" spc="-40" dirty="0">
                <a:latin typeface="Times New Roman"/>
                <a:cs typeface="Times New Roman"/>
              </a:rPr>
              <a:t> </a:t>
            </a:r>
            <a:r>
              <a:rPr lang="en-US" sz="2400" b="1" dirty="0">
                <a:latin typeface="Times New Roman"/>
                <a:cs typeface="Times New Roman"/>
              </a:rPr>
              <a:t>→</a:t>
            </a:r>
            <a:r>
              <a:rPr lang="en-US" sz="2400" b="1" spc="-40" dirty="0">
                <a:latin typeface="Times New Roman"/>
                <a:cs typeface="Times New Roman"/>
              </a:rPr>
              <a:t> </a:t>
            </a:r>
            <a:r>
              <a:rPr lang="en-US" sz="2400" b="1" dirty="0">
                <a:latin typeface="Times New Roman"/>
                <a:cs typeface="Times New Roman"/>
              </a:rPr>
              <a:t>Churn</a:t>
            </a:r>
            <a:r>
              <a:rPr lang="en-US" sz="2400" b="1" spc="-40" dirty="0">
                <a:latin typeface="Times New Roman"/>
                <a:cs typeface="Times New Roman"/>
              </a:rPr>
              <a:t> </a:t>
            </a:r>
            <a:r>
              <a:rPr lang="en-US" sz="2400" b="1" dirty="0">
                <a:latin typeface="Times New Roman"/>
                <a:cs typeface="Times New Roman"/>
              </a:rPr>
              <a:t>by</a:t>
            </a:r>
            <a:r>
              <a:rPr lang="en-US" sz="2400" b="1" spc="-40" dirty="0">
                <a:latin typeface="Times New Roman"/>
                <a:cs typeface="Times New Roman"/>
              </a:rPr>
              <a:t> </a:t>
            </a:r>
            <a:r>
              <a:rPr lang="en-US" sz="2400" b="1" dirty="0">
                <a:latin typeface="Times New Roman"/>
                <a:cs typeface="Times New Roman"/>
              </a:rPr>
              <a:t>Contract</a:t>
            </a:r>
            <a:r>
              <a:rPr lang="en-US" sz="2400" b="1" spc="-40" dirty="0">
                <a:latin typeface="Times New Roman"/>
                <a:cs typeface="Times New Roman"/>
              </a:rPr>
              <a:t> </a:t>
            </a:r>
            <a:r>
              <a:rPr lang="en-US" sz="2400" b="1" dirty="0">
                <a:latin typeface="Times New Roman"/>
                <a:cs typeface="Times New Roman"/>
              </a:rPr>
              <a:t>Type</a:t>
            </a:r>
            <a:r>
              <a:rPr lang="en-US" sz="2400" b="1" spc="-40" dirty="0">
                <a:latin typeface="Times New Roman"/>
                <a:cs typeface="Times New Roman"/>
              </a:rPr>
              <a:t> </a:t>
            </a:r>
            <a:r>
              <a:rPr lang="en-US" sz="2400" b="1" spc="-20" dirty="0">
                <a:latin typeface="Times New Roman"/>
                <a:cs typeface="Times New Roman"/>
              </a:rPr>
              <a:t>(Month-</a:t>
            </a:r>
            <a:r>
              <a:rPr lang="en-US" sz="2400" b="1" spc="-10" dirty="0">
                <a:latin typeface="Times New Roman"/>
                <a:cs typeface="Times New Roman"/>
              </a:rPr>
              <a:t>to-</a:t>
            </a:r>
            <a:r>
              <a:rPr lang="en-US" sz="2400" b="1" dirty="0">
                <a:latin typeface="Times New Roman"/>
                <a:cs typeface="Times New Roman"/>
              </a:rPr>
              <a:t>month,</a:t>
            </a:r>
            <a:r>
              <a:rPr lang="en-US" sz="2400" b="1" spc="-40" dirty="0">
                <a:latin typeface="Times New Roman"/>
                <a:cs typeface="Times New Roman"/>
              </a:rPr>
              <a:t> </a:t>
            </a:r>
            <a:r>
              <a:rPr lang="en-US" sz="2400" b="1" dirty="0">
                <a:latin typeface="Times New Roman"/>
                <a:cs typeface="Times New Roman"/>
              </a:rPr>
              <a:t>One</a:t>
            </a:r>
            <a:r>
              <a:rPr lang="en-US" sz="2400" b="1" spc="-45" dirty="0">
                <a:latin typeface="Times New Roman"/>
                <a:cs typeface="Times New Roman"/>
              </a:rPr>
              <a:t> </a:t>
            </a:r>
            <a:r>
              <a:rPr lang="en-US" sz="2400" b="1" dirty="0">
                <a:latin typeface="Times New Roman"/>
                <a:cs typeface="Times New Roman"/>
              </a:rPr>
              <a:t>year,</a:t>
            </a:r>
            <a:r>
              <a:rPr lang="en-US" sz="2400" b="1" spc="-40" dirty="0">
                <a:latin typeface="Times New Roman"/>
                <a:cs typeface="Times New Roman"/>
              </a:rPr>
              <a:t> </a:t>
            </a:r>
            <a:r>
              <a:rPr lang="en-US" sz="2400" b="1" dirty="0">
                <a:latin typeface="Times New Roman"/>
                <a:cs typeface="Times New Roman"/>
              </a:rPr>
              <a:t>Two</a:t>
            </a:r>
            <a:r>
              <a:rPr lang="en-US" sz="2400" b="1" spc="-40" dirty="0">
                <a:latin typeface="Times New Roman"/>
                <a:cs typeface="Times New Roman"/>
              </a:rPr>
              <a:t> </a:t>
            </a:r>
            <a:r>
              <a:rPr lang="en-US" sz="2400" b="1" spc="-10" dirty="0">
                <a:latin typeface="Times New Roman"/>
                <a:cs typeface="Times New Roman"/>
              </a:rPr>
              <a:t>year)</a:t>
            </a:r>
          </a:p>
          <a:p>
            <a:pPr marL="959485" marR="1981200" indent="-342900">
              <a:lnSpc>
                <a:spcPct val="200000"/>
              </a:lnSpc>
              <a:buFont typeface="Wingdings" panose="05000000000000000000" pitchFamily="2" charset="2"/>
              <a:buChar char="Ø"/>
            </a:pPr>
            <a:r>
              <a:rPr lang="en-US" sz="2400" b="1" spc="-10" dirty="0">
                <a:latin typeface="Times New Roman"/>
                <a:cs typeface="Times New Roman"/>
              </a:rPr>
              <a:t> </a:t>
            </a:r>
            <a:r>
              <a:rPr lang="en-US" sz="2400" b="1" dirty="0">
                <a:latin typeface="Times New Roman"/>
                <a:cs typeface="Times New Roman"/>
              </a:rPr>
              <a:t>Donut</a:t>
            </a:r>
            <a:r>
              <a:rPr lang="en-US" sz="2400" b="1" spc="-70" dirty="0">
                <a:latin typeface="Times New Roman"/>
                <a:cs typeface="Times New Roman"/>
              </a:rPr>
              <a:t> </a:t>
            </a:r>
            <a:r>
              <a:rPr lang="en-US" sz="2400" b="1" dirty="0">
                <a:latin typeface="Times New Roman"/>
                <a:cs typeface="Times New Roman"/>
              </a:rPr>
              <a:t>Chart</a:t>
            </a:r>
            <a:r>
              <a:rPr lang="en-US" sz="2400" b="1" spc="-65" dirty="0">
                <a:latin typeface="Times New Roman"/>
                <a:cs typeface="Times New Roman"/>
              </a:rPr>
              <a:t> </a:t>
            </a:r>
            <a:r>
              <a:rPr lang="en-US" sz="2400" b="1" dirty="0">
                <a:latin typeface="Times New Roman"/>
                <a:cs typeface="Times New Roman"/>
              </a:rPr>
              <a:t>→</a:t>
            </a:r>
            <a:r>
              <a:rPr lang="en-US" sz="2400" b="1" spc="-65" dirty="0">
                <a:latin typeface="Times New Roman"/>
                <a:cs typeface="Times New Roman"/>
              </a:rPr>
              <a:t> </a:t>
            </a:r>
            <a:r>
              <a:rPr lang="en-US" sz="2400" b="1" dirty="0">
                <a:latin typeface="Times New Roman"/>
                <a:cs typeface="Times New Roman"/>
              </a:rPr>
              <a:t>Payment</a:t>
            </a:r>
            <a:r>
              <a:rPr lang="en-US" sz="2400" b="1" spc="-65" dirty="0">
                <a:latin typeface="Times New Roman"/>
                <a:cs typeface="Times New Roman"/>
              </a:rPr>
              <a:t> </a:t>
            </a:r>
            <a:r>
              <a:rPr lang="en-US" sz="2400" b="1" dirty="0">
                <a:latin typeface="Times New Roman"/>
                <a:cs typeface="Times New Roman"/>
              </a:rPr>
              <a:t>Method</a:t>
            </a:r>
            <a:r>
              <a:rPr lang="en-US" sz="2400" b="1" spc="-65" dirty="0">
                <a:latin typeface="Times New Roman"/>
                <a:cs typeface="Times New Roman"/>
              </a:rPr>
              <a:t> </a:t>
            </a:r>
            <a:r>
              <a:rPr lang="en-US" sz="2400" b="1" spc="-10" dirty="0">
                <a:latin typeface="Times New Roman"/>
                <a:cs typeface="Times New Roman"/>
              </a:rPr>
              <a:t>distribution</a:t>
            </a:r>
            <a:endParaRPr lang="en-US" sz="2400" dirty="0">
              <a:latin typeface="Times New Roman"/>
              <a:cs typeface="Times New Roman"/>
            </a:endParaRPr>
          </a:p>
          <a:p>
            <a:pPr marL="959485" marR="3866515" indent="-342900">
              <a:lnSpc>
                <a:spcPct val="200000"/>
              </a:lnSpc>
              <a:buFont typeface="Wingdings" panose="05000000000000000000" pitchFamily="2" charset="2"/>
              <a:buChar char="Ø"/>
            </a:pPr>
            <a:r>
              <a:rPr lang="en-US" sz="2400" b="1" dirty="0">
                <a:latin typeface="Times New Roman"/>
                <a:cs typeface="Times New Roman"/>
              </a:rPr>
              <a:t>Clustered</a:t>
            </a:r>
            <a:r>
              <a:rPr lang="en-US" sz="2400" b="1" spc="-60" dirty="0">
                <a:latin typeface="Times New Roman"/>
                <a:cs typeface="Times New Roman"/>
              </a:rPr>
              <a:t> </a:t>
            </a:r>
            <a:r>
              <a:rPr lang="en-US" sz="2400" b="1" dirty="0">
                <a:latin typeface="Times New Roman"/>
                <a:cs typeface="Times New Roman"/>
              </a:rPr>
              <a:t>Column</a:t>
            </a:r>
            <a:r>
              <a:rPr lang="en-US" sz="2400" b="1" spc="-60" dirty="0">
                <a:latin typeface="Times New Roman"/>
                <a:cs typeface="Times New Roman"/>
              </a:rPr>
              <a:t> </a:t>
            </a:r>
            <a:r>
              <a:rPr lang="en-US" sz="2400" b="1" dirty="0">
                <a:latin typeface="Times New Roman"/>
                <a:cs typeface="Times New Roman"/>
              </a:rPr>
              <a:t>Chart</a:t>
            </a:r>
            <a:r>
              <a:rPr lang="en-US" sz="2400" b="1" spc="-60" dirty="0">
                <a:latin typeface="Times New Roman"/>
                <a:cs typeface="Times New Roman"/>
              </a:rPr>
              <a:t> </a:t>
            </a:r>
            <a:r>
              <a:rPr lang="en-US" sz="2400" b="1" dirty="0">
                <a:latin typeface="Times New Roman"/>
                <a:cs typeface="Times New Roman"/>
              </a:rPr>
              <a:t>→</a:t>
            </a:r>
            <a:r>
              <a:rPr lang="en-US" sz="2400" b="1" spc="-55" dirty="0">
                <a:latin typeface="Times New Roman"/>
                <a:cs typeface="Times New Roman"/>
              </a:rPr>
              <a:t> </a:t>
            </a:r>
            <a:r>
              <a:rPr lang="en-US" sz="2400" b="1" dirty="0">
                <a:latin typeface="Times New Roman"/>
                <a:cs typeface="Times New Roman"/>
              </a:rPr>
              <a:t>Avg.</a:t>
            </a:r>
            <a:r>
              <a:rPr lang="en-US" sz="2400" b="1" spc="-60" dirty="0">
                <a:latin typeface="Times New Roman"/>
                <a:cs typeface="Times New Roman"/>
              </a:rPr>
              <a:t> </a:t>
            </a:r>
            <a:r>
              <a:rPr lang="en-US" sz="2400" b="1" dirty="0">
                <a:latin typeface="Times New Roman"/>
                <a:cs typeface="Times New Roman"/>
              </a:rPr>
              <a:t>Total</a:t>
            </a:r>
            <a:r>
              <a:rPr lang="en-US" sz="2400" b="1" spc="-60" dirty="0">
                <a:latin typeface="Times New Roman"/>
                <a:cs typeface="Times New Roman"/>
              </a:rPr>
              <a:t> </a:t>
            </a:r>
            <a:r>
              <a:rPr lang="en-US" sz="2400" b="1" dirty="0">
                <a:latin typeface="Times New Roman"/>
                <a:cs typeface="Times New Roman"/>
              </a:rPr>
              <a:t>Charges</a:t>
            </a:r>
            <a:r>
              <a:rPr lang="en-US" sz="2400" b="1" spc="-55" dirty="0">
                <a:latin typeface="Times New Roman"/>
                <a:cs typeface="Times New Roman"/>
              </a:rPr>
              <a:t> </a:t>
            </a:r>
            <a:r>
              <a:rPr lang="en-US" sz="2400" b="1" dirty="0">
                <a:latin typeface="Times New Roman"/>
                <a:cs typeface="Times New Roman"/>
              </a:rPr>
              <a:t>by</a:t>
            </a:r>
            <a:r>
              <a:rPr lang="en-US" sz="2400" b="1" spc="-60" dirty="0">
                <a:latin typeface="Times New Roman"/>
                <a:cs typeface="Times New Roman"/>
              </a:rPr>
              <a:t> </a:t>
            </a:r>
            <a:r>
              <a:rPr lang="en-US" sz="2400" b="1" dirty="0">
                <a:latin typeface="Times New Roman"/>
                <a:cs typeface="Times New Roman"/>
              </a:rPr>
              <a:t>Contract</a:t>
            </a:r>
          </a:p>
          <a:p>
            <a:pPr marL="959485" marR="3866515" indent="-342900">
              <a:lnSpc>
                <a:spcPct val="200000"/>
              </a:lnSpc>
              <a:buFont typeface="Wingdings" panose="05000000000000000000" pitchFamily="2" charset="2"/>
              <a:buChar char="Ø"/>
            </a:pPr>
            <a:r>
              <a:rPr lang="en-US" sz="2400" b="1" spc="-60" dirty="0">
                <a:latin typeface="Times New Roman"/>
                <a:cs typeface="Times New Roman"/>
              </a:rPr>
              <a:t> </a:t>
            </a:r>
            <a:r>
              <a:rPr lang="en-US" sz="2400" b="1" spc="-20" dirty="0">
                <a:latin typeface="Times New Roman"/>
                <a:cs typeface="Times New Roman"/>
              </a:rPr>
              <a:t>Type </a:t>
            </a:r>
            <a:r>
              <a:rPr lang="en-US" sz="2400" b="1" dirty="0">
                <a:latin typeface="Times New Roman"/>
                <a:cs typeface="Times New Roman"/>
              </a:rPr>
              <a:t>Line</a:t>
            </a:r>
            <a:r>
              <a:rPr lang="en-US" sz="2400" b="1" spc="-55" dirty="0">
                <a:latin typeface="Times New Roman"/>
                <a:cs typeface="Times New Roman"/>
              </a:rPr>
              <a:t> </a:t>
            </a:r>
            <a:r>
              <a:rPr lang="en-US" sz="2400" b="1" dirty="0">
                <a:latin typeface="Times New Roman"/>
                <a:cs typeface="Times New Roman"/>
              </a:rPr>
              <a:t>Chart</a:t>
            </a:r>
            <a:r>
              <a:rPr lang="en-US" sz="2400" b="1" spc="-55" dirty="0">
                <a:latin typeface="Times New Roman"/>
                <a:cs typeface="Times New Roman"/>
              </a:rPr>
              <a:t> </a:t>
            </a:r>
            <a:r>
              <a:rPr lang="en-US" sz="2400" b="1" dirty="0">
                <a:latin typeface="Times New Roman"/>
                <a:cs typeface="Times New Roman"/>
              </a:rPr>
              <a:t>→</a:t>
            </a:r>
            <a:r>
              <a:rPr lang="en-US" sz="2400" b="1" spc="-50" dirty="0">
                <a:latin typeface="Times New Roman"/>
                <a:cs typeface="Times New Roman"/>
              </a:rPr>
              <a:t> </a:t>
            </a:r>
            <a:r>
              <a:rPr lang="en-US" sz="2400" b="1" dirty="0">
                <a:latin typeface="Times New Roman"/>
                <a:cs typeface="Times New Roman"/>
              </a:rPr>
              <a:t>Monthly</a:t>
            </a:r>
            <a:r>
              <a:rPr lang="en-US" sz="2400" b="1" spc="-55" dirty="0">
                <a:latin typeface="Times New Roman"/>
                <a:cs typeface="Times New Roman"/>
              </a:rPr>
              <a:t> </a:t>
            </a:r>
            <a:r>
              <a:rPr lang="en-US" sz="2400" b="1" dirty="0">
                <a:latin typeface="Times New Roman"/>
                <a:cs typeface="Times New Roman"/>
              </a:rPr>
              <a:t>Charges</a:t>
            </a:r>
            <a:r>
              <a:rPr lang="en-US" sz="2400" b="1" spc="-50" dirty="0">
                <a:latin typeface="Times New Roman"/>
                <a:cs typeface="Times New Roman"/>
              </a:rPr>
              <a:t> </a:t>
            </a:r>
            <a:r>
              <a:rPr lang="en-US" sz="2400" b="1" dirty="0">
                <a:latin typeface="Times New Roman"/>
                <a:cs typeface="Times New Roman"/>
              </a:rPr>
              <a:t>by</a:t>
            </a:r>
            <a:r>
              <a:rPr lang="en-US" sz="2400" b="1" spc="-55" dirty="0">
                <a:latin typeface="Times New Roman"/>
                <a:cs typeface="Times New Roman"/>
              </a:rPr>
              <a:t> </a:t>
            </a:r>
            <a:r>
              <a:rPr lang="en-US" sz="2400" b="1" dirty="0">
                <a:latin typeface="Times New Roman"/>
                <a:cs typeface="Times New Roman"/>
              </a:rPr>
              <a:t>Payment</a:t>
            </a:r>
            <a:r>
              <a:rPr lang="en-US" sz="2400" b="1" spc="-50" dirty="0">
                <a:latin typeface="Times New Roman"/>
                <a:cs typeface="Times New Roman"/>
              </a:rPr>
              <a:t> </a:t>
            </a:r>
            <a:r>
              <a:rPr lang="en-US" sz="2400" b="1" spc="-10" dirty="0">
                <a:latin typeface="Times New Roman"/>
                <a:cs typeface="Times New Roman"/>
              </a:rPr>
              <a:t>Method </a:t>
            </a:r>
          </a:p>
          <a:p>
            <a:pPr marL="959485" marR="3866515" indent="-342900">
              <a:lnSpc>
                <a:spcPct val="200000"/>
              </a:lnSpc>
              <a:buFont typeface="Wingdings" panose="05000000000000000000" pitchFamily="2" charset="2"/>
              <a:buChar char="Ø"/>
            </a:pPr>
            <a:r>
              <a:rPr lang="en-US" sz="2400" b="1" dirty="0">
                <a:latin typeface="Times New Roman"/>
                <a:cs typeface="Times New Roman"/>
              </a:rPr>
              <a:t>Matrix/Table</a:t>
            </a:r>
            <a:r>
              <a:rPr lang="en-US" sz="2400" b="1" spc="-45" dirty="0">
                <a:latin typeface="Times New Roman"/>
                <a:cs typeface="Times New Roman"/>
              </a:rPr>
              <a:t> </a:t>
            </a:r>
            <a:r>
              <a:rPr lang="en-US" sz="2400" b="1" dirty="0">
                <a:latin typeface="Times New Roman"/>
                <a:cs typeface="Times New Roman"/>
              </a:rPr>
              <a:t>→</a:t>
            </a:r>
            <a:r>
              <a:rPr lang="en-US" sz="2400" b="1" spc="-40" dirty="0">
                <a:latin typeface="Times New Roman"/>
                <a:cs typeface="Times New Roman"/>
              </a:rPr>
              <a:t> </a:t>
            </a:r>
            <a:r>
              <a:rPr lang="en-US" sz="2400" b="1" dirty="0">
                <a:latin typeface="Times New Roman"/>
                <a:cs typeface="Times New Roman"/>
              </a:rPr>
              <a:t>Billing</a:t>
            </a:r>
            <a:r>
              <a:rPr lang="en-US" sz="2400" b="1" spc="-45" dirty="0">
                <a:latin typeface="Times New Roman"/>
                <a:cs typeface="Times New Roman"/>
              </a:rPr>
              <a:t> </a:t>
            </a:r>
            <a:r>
              <a:rPr lang="en-US" sz="2400" b="1" dirty="0">
                <a:latin typeface="Times New Roman"/>
                <a:cs typeface="Times New Roman"/>
              </a:rPr>
              <a:t>KPIs</a:t>
            </a:r>
            <a:r>
              <a:rPr lang="en-US" sz="2400" b="1" spc="-40" dirty="0">
                <a:latin typeface="Times New Roman"/>
                <a:cs typeface="Times New Roman"/>
              </a:rPr>
              <a:t> </a:t>
            </a:r>
            <a:r>
              <a:rPr lang="en-US" sz="2400" b="1" dirty="0">
                <a:latin typeface="Times New Roman"/>
                <a:cs typeface="Times New Roman"/>
              </a:rPr>
              <a:t>by</a:t>
            </a:r>
            <a:r>
              <a:rPr lang="en-US" sz="2400" b="1" spc="-45" dirty="0">
                <a:latin typeface="Times New Roman"/>
                <a:cs typeface="Times New Roman"/>
              </a:rPr>
              <a:t> </a:t>
            </a:r>
            <a:r>
              <a:rPr lang="en-US" sz="2400" b="1" dirty="0">
                <a:latin typeface="Times New Roman"/>
                <a:cs typeface="Times New Roman"/>
              </a:rPr>
              <a:t>Contract</a:t>
            </a:r>
            <a:r>
              <a:rPr lang="en-US" sz="2400" b="1" spc="-40" dirty="0">
                <a:latin typeface="Times New Roman"/>
                <a:cs typeface="Times New Roman"/>
              </a:rPr>
              <a:t> </a:t>
            </a:r>
            <a:r>
              <a:rPr lang="en-US" sz="2400" b="1" spc="-20" dirty="0">
                <a:latin typeface="Times New Roman"/>
                <a:cs typeface="Times New Roman"/>
              </a:rPr>
              <a:t>Type</a:t>
            </a:r>
            <a:endParaRPr lang="en-US" sz="2400" dirty="0">
              <a:latin typeface="Times New Roman"/>
              <a:cs typeface="Times New Roman"/>
            </a:endParaRPr>
          </a:p>
          <a:p>
            <a:pPr marL="959485" marR="5080" indent="-342900">
              <a:lnSpc>
                <a:spcPct val="200000"/>
              </a:lnSpc>
              <a:buFont typeface="Wingdings" panose="05000000000000000000" pitchFamily="2" charset="2"/>
              <a:buChar char="Ø"/>
            </a:pPr>
            <a:r>
              <a:rPr lang="en-US" sz="2400" b="1" dirty="0">
                <a:latin typeface="Times New Roman"/>
                <a:cs typeface="Times New Roman"/>
              </a:rPr>
              <a:t>Cards</a:t>
            </a:r>
            <a:r>
              <a:rPr lang="en-US" sz="2400" b="1" spc="-60" dirty="0">
                <a:latin typeface="Times New Roman"/>
                <a:cs typeface="Times New Roman"/>
              </a:rPr>
              <a:t> </a:t>
            </a:r>
            <a:r>
              <a:rPr lang="en-US" sz="2400" b="1" dirty="0">
                <a:latin typeface="Times New Roman"/>
                <a:cs typeface="Times New Roman"/>
              </a:rPr>
              <a:t>→</a:t>
            </a:r>
            <a:r>
              <a:rPr lang="en-US" sz="2400" b="1" spc="-55" dirty="0">
                <a:latin typeface="Times New Roman"/>
                <a:cs typeface="Times New Roman"/>
              </a:rPr>
              <a:t> </a:t>
            </a:r>
            <a:r>
              <a:rPr lang="en-US" sz="2400" b="1" dirty="0">
                <a:latin typeface="Times New Roman"/>
                <a:cs typeface="Times New Roman"/>
              </a:rPr>
              <a:t>Avg.</a:t>
            </a:r>
            <a:r>
              <a:rPr lang="en-US" sz="2400" b="1" spc="-55" dirty="0">
                <a:latin typeface="Times New Roman"/>
                <a:cs typeface="Times New Roman"/>
              </a:rPr>
              <a:t> </a:t>
            </a:r>
            <a:r>
              <a:rPr lang="en-US" sz="2400" b="1" dirty="0">
                <a:latin typeface="Times New Roman"/>
                <a:cs typeface="Times New Roman"/>
              </a:rPr>
              <a:t>Monthly</a:t>
            </a:r>
            <a:r>
              <a:rPr lang="en-US" sz="2400" b="1" spc="-55" dirty="0">
                <a:latin typeface="Times New Roman"/>
                <a:cs typeface="Times New Roman"/>
              </a:rPr>
              <a:t> </a:t>
            </a:r>
            <a:r>
              <a:rPr lang="en-US" sz="2400" b="1" dirty="0">
                <a:latin typeface="Times New Roman"/>
                <a:cs typeface="Times New Roman"/>
              </a:rPr>
              <a:t>Charge,</a:t>
            </a:r>
            <a:r>
              <a:rPr lang="en-US" sz="2400" b="1" spc="-55" dirty="0">
                <a:latin typeface="Times New Roman"/>
                <a:cs typeface="Times New Roman"/>
              </a:rPr>
              <a:t> </a:t>
            </a:r>
            <a:r>
              <a:rPr lang="en-US" sz="2400" b="1" dirty="0">
                <a:latin typeface="Times New Roman"/>
                <a:cs typeface="Times New Roman"/>
              </a:rPr>
              <a:t>Avg.</a:t>
            </a:r>
            <a:r>
              <a:rPr lang="en-US" sz="2400" b="1" spc="-60" dirty="0">
                <a:latin typeface="Times New Roman"/>
                <a:cs typeface="Times New Roman"/>
              </a:rPr>
              <a:t> </a:t>
            </a:r>
            <a:r>
              <a:rPr lang="en-US" sz="2400" b="1" dirty="0">
                <a:latin typeface="Times New Roman"/>
                <a:cs typeface="Times New Roman"/>
              </a:rPr>
              <a:t>Total</a:t>
            </a:r>
            <a:r>
              <a:rPr lang="en-US" sz="2400" b="1" spc="-55" dirty="0">
                <a:latin typeface="Times New Roman"/>
                <a:cs typeface="Times New Roman"/>
              </a:rPr>
              <a:t> </a:t>
            </a:r>
            <a:r>
              <a:rPr lang="en-US" sz="2400" b="1" dirty="0">
                <a:latin typeface="Times New Roman"/>
                <a:cs typeface="Times New Roman"/>
              </a:rPr>
              <a:t>Charge,</a:t>
            </a:r>
            <a:r>
              <a:rPr lang="en-US" sz="2400" b="1" spc="-55" dirty="0">
                <a:latin typeface="Times New Roman"/>
                <a:cs typeface="Times New Roman"/>
              </a:rPr>
              <a:t> </a:t>
            </a:r>
            <a:r>
              <a:rPr lang="en-US" sz="2400" b="1" dirty="0">
                <a:latin typeface="Times New Roman"/>
                <a:cs typeface="Times New Roman"/>
              </a:rPr>
              <a:t>Churn</a:t>
            </a:r>
            <a:r>
              <a:rPr lang="en-US" sz="2400" b="1" spc="-55" dirty="0">
                <a:latin typeface="Times New Roman"/>
                <a:cs typeface="Times New Roman"/>
              </a:rPr>
              <a:t> </a:t>
            </a:r>
            <a:r>
              <a:rPr lang="en-US" sz="2400" b="1" dirty="0">
                <a:latin typeface="Times New Roman"/>
                <a:cs typeface="Times New Roman"/>
              </a:rPr>
              <a:t>Rate,</a:t>
            </a:r>
            <a:r>
              <a:rPr lang="en-US" sz="2400" b="1" spc="-55" dirty="0">
                <a:latin typeface="Times New Roman"/>
                <a:cs typeface="Times New Roman"/>
              </a:rPr>
              <a:t> </a:t>
            </a:r>
            <a:r>
              <a:rPr lang="en-US" sz="2400" b="1" dirty="0">
                <a:latin typeface="Times New Roman"/>
                <a:cs typeface="Times New Roman"/>
              </a:rPr>
              <a:t>Total</a:t>
            </a:r>
            <a:r>
              <a:rPr lang="en-US" sz="2400" b="1" spc="-60" dirty="0">
                <a:latin typeface="Times New Roman"/>
                <a:cs typeface="Times New Roman"/>
              </a:rPr>
              <a:t> </a:t>
            </a:r>
            <a:r>
              <a:rPr lang="en-US" sz="2400" b="1" dirty="0">
                <a:latin typeface="Times New Roman"/>
                <a:cs typeface="Times New Roman"/>
              </a:rPr>
              <a:t>Churned</a:t>
            </a:r>
            <a:r>
              <a:rPr lang="en-US" sz="2400" b="1" spc="-55" dirty="0">
                <a:latin typeface="Times New Roman"/>
                <a:cs typeface="Times New Roman"/>
              </a:rPr>
              <a:t> </a:t>
            </a:r>
            <a:r>
              <a:rPr lang="en-US" sz="2400" b="1" spc="-10" dirty="0">
                <a:latin typeface="Times New Roman"/>
                <a:cs typeface="Times New Roman"/>
              </a:rPr>
              <a:t>Customers</a:t>
            </a:r>
          </a:p>
          <a:p>
            <a:pPr marL="959485" marR="5080" indent="-342900">
              <a:lnSpc>
                <a:spcPct val="200000"/>
              </a:lnSpc>
              <a:buFont typeface="Wingdings" panose="05000000000000000000" pitchFamily="2" charset="2"/>
              <a:buChar char="Ø"/>
            </a:pPr>
            <a:r>
              <a:rPr lang="en-US" sz="2400" b="1" spc="-10" dirty="0">
                <a:latin typeface="Times New Roman"/>
                <a:cs typeface="Times New Roman"/>
              </a:rPr>
              <a:t> </a:t>
            </a:r>
            <a:r>
              <a:rPr lang="en-US" sz="2400" b="1" dirty="0">
                <a:latin typeface="Times New Roman"/>
                <a:cs typeface="Times New Roman"/>
              </a:rPr>
              <a:t>Purpose:</a:t>
            </a:r>
            <a:r>
              <a:rPr lang="en-US" sz="2400" b="1" spc="-80" dirty="0">
                <a:latin typeface="Times New Roman"/>
                <a:cs typeface="Times New Roman"/>
              </a:rPr>
              <a:t> </a:t>
            </a:r>
            <a:r>
              <a:rPr lang="en-US" sz="2400" b="1" dirty="0">
                <a:latin typeface="Times New Roman"/>
                <a:cs typeface="Times New Roman"/>
              </a:rPr>
              <a:t>Analyze</a:t>
            </a:r>
            <a:r>
              <a:rPr lang="en-US" sz="2400" b="1" spc="-75" dirty="0">
                <a:latin typeface="Times New Roman"/>
                <a:cs typeface="Times New Roman"/>
              </a:rPr>
              <a:t> </a:t>
            </a:r>
            <a:r>
              <a:rPr lang="en-US" sz="2400" b="1" dirty="0">
                <a:latin typeface="Times New Roman"/>
                <a:cs typeface="Times New Roman"/>
              </a:rPr>
              <a:t>billing</a:t>
            </a:r>
            <a:r>
              <a:rPr lang="en-US" sz="2400" b="1" spc="-75" dirty="0">
                <a:latin typeface="Times New Roman"/>
                <a:cs typeface="Times New Roman"/>
              </a:rPr>
              <a:t> </a:t>
            </a:r>
            <a:r>
              <a:rPr lang="en-US" sz="2400" b="1" dirty="0">
                <a:latin typeface="Times New Roman"/>
                <a:cs typeface="Times New Roman"/>
              </a:rPr>
              <a:t>behavior</a:t>
            </a:r>
            <a:r>
              <a:rPr lang="en-US" sz="2400" b="1" spc="-75" dirty="0">
                <a:latin typeface="Times New Roman"/>
                <a:cs typeface="Times New Roman"/>
              </a:rPr>
              <a:t> </a:t>
            </a:r>
            <a:r>
              <a:rPr lang="en-US" sz="2400" b="1" dirty="0">
                <a:latin typeface="Times New Roman"/>
                <a:cs typeface="Times New Roman"/>
              </a:rPr>
              <a:t>and</a:t>
            </a:r>
            <a:r>
              <a:rPr lang="en-US" sz="2400" b="1" spc="-75" dirty="0">
                <a:latin typeface="Times New Roman"/>
                <a:cs typeface="Times New Roman"/>
              </a:rPr>
              <a:t> </a:t>
            </a:r>
            <a:r>
              <a:rPr lang="en-US" sz="2400" b="1" dirty="0">
                <a:latin typeface="Times New Roman"/>
                <a:cs typeface="Times New Roman"/>
              </a:rPr>
              <a:t>contractual</a:t>
            </a:r>
            <a:r>
              <a:rPr lang="en-US" sz="2400" b="1" spc="-75" dirty="0">
                <a:latin typeface="Times New Roman"/>
                <a:cs typeface="Times New Roman"/>
              </a:rPr>
              <a:t> </a:t>
            </a:r>
            <a:r>
              <a:rPr lang="en-US" sz="2400" b="1" dirty="0">
                <a:latin typeface="Times New Roman"/>
                <a:cs typeface="Times New Roman"/>
              </a:rPr>
              <a:t>patterns</a:t>
            </a:r>
            <a:r>
              <a:rPr lang="en-US" sz="2400" b="1" spc="-75" dirty="0">
                <a:latin typeface="Times New Roman"/>
                <a:cs typeface="Times New Roman"/>
              </a:rPr>
              <a:t> </a:t>
            </a:r>
            <a:r>
              <a:rPr lang="en-US" sz="2400" b="1" dirty="0">
                <a:latin typeface="Times New Roman"/>
                <a:cs typeface="Times New Roman"/>
              </a:rPr>
              <a:t>influencing</a:t>
            </a:r>
            <a:r>
              <a:rPr lang="en-US" sz="2400" b="1" spc="-75" dirty="0">
                <a:latin typeface="Times New Roman"/>
                <a:cs typeface="Times New Roman"/>
              </a:rPr>
              <a:t> </a:t>
            </a:r>
            <a:r>
              <a:rPr lang="en-US" sz="2400" b="1" spc="-10" dirty="0">
                <a:latin typeface="Times New Roman"/>
                <a:cs typeface="Times New Roman"/>
              </a:rPr>
              <a:t>churn.</a:t>
            </a:r>
            <a:endParaRPr lang="en-US" sz="2400" dirty="0">
              <a:latin typeface="Times New Roman"/>
              <a:cs typeface="Times New Roman"/>
            </a:endParaRPr>
          </a:p>
          <a:p>
            <a:pPr>
              <a:lnSpc>
                <a:spcPct val="200000"/>
              </a:lnSpc>
            </a:pPr>
            <a:endParaRPr lang="en-IN"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8601" y="95250"/>
            <a:ext cx="7391399" cy="10096500"/>
          </a:xfrm>
          <a:prstGeom prst="rect">
            <a:avLst/>
          </a:prstGeom>
        </p:spPr>
      </p:pic>
      <p:sp>
        <p:nvSpPr>
          <p:cNvPr id="14" name="TextBox 13">
            <a:extLst>
              <a:ext uri="{FF2B5EF4-FFF2-40B4-BE49-F238E27FC236}">
                <a16:creationId xmlns:a16="http://schemas.microsoft.com/office/drawing/2014/main" id="{A2AC4E17-7930-5601-22B2-42C204892E7D}"/>
              </a:ext>
            </a:extLst>
          </p:cNvPr>
          <p:cNvSpPr txBox="1"/>
          <p:nvPr/>
        </p:nvSpPr>
        <p:spPr>
          <a:xfrm>
            <a:off x="8534400" y="571500"/>
            <a:ext cx="8839200" cy="70788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4000" b="1" spc="-10" dirty="0">
                <a:solidFill>
                  <a:srgbClr val="FF0000"/>
                </a:solidFill>
              </a:rPr>
              <a:t>PROJECT  OVERVIEW :</a:t>
            </a:r>
            <a:endParaRPr lang="en-IN" sz="4000" b="1" dirty="0">
              <a:solidFill>
                <a:srgbClr val="FF0000"/>
              </a:solidFill>
            </a:endParaRPr>
          </a:p>
        </p:txBody>
      </p:sp>
      <p:sp>
        <p:nvSpPr>
          <p:cNvPr id="15" name="TextBox 14">
            <a:extLst>
              <a:ext uri="{FF2B5EF4-FFF2-40B4-BE49-F238E27FC236}">
                <a16:creationId xmlns:a16="http://schemas.microsoft.com/office/drawing/2014/main" id="{94671C66-B7A8-861F-C81A-886FC1D78E44}"/>
              </a:ext>
            </a:extLst>
          </p:cNvPr>
          <p:cNvSpPr txBox="1"/>
          <p:nvPr/>
        </p:nvSpPr>
        <p:spPr>
          <a:xfrm>
            <a:off x="8240486" y="1756460"/>
            <a:ext cx="10058400" cy="8530540"/>
          </a:xfrm>
          <a:prstGeom prst="rect">
            <a:avLst/>
          </a:prstGeom>
          <a:noFill/>
        </p:spPr>
        <p:txBody>
          <a:bodyPr wrap="square" rtlCol="0">
            <a:spAutoFit/>
          </a:bodyPr>
          <a:lstStyle/>
          <a:p>
            <a:pPr marL="469900" marR="306070" indent="-457200">
              <a:lnSpc>
                <a:spcPct val="131500"/>
              </a:lnSpc>
              <a:spcBef>
                <a:spcPts val="100"/>
              </a:spcBef>
              <a:buFont typeface="Wingdings" panose="05000000000000000000" pitchFamily="2" charset="2"/>
              <a:buChar char="v"/>
            </a:pPr>
            <a:r>
              <a:rPr lang="en-US" sz="2800" b="1" dirty="0">
                <a:latin typeface="Times New Roman"/>
                <a:cs typeface="Times New Roman"/>
              </a:rPr>
              <a:t>To</a:t>
            </a:r>
            <a:r>
              <a:rPr lang="en-US" sz="2800" b="1" spc="-95" dirty="0">
                <a:latin typeface="Times New Roman"/>
                <a:cs typeface="Times New Roman"/>
              </a:rPr>
              <a:t> </a:t>
            </a:r>
            <a:r>
              <a:rPr lang="en-US" sz="2800" b="1" dirty="0">
                <a:latin typeface="Times New Roman"/>
                <a:cs typeface="Times New Roman"/>
              </a:rPr>
              <a:t>analyze</a:t>
            </a:r>
            <a:r>
              <a:rPr lang="en-US" sz="2800" b="1" spc="-90" dirty="0">
                <a:latin typeface="Times New Roman"/>
                <a:cs typeface="Times New Roman"/>
              </a:rPr>
              <a:t> </a:t>
            </a:r>
            <a:r>
              <a:rPr lang="en-US" sz="2800" b="1" dirty="0">
                <a:latin typeface="Times New Roman"/>
                <a:cs typeface="Times New Roman"/>
              </a:rPr>
              <a:t>customer</a:t>
            </a:r>
            <a:r>
              <a:rPr lang="en-US" sz="2800" b="1" spc="-95" dirty="0">
                <a:latin typeface="Times New Roman"/>
                <a:cs typeface="Times New Roman"/>
              </a:rPr>
              <a:t> </a:t>
            </a:r>
            <a:r>
              <a:rPr lang="en-US" sz="2800" b="1" dirty="0">
                <a:latin typeface="Times New Roman"/>
                <a:cs typeface="Times New Roman"/>
              </a:rPr>
              <a:t>churn</a:t>
            </a:r>
            <a:r>
              <a:rPr lang="en-US" sz="2800" b="1" spc="-90" dirty="0">
                <a:latin typeface="Times New Roman"/>
                <a:cs typeface="Times New Roman"/>
              </a:rPr>
              <a:t> </a:t>
            </a:r>
            <a:r>
              <a:rPr lang="en-US" sz="2800" b="1" dirty="0">
                <a:latin typeface="Times New Roman"/>
                <a:cs typeface="Times New Roman"/>
              </a:rPr>
              <a:t>patterns</a:t>
            </a:r>
            <a:r>
              <a:rPr lang="en-US" sz="2800" b="1" spc="-95" dirty="0">
                <a:latin typeface="Times New Roman"/>
                <a:cs typeface="Times New Roman"/>
              </a:rPr>
              <a:t> </a:t>
            </a:r>
            <a:r>
              <a:rPr lang="en-US" sz="2800" b="1" dirty="0">
                <a:latin typeface="Times New Roman"/>
                <a:cs typeface="Times New Roman"/>
              </a:rPr>
              <a:t>and</a:t>
            </a:r>
            <a:r>
              <a:rPr lang="en-US" sz="2800" b="1" spc="-90" dirty="0">
                <a:latin typeface="Times New Roman"/>
                <a:cs typeface="Times New Roman"/>
              </a:rPr>
              <a:t> </a:t>
            </a:r>
            <a:r>
              <a:rPr lang="en-US" sz="2800" b="1" dirty="0">
                <a:latin typeface="Times New Roman"/>
                <a:cs typeface="Times New Roman"/>
              </a:rPr>
              <a:t>identify</a:t>
            </a:r>
            <a:r>
              <a:rPr lang="en-US" sz="2800" b="1" spc="-95" dirty="0">
                <a:latin typeface="Times New Roman"/>
                <a:cs typeface="Times New Roman"/>
              </a:rPr>
              <a:t> </a:t>
            </a:r>
            <a:r>
              <a:rPr lang="en-US" sz="2800" b="1" dirty="0">
                <a:latin typeface="Times New Roman"/>
                <a:cs typeface="Times New Roman"/>
              </a:rPr>
              <a:t>the</a:t>
            </a:r>
            <a:r>
              <a:rPr lang="en-US" sz="2800" b="1" spc="-90" dirty="0">
                <a:latin typeface="Times New Roman"/>
                <a:cs typeface="Times New Roman"/>
              </a:rPr>
              <a:t> </a:t>
            </a:r>
            <a:r>
              <a:rPr lang="en-US" sz="2800" b="1" dirty="0">
                <a:latin typeface="Times New Roman"/>
                <a:cs typeface="Times New Roman"/>
              </a:rPr>
              <a:t>key</a:t>
            </a:r>
            <a:r>
              <a:rPr lang="en-US" sz="2800" b="1" spc="-95" dirty="0">
                <a:latin typeface="Times New Roman"/>
                <a:cs typeface="Times New Roman"/>
              </a:rPr>
              <a:t> </a:t>
            </a:r>
            <a:r>
              <a:rPr lang="en-US" sz="2800" b="1" dirty="0">
                <a:latin typeface="Times New Roman"/>
                <a:cs typeface="Times New Roman"/>
              </a:rPr>
              <a:t>factors</a:t>
            </a:r>
            <a:r>
              <a:rPr lang="en-US" sz="2800" b="1" spc="-90" dirty="0">
                <a:latin typeface="Times New Roman"/>
                <a:cs typeface="Times New Roman"/>
              </a:rPr>
              <a:t> </a:t>
            </a:r>
            <a:r>
              <a:rPr lang="en-US" sz="2800" b="1" dirty="0">
                <a:latin typeface="Times New Roman"/>
                <a:cs typeface="Times New Roman"/>
              </a:rPr>
              <a:t>influencing</a:t>
            </a:r>
            <a:r>
              <a:rPr lang="en-US" sz="2800" b="1" spc="-95" dirty="0">
                <a:latin typeface="Times New Roman"/>
                <a:cs typeface="Times New Roman"/>
              </a:rPr>
              <a:t> </a:t>
            </a:r>
            <a:r>
              <a:rPr lang="en-US" sz="2800" b="1" dirty="0">
                <a:latin typeface="Times New Roman"/>
                <a:cs typeface="Times New Roman"/>
              </a:rPr>
              <a:t>customer</a:t>
            </a:r>
            <a:r>
              <a:rPr lang="en-US" sz="2800" b="1" spc="-90" dirty="0">
                <a:latin typeface="Times New Roman"/>
                <a:cs typeface="Times New Roman"/>
              </a:rPr>
              <a:t> </a:t>
            </a:r>
            <a:r>
              <a:rPr lang="en-US" sz="2800" b="1" spc="-10" dirty="0">
                <a:latin typeface="Times New Roman"/>
                <a:cs typeface="Times New Roman"/>
              </a:rPr>
              <a:t>attrition. </a:t>
            </a:r>
            <a:endParaRPr lang="en-US" sz="2800" b="1" dirty="0">
              <a:latin typeface="Times New Roman"/>
              <a:cs typeface="Times New Roman"/>
            </a:endParaRPr>
          </a:p>
          <a:p>
            <a:pPr marL="469900" marR="306070" indent="-457200">
              <a:lnSpc>
                <a:spcPct val="131500"/>
              </a:lnSpc>
              <a:spcBef>
                <a:spcPts val="100"/>
              </a:spcBef>
              <a:buFont typeface="Wingdings" panose="05000000000000000000" pitchFamily="2" charset="2"/>
              <a:buChar char="v"/>
            </a:pPr>
            <a:r>
              <a:rPr lang="en-US" sz="2800" b="1" spc="-90" dirty="0">
                <a:latin typeface="Times New Roman"/>
                <a:cs typeface="Times New Roman"/>
              </a:rPr>
              <a:t> </a:t>
            </a:r>
            <a:r>
              <a:rPr lang="en-US" sz="2800" b="1" dirty="0">
                <a:latin typeface="Times New Roman"/>
                <a:cs typeface="Times New Roman"/>
              </a:rPr>
              <a:t>understand</a:t>
            </a:r>
            <a:r>
              <a:rPr lang="en-US" sz="2800" b="1" spc="-85" dirty="0">
                <a:latin typeface="Times New Roman"/>
                <a:cs typeface="Times New Roman"/>
              </a:rPr>
              <a:t> </a:t>
            </a:r>
            <a:r>
              <a:rPr lang="en-US" sz="2800" b="1" dirty="0">
                <a:latin typeface="Times New Roman"/>
                <a:cs typeface="Times New Roman"/>
              </a:rPr>
              <a:t>customer</a:t>
            </a:r>
            <a:r>
              <a:rPr lang="en-US" sz="2800" b="1" spc="-90" dirty="0">
                <a:latin typeface="Times New Roman"/>
                <a:cs typeface="Times New Roman"/>
              </a:rPr>
              <a:t> </a:t>
            </a:r>
            <a:r>
              <a:rPr lang="en-US" sz="2800" b="1" dirty="0">
                <a:latin typeface="Times New Roman"/>
                <a:cs typeface="Times New Roman"/>
              </a:rPr>
              <a:t>behavior</a:t>
            </a:r>
            <a:r>
              <a:rPr lang="en-US" sz="2800" b="1" spc="-85" dirty="0">
                <a:latin typeface="Times New Roman"/>
                <a:cs typeface="Times New Roman"/>
              </a:rPr>
              <a:t> </a:t>
            </a:r>
            <a:r>
              <a:rPr lang="en-US" sz="2800" b="1" dirty="0">
                <a:latin typeface="Times New Roman"/>
                <a:cs typeface="Times New Roman"/>
              </a:rPr>
              <a:t>based</a:t>
            </a:r>
            <a:r>
              <a:rPr lang="en-US" sz="2800" b="1" spc="-85" dirty="0">
                <a:latin typeface="Times New Roman"/>
                <a:cs typeface="Times New Roman"/>
              </a:rPr>
              <a:t> </a:t>
            </a:r>
            <a:r>
              <a:rPr lang="en-US" sz="2800" b="1" dirty="0">
                <a:latin typeface="Times New Roman"/>
                <a:cs typeface="Times New Roman"/>
              </a:rPr>
              <a:t>on</a:t>
            </a:r>
            <a:r>
              <a:rPr lang="en-US" sz="2800" b="1" spc="-90" dirty="0">
                <a:latin typeface="Times New Roman"/>
                <a:cs typeface="Times New Roman"/>
              </a:rPr>
              <a:t> </a:t>
            </a:r>
            <a:r>
              <a:rPr lang="en-US" sz="2800" b="1" spc="-10" dirty="0">
                <a:latin typeface="Times New Roman"/>
                <a:cs typeface="Times New Roman"/>
              </a:rPr>
              <a:t>demographics,</a:t>
            </a:r>
            <a:r>
              <a:rPr lang="en-US" sz="2800" b="1" spc="-85" dirty="0">
                <a:latin typeface="Times New Roman"/>
                <a:cs typeface="Times New Roman"/>
              </a:rPr>
              <a:t> </a:t>
            </a:r>
            <a:r>
              <a:rPr lang="en-US" sz="2800" b="1" dirty="0">
                <a:latin typeface="Times New Roman"/>
                <a:cs typeface="Times New Roman"/>
              </a:rPr>
              <a:t>service</a:t>
            </a:r>
            <a:r>
              <a:rPr lang="en-US" sz="2800" b="1" spc="-85" dirty="0">
                <a:latin typeface="Times New Roman"/>
                <a:cs typeface="Times New Roman"/>
              </a:rPr>
              <a:t> </a:t>
            </a:r>
            <a:r>
              <a:rPr lang="en-US" sz="2800" b="1" spc="-10" dirty="0">
                <a:latin typeface="Times New Roman"/>
                <a:cs typeface="Times New Roman"/>
              </a:rPr>
              <a:t>subscriptions,</a:t>
            </a:r>
            <a:r>
              <a:rPr lang="en-US" sz="2800" b="1" spc="-90" dirty="0">
                <a:latin typeface="Times New Roman"/>
                <a:cs typeface="Times New Roman"/>
              </a:rPr>
              <a:t> </a:t>
            </a:r>
            <a:r>
              <a:rPr lang="en-US" sz="2800" b="1" dirty="0">
                <a:latin typeface="Times New Roman"/>
                <a:cs typeface="Times New Roman"/>
              </a:rPr>
              <a:t>and</a:t>
            </a:r>
            <a:r>
              <a:rPr lang="en-US" sz="2800" b="1" spc="-85" dirty="0">
                <a:latin typeface="Times New Roman"/>
                <a:cs typeface="Times New Roman"/>
              </a:rPr>
              <a:t> </a:t>
            </a:r>
            <a:r>
              <a:rPr lang="en-US" sz="2800" b="1" spc="-10" dirty="0">
                <a:latin typeface="Times New Roman"/>
                <a:cs typeface="Times New Roman"/>
              </a:rPr>
              <a:t>billing information.</a:t>
            </a:r>
            <a:endParaRPr lang="en-US" sz="2800" dirty="0">
              <a:latin typeface="Times New Roman"/>
              <a:cs typeface="Times New Roman"/>
            </a:endParaRPr>
          </a:p>
          <a:p>
            <a:pPr marL="469900" marR="164465" indent="-457200">
              <a:lnSpc>
                <a:spcPts val="4580"/>
              </a:lnSpc>
              <a:spcBef>
                <a:spcPts val="330"/>
              </a:spcBef>
              <a:buFont typeface="Wingdings" panose="05000000000000000000" pitchFamily="2" charset="2"/>
              <a:buChar char="v"/>
            </a:pPr>
            <a:r>
              <a:rPr lang="en-US" sz="2800" b="1" dirty="0">
                <a:latin typeface="Times New Roman"/>
                <a:cs typeface="Times New Roman"/>
              </a:rPr>
              <a:t>To</a:t>
            </a:r>
            <a:r>
              <a:rPr lang="en-US" sz="2800" b="1" spc="-85" dirty="0">
                <a:latin typeface="Times New Roman"/>
                <a:cs typeface="Times New Roman"/>
              </a:rPr>
              <a:t> </a:t>
            </a:r>
            <a:r>
              <a:rPr lang="en-US" sz="2800" b="1" dirty="0">
                <a:latin typeface="Times New Roman"/>
                <a:cs typeface="Times New Roman"/>
              </a:rPr>
              <a:t>measure</a:t>
            </a:r>
            <a:r>
              <a:rPr lang="en-US" sz="2800" b="1" spc="-90" dirty="0">
                <a:latin typeface="Times New Roman"/>
                <a:cs typeface="Times New Roman"/>
              </a:rPr>
              <a:t> </a:t>
            </a:r>
            <a:r>
              <a:rPr lang="en-US" sz="2800" b="1" dirty="0">
                <a:latin typeface="Times New Roman"/>
                <a:cs typeface="Times New Roman"/>
              </a:rPr>
              <a:t>churn</a:t>
            </a:r>
            <a:r>
              <a:rPr lang="en-US" sz="2800" b="1" spc="-85" dirty="0">
                <a:latin typeface="Times New Roman"/>
                <a:cs typeface="Times New Roman"/>
              </a:rPr>
              <a:t> </a:t>
            </a:r>
            <a:r>
              <a:rPr lang="en-US" sz="2800" b="1" dirty="0">
                <a:latin typeface="Times New Roman"/>
                <a:cs typeface="Times New Roman"/>
              </a:rPr>
              <a:t>rate</a:t>
            </a:r>
            <a:r>
              <a:rPr lang="en-US" sz="2800" b="1" spc="-85" dirty="0">
                <a:latin typeface="Times New Roman"/>
                <a:cs typeface="Times New Roman"/>
              </a:rPr>
              <a:t> </a:t>
            </a:r>
            <a:r>
              <a:rPr lang="en-US" sz="2800" b="1" dirty="0">
                <a:latin typeface="Times New Roman"/>
                <a:cs typeface="Times New Roman"/>
              </a:rPr>
              <a:t>across</a:t>
            </a:r>
            <a:r>
              <a:rPr lang="en-US" sz="2800" b="1" spc="-85" dirty="0">
                <a:latin typeface="Times New Roman"/>
                <a:cs typeface="Times New Roman"/>
              </a:rPr>
              <a:t> </a:t>
            </a:r>
            <a:r>
              <a:rPr lang="en-US" sz="2800" b="1" dirty="0">
                <a:latin typeface="Times New Roman"/>
                <a:cs typeface="Times New Roman"/>
              </a:rPr>
              <a:t>various</a:t>
            </a:r>
            <a:r>
              <a:rPr lang="en-US" sz="2800" b="1" spc="-85" dirty="0">
                <a:latin typeface="Times New Roman"/>
                <a:cs typeface="Times New Roman"/>
              </a:rPr>
              <a:t> </a:t>
            </a:r>
            <a:r>
              <a:rPr lang="en-US" sz="2800" b="1" dirty="0">
                <a:latin typeface="Times New Roman"/>
                <a:cs typeface="Times New Roman"/>
              </a:rPr>
              <a:t>customer</a:t>
            </a:r>
            <a:r>
              <a:rPr lang="en-US" sz="2800" b="1" spc="-85" dirty="0">
                <a:latin typeface="Times New Roman"/>
                <a:cs typeface="Times New Roman"/>
              </a:rPr>
              <a:t> </a:t>
            </a:r>
            <a:r>
              <a:rPr lang="en-US" sz="2800" b="1" dirty="0">
                <a:latin typeface="Times New Roman"/>
                <a:cs typeface="Times New Roman"/>
              </a:rPr>
              <a:t>segments</a:t>
            </a:r>
            <a:r>
              <a:rPr lang="en-US" sz="2800" b="1" spc="-85" dirty="0">
                <a:latin typeface="Times New Roman"/>
                <a:cs typeface="Times New Roman"/>
              </a:rPr>
              <a:t> </a:t>
            </a:r>
            <a:r>
              <a:rPr lang="en-US" sz="2800" b="1" dirty="0">
                <a:latin typeface="Times New Roman"/>
                <a:cs typeface="Times New Roman"/>
              </a:rPr>
              <a:t>such</a:t>
            </a:r>
            <a:r>
              <a:rPr lang="en-US" sz="2800" b="1" spc="-85" dirty="0">
                <a:latin typeface="Times New Roman"/>
                <a:cs typeface="Times New Roman"/>
              </a:rPr>
              <a:t> </a:t>
            </a:r>
            <a:r>
              <a:rPr lang="en-US" sz="2800" b="1" dirty="0">
                <a:latin typeface="Times New Roman"/>
                <a:cs typeface="Times New Roman"/>
              </a:rPr>
              <a:t>as</a:t>
            </a:r>
            <a:r>
              <a:rPr lang="en-US" sz="2800" b="1" spc="-85" dirty="0">
                <a:latin typeface="Times New Roman"/>
                <a:cs typeface="Times New Roman"/>
              </a:rPr>
              <a:t> </a:t>
            </a:r>
            <a:r>
              <a:rPr lang="en-US" sz="2800" b="1" dirty="0">
                <a:latin typeface="Times New Roman"/>
                <a:cs typeface="Times New Roman"/>
              </a:rPr>
              <a:t>contract</a:t>
            </a:r>
            <a:r>
              <a:rPr lang="en-US" sz="2800" b="1" spc="-85" dirty="0">
                <a:latin typeface="Times New Roman"/>
                <a:cs typeface="Times New Roman"/>
              </a:rPr>
              <a:t> </a:t>
            </a:r>
            <a:r>
              <a:rPr lang="en-US" sz="2800" b="1" dirty="0">
                <a:latin typeface="Times New Roman"/>
                <a:cs typeface="Times New Roman"/>
              </a:rPr>
              <a:t>type,</a:t>
            </a:r>
            <a:r>
              <a:rPr lang="en-US" sz="2800" b="1" spc="-85" dirty="0">
                <a:latin typeface="Times New Roman"/>
                <a:cs typeface="Times New Roman"/>
              </a:rPr>
              <a:t> </a:t>
            </a:r>
            <a:r>
              <a:rPr lang="en-US" sz="2800" b="1" dirty="0">
                <a:latin typeface="Times New Roman"/>
                <a:cs typeface="Times New Roman"/>
              </a:rPr>
              <a:t>internet</a:t>
            </a:r>
            <a:r>
              <a:rPr lang="en-US" sz="2800" b="1" spc="-85" dirty="0">
                <a:latin typeface="Times New Roman"/>
                <a:cs typeface="Times New Roman"/>
              </a:rPr>
              <a:t> </a:t>
            </a:r>
            <a:r>
              <a:rPr lang="en-US" sz="2800" b="1" spc="-10" dirty="0">
                <a:latin typeface="Times New Roman"/>
                <a:cs typeface="Times New Roman"/>
              </a:rPr>
              <a:t>service, </a:t>
            </a:r>
            <a:r>
              <a:rPr lang="en-US" sz="2800" b="1" dirty="0">
                <a:latin typeface="Times New Roman"/>
                <a:cs typeface="Times New Roman"/>
              </a:rPr>
              <a:t>and</a:t>
            </a:r>
            <a:r>
              <a:rPr lang="en-US" sz="2800" b="1" spc="-90" dirty="0">
                <a:latin typeface="Times New Roman"/>
                <a:cs typeface="Times New Roman"/>
              </a:rPr>
              <a:t> </a:t>
            </a:r>
            <a:r>
              <a:rPr lang="en-US" sz="2800" b="1" dirty="0">
                <a:latin typeface="Times New Roman"/>
                <a:cs typeface="Times New Roman"/>
              </a:rPr>
              <a:t>payment</a:t>
            </a:r>
            <a:r>
              <a:rPr lang="en-US" sz="2800" b="1" spc="-85" dirty="0">
                <a:latin typeface="Times New Roman"/>
                <a:cs typeface="Times New Roman"/>
              </a:rPr>
              <a:t> </a:t>
            </a:r>
            <a:r>
              <a:rPr lang="en-US" sz="2800" b="1" spc="-10" dirty="0">
                <a:latin typeface="Times New Roman"/>
                <a:cs typeface="Times New Roman"/>
              </a:rPr>
              <a:t>method.</a:t>
            </a:r>
            <a:endParaRPr lang="en-US" sz="2800" dirty="0">
              <a:latin typeface="Times New Roman"/>
              <a:cs typeface="Times New Roman"/>
            </a:endParaRPr>
          </a:p>
          <a:p>
            <a:pPr marL="469900" indent="-457200">
              <a:lnSpc>
                <a:spcPct val="100000"/>
              </a:lnSpc>
              <a:spcBef>
                <a:spcPts val="755"/>
              </a:spcBef>
              <a:buFont typeface="Wingdings" panose="05000000000000000000" pitchFamily="2" charset="2"/>
              <a:buChar char="v"/>
            </a:pPr>
            <a:r>
              <a:rPr lang="en-US" sz="2800" b="1" dirty="0">
                <a:latin typeface="Times New Roman"/>
                <a:cs typeface="Times New Roman"/>
              </a:rPr>
              <a:t>To</a:t>
            </a:r>
            <a:r>
              <a:rPr lang="en-US" sz="2800" b="1" spc="-105" dirty="0">
                <a:latin typeface="Times New Roman"/>
                <a:cs typeface="Times New Roman"/>
              </a:rPr>
              <a:t> </a:t>
            </a:r>
            <a:r>
              <a:rPr lang="en-US" sz="2800" b="1" dirty="0">
                <a:latin typeface="Times New Roman"/>
                <a:cs typeface="Times New Roman"/>
              </a:rPr>
              <a:t>visualize</a:t>
            </a:r>
            <a:r>
              <a:rPr lang="en-US" sz="2800" b="1" spc="-105" dirty="0">
                <a:latin typeface="Times New Roman"/>
                <a:cs typeface="Times New Roman"/>
              </a:rPr>
              <a:t> </a:t>
            </a:r>
            <a:r>
              <a:rPr lang="en-US" sz="2800" b="1" dirty="0">
                <a:latin typeface="Times New Roman"/>
                <a:cs typeface="Times New Roman"/>
              </a:rPr>
              <a:t>business</a:t>
            </a:r>
            <a:r>
              <a:rPr lang="en-US" sz="2800" b="1" spc="-100" dirty="0">
                <a:latin typeface="Times New Roman"/>
                <a:cs typeface="Times New Roman"/>
              </a:rPr>
              <a:t> </a:t>
            </a:r>
            <a:r>
              <a:rPr lang="en-US" sz="2800" b="1" dirty="0">
                <a:latin typeface="Times New Roman"/>
                <a:cs typeface="Times New Roman"/>
              </a:rPr>
              <a:t>performance</a:t>
            </a:r>
            <a:r>
              <a:rPr lang="en-US" sz="2800" b="1" spc="-105" dirty="0">
                <a:latin typeface="Times New Roman"/>
                <a:cs typeface="Times New Roman"/>
              </a:rPr>
              <a:t> </a:t>
            </a:r>
            <a:r>
              <a:rPr lang="en-US" sz="2800" b="1" dirty="0">
                <a:latin typeface="Times New Roman"/>
                <a:cs typeface="Times New Roman"/>
              </a:rPr>
              <a:t>using</a:t>
            </a:r>
            <a:r>
              <a:rPr lang="en-US" sz="2800" b="1" spc="-105" dirty="0">
                <a:latin typeface="Times New Roman"/>
                <a:cs typeface="Times New Roman"/>
              </a:rPr>
              <a:t> </a:t>
            </a:r>
            <a:r>
              <a:rPr lang="en-US" sz="2800" b="1" dirty="0">
                <a:latin typeface="Times New Roman"/>
                <a:cs typeface="Times New Roman"/>
              </a:rPr>
              <a:t>interactive</a:t>
            </a:r>
            <a:r>
              <a:rPr lang="en-US" sz="2800" b="1" spc="-100" dirty="0">
                <a:latin typeface="Times New Roman"/>
                <a:cs typeface="Times New Roman"/>
              </a:rPr>
              <a:t> </a:t>
            </a:r>
            <a:r>
              <a:rPr lang="en-US" sz="2800" b="1" dirty="0">
                <a:latin typeface="Times New Roman"/>
                <a:cs typeface="Times New Roman"/>
              </a:rPr>
              <a:t>Power</a:t>
            </a:r>
            <a:r>
              <a:rPr lang="en-US" sz="2800" b="1" spc="-105" dirty="0">
                <a:latin typeface="Times New Roman"/>
                <a:cs typeface="Times New Roman"/>
              </a:rPr>
              <a:t> </a:t>
            </a:r>
            <a:r>
              <a:rPr lang="en-US" sz="2800" b="1" dirty="0">
                <a:latin typeface="Times New Roman"/>
                <a:cs typeface="Times New Roman"/>
              </a:rPr>
              <a:t>BI</a:t>
            </a:r>
            <a:r>
              <a:rPr lang="en-US" sz="2800" b="1" spc="-100" dirty="0">
                <a:latin typeface="Times New Roman"/>
                <a:cs typeface="Times New Roman"/>
              </a:rPr>
              <a:t> </a:t>
            </a:r>
            <a:r>
              <a:rPr lang="en-US" sz="2800" b="1" dirty="0">
                <a:latin typeface="Times New Roman"/>
                <a:cs typeface="Times New Roman"/>
              </a:rPr>
              <a:t>dashboards</a:t>
            </a:r>
            <a:r>
              <a:rPr lang="en-US" sz="2800" b="1" spc="-105" dirty="0">
                <a:latin typeface="Times New Roman"/>
                <a:cs typeface="Times New Roman"/>
              </a:rPr>
              <a:t> </a:t>
            </a:r>
            <a:r>
              <a:rPr lang="en-US" sz="2800" b="1" dirty="0">
                <a:latin typeface="Times New Roman"/>
                <a:cs typeface="Times New Roman"/>
              </a:rPr>
              <a:t>and</a:t>
            </a:r>
            <a:r>
              <a:rPr lang="en-US" sz="2800" b="1" spc="-105" dirty="0">
                <a:latin typeface="Times New Roman"/>
                <a:cs typeface="Times New Roman"/>
              </a:rPr>
              <a:t> </a:t>
            </a:r>
            <a:r>
              <a:rPr lang="en-US" sz="2800" b="1" spc="-10" dirty="0">
                <a:latin typeface="Times New Roman"/>
                <a:cs typeface="Times New Roman"/>
              </a:rPr>
              <a:t>KPIs.</a:t>
            </a:r>
            <a:endParaRPr lang="en-US" sz="2800" dirty="0">
              <a:latin typeface="Times New Roman"/>
              <a:cs typeface="Times New Roman"/>
            </a:endParaRPr>
          </a:p>
          <a:p>
            <a:pPr marL="469900" marR="1613535" indent="-457200">
              <a:lnSpc>
                <a:spcPts val="4580"/>
              </a:lnSpc>
              <a:spcBef>
                <a:spcPts val="330"/>
              </a:spcBef>
              <a:buFont typeface="Wingdings" panose="05000000000000000000" pitchFamily="2" charset="2"/>
              <a:buChar char="v"/>
            </a:pPr>
            <a:r>
              <a:rPr lang="en-US" sz="2800" b="1" dirty="0">
                <a:latin typeface="Times New Roman"/>
                <a:cs typeface="Times New Roman"/>
              </a:rPr>
              <a:t>To</a:t>
            </a:r>
            <a:r>
              <a:rPr lang="en-US" sz="2800" b="1" spc="-80" dirty="0">
                <a:latin typeface="Times New Roman"/>
                <a:cs typeface="Times New Roman"/>
              </a:rPr>
              <a:t> </a:t>
            </a:r>
            <a:r>
              <a:rPr lang="en-US" sz="2800" b="1" dirty="0">
                <a:latin typeface="Times New Roman"/>
                <a:cs typeface="Times New Roman"/>
              </a:rPr>
              <a:t>predict</a:t>
            </a:r>
            <a:r>
              <a:rPr lang="en-US" sz="2800" b="1" spc="-80" dirty="0">
                <a:latin typeface="Times New Roman"/>
                <a:cs typeface="Times New Roman"/>
              </a:rPr>
              <a:t> </a:t>
            </a:r>
            <a:r>
              <a:rPr lang="en-US" sz="2800" b="1" dirty="0">
                <a:latin typeface="Times New Roman"/>
                <a:cs typeface="Times New Roman"/>
              </a:rPr>
              <a:t>churn</a:t>
            </a:r>
            <a:r>
              <a:rPr lang="en-US" sz="2800" b="1" spc="-80" dirty="0">
                <a:latin typeface="Times New Roman"/>
                <a:cs typeface="Times New Roman"/>
              </a:rPr>
              <a:t> </a:t>
            </a:r>
            <a:r>
              <a:rPr lang="en-US" sz="2800" b="1" dirty="0">
                <a:latin typeface="Times New Roman"/>
                <a:cs typeface="Times New Roman"/>
              </a:rPr>
              <a:t>risk</a:t>
            </a:r>
            <a:r>
              <a:rPr lang="en-US" sz="2800" b="1" spc="-80" dirty="0">
                <a:latin typeface="Times New Roman"/>
                <a:cs typeface="Times New Roman"/>
              </a:rPr>
              <a:t> </a:t>
            </a:r>
            <a:r>
              <a:rPr lang="en-US" sz="2800" b="1" dirty="0">
                <a:latin typeface="Times New Roman"/>
                <a:cs typeface="Times New Roman"/>
              </a:rPr>
              <a:t>and</a:t>
            </a:r>
            <a:r>
              <a:rPr lang="en-US" sz="2800" b="1" spc="-80" dirty="0">
                <a:latin typeface="Times New Roman"/>
                <a:cs typeface="Times New Roman"/>
              </a:rPr>
              <a:t> </a:t>
            </a:r>
            <a:r>
              <a:rPr lang="en-US" sz="2800" b="1" dirty="0">
                <a:latin typeface="Times New Roman"/>
                <a:cs typeface="Times New Roman"/>
              </a:rPr>
              <a:t>highlight</a:t>
            </a:r>
            <a:r>
              <a:rPr lang="en-US" sz="2800" b="1" spc="-80" dirty="0">
                <a:latin typeface="Times New Roman"/>
                <a:cs typeface="Times New Roman"/>
              </a:rPr>
              <a:t> </a:t>
            </a:r>
            <a:r>
              <a:rPr lang="en-US" sz="2800" b="1" spc="-20" dirty="0">
                <a:latin typeface="Times New Roman"/>
                <a:cs typeface="Times New Roman"/>
              </a:rPr>
              <a:t>high-</a:t>
            </a:r>
            <a:r>
              <a:rPr lang="en-US" sz="2800" b="1" dirty="0">
                <a:latin typeface="Times New Roman"/>
                <a:cs typeface="Times New Roman"/>
              </a:rPr>
              <a:t>risk</a:t>
            </a:r>
            <a:r>
              <a:rPr lang="en-US" sz="2800" b="1" spc="-80" dirty="0">
                <a:latin typeface="Times New Roman"/>
                <a:cs typeface="Times New Roman"/>
              </a:rPr>
              <a:t> </a:t>
            </a:r>
            <a:r>
              <a:rPr lang="en-US" sz="2800" b="1" dirty="0">
                <a:latin typeface="Times New Roman"/>
                <a:cs typeface="Times New Roman"/>
              </a:rPr>
              <a:t>customer</a:t>
            </a:r>
            <a:r>
              <a:rPr lang="en-US" sz="2800" b="1" spc="-80" dirty="0">
                <a:latin typeface="Times New Roman"/>
                <a:cs typeface="Times New Roman"/>
              </a:rPr>
              <a:t> </a:t>
            </a:r>
            <a:r>
              <a:rPr lang="en-US" sz="2800" b="1" dirty="0">
                <a:latin typeface="Times New Roman"/>
                <a:cs typeface="Times New Roman"/>
              </a:rPr>
              <a:t>segments</a:t>
            </a:r>
            <a:r>
              <a:rPr lang="en-US" sz="2800" b="1" spc="-80" dirty="0">
                <a:latin typeface="Times New Roman"/>
                <a:cs typeface="Times New Roman"/>
              </a:rPr>
              <a:t> </a:t>
            </a:r>
            <a:r>
              <a:rPr lang="en-US" sz="2800" b="1" dirty="0">
                <a:latin typeface="Times New Roman"/>
                <a:cs typeface="Times New Roman"/>
              </a:rPr>
              <a:t>for</a:t>
            </a:r>
            <a:r>
              <a:rPr lang="en-US" sz="2800" b="1" spc="-75" dirty="0">
                <a:latin typeface="Times New Roman"/>
                <a:cs typeface="Times New Roman"/>
              </a:rPr>
              <a:t> </a:t>
            </a:r>
            <a:r>
              <a:rPr lang="en-US" sz="2800" b="1" dirty="0">
                <a:latin typeface="Times New Roman"/>
                <a:cs typeface="Times New Roman"/>
              </a:rPr>
              <a:t>targeted</a:t>
            </a:r>
            <a:r>
              <a:rPr lang="en-US" sz="2800" b="1" spc="-80" dirty="0">
                <a:latin typeface="Times New Roman"/>
                <a:cs typeface="Times New Roman"/>
              </a:rPr>
              <a:t> </a:t>
            </a:r>
            <a:r>
              <a:rPr lang="en-US" sz="2800" b="1" spc="-10" dirty="0">
                <a:latin typeface="Times New Roman"/>
                <a:cs typeface="Times New Roman"/>
              </a:rPr>
              <a:t>retention strategies.</a:t>
            </a:r>
            <a:endParaRPr lang="en-US" sz="2800" dirty="0">
              <a:latin typeface="Times New Roman"/>
              <a:cs typeface="Times New Roman"/>
            </a:endParaRPr>
          </a:p>
          <a:p>
            <a:pPr marL="536575" indent="-457200">
              <a:lnSpc>
                <a:spcPct val="100000"/>
              </a:lnSpc>
              <a:spcBef>
                <a:spcPts val="830"/>
              </a:spcBef>
              <a:buFont typeface="Wingdings" panose="05000000000000000000" pitchFamily="2" charset="2"/>
              <a:buChar char="v"/>
            </a:pPr>
            <a:r>
              <a:rPr lang="en-US" sz="2800" b="1" dirty="0">
                <a:latin typeface="Times New Roman"/>
                <a:cs typeface="Times New Roman"/>
              </a:rPr>
              <a:t>To</a:t>
            </a:r>
            <a:r>
              <a:rPr lang="en-US" sz="2800" b="1" spc="-60" dirty="0">
                <a:latin typeface="Times New Roman"/>
                <a:cs typeface="Times New Roman"/>
              </a:rPr>
              <a:t> </a:t>
            </a:r>
            <a:r>
              <a:rPr lang="en-US" sz="2800" b="1" dirty="0">
                <a:latin typeface="Times New Roman"/>
                <a:cs typeface="Times New Roman"/>
              </a:rPr>
              <a:t>support</a:t>
            </a:r>
            <a:r>
              <a:rPr lang="en-US" sz="2800" b="1" spc="-55" dirty="0">
                <a:latin typeface="Times New Roman"/>
                <a:cs typeface="Times New Roman"/>
              </a:rPr>
              <a:t> </a:t>
            </a:r>
            <a:r>
              <a:rPr lang="en-US" sz="2800" b="1" spc="-10" dirty="0">
                <a:latin typeface="Times New Roman"/>
                <a:cs typeface="Times New Roman"/>
              </a:rPr>
              <a:t>data-</a:t>
            </a:r>
            <a:r>
              <a:rPr lang="en-US" sz="2800" b="1" dirty="0">
                <a:latin typeface="Times New Roman"/>
                <a:cs typeface="Times New Roman"/>
              </a:rPr>
              <a:t>driven</a:t>
            </a:r>
            <a:r>
              <a:rPr lang="en-US" sz="2800" b="1" spc="-55" dirty="0">
                <a:latin typeface="Times New Roman"/>
                <a:cs typeface="Times New Roman"/>
              </a:rPr>
              <a:t> </a:t>
            </a:r>
            <a:r>
              <a:rPr lang="en-US" sz="2800" b="1" dirty="0">
                <a:latin typeface="Times New Roman"/>
                <a:cs typeface="Times New Roman"/>
              </a:rPr>
              <a:t>decisions</a:t>
            </a:r>
            <a:r>
              <a:rPr lang="en-US" sz="2800" b="1" spc="-55" dirty="0">
                <a:latin typeface="Times New Roman"/>
                <a:cs typeface="Times New Roman"/>
              </a:rPr>
              <a:t> </a:t>
            </a:r>
            <a:r>
              <a:rPr lang="en-US" sz="2800" b="1" dirty="0">
                <a:latin typeface="Times New Roman"/>
                <a:cs typeface="Times New Roman"/>
              </a:rPr>
              <a:t>that</a:t>
            </a:r>
            <a:r>
              <a:rPr lang="en-US" sz="2800" b="1" spc="-55" dirty="0">
                <a:latin typeface="Times New Roman"/>
                <a:cs typeface="Times New Roman"/>
              </a:rPr>
              <a:t> </a:t>
            </a:r>
            <a:r>
              <a:rPr lang="en-US" sz="2800" b="1" dirty="0">
                <a:latin typeface="Times New Roman"/>
                <a:cs typeface="Times New Roman"/>
              </a:rPr>
              <a:t>can</a:t>
            </a:r>
            <a:r>
              <a:rPr lang="en-US" sz="2800" b="1" spc="-55" dirty="0">
                <a:latin typeface="Times New Roman"/>
                <a:cs typeface="Times New Roman"/>
              </a:rPr>
              <a:t> </a:t>
            </a:r>
            <a:r>
              <a:rPr lang="en-US" sz="2800" b="1" dirty="0">
                <a:latin typeface="Times New Roman"/>
                <a:cs typeface="Times New Roman"/>
              </a:rPr>
              <a:t>reduce</a:t>
            </a:r>
            <a:r>
              <a:rPr lang="en-US" sz="2800" b="1" spc="-55" dirty="0">
                <a:latin typeface="Times New Roman"/>
                <a:cs typeface="Times New Roman"/>
              </a:rPr>
              <a:t> </a:t>
            </a:r>
            <a:r>
              <a:rPr lang="en-US" sz="2800" b="1" dirty="0">
                <a:latin typeface="Times New Roman"/>
                <a:cs typeface="Times New Roman"/>
              </a:rPr>
              <a:t>churn,</a:t>
            </a:r>
            <a:r>
              <a:rPr lang="en-US" sz="2800" b="1" spc="-55" dirty="0">
                <a:latin typeface="Times New Roman"/>
                <a:cs typeface="Times New Roman"/>
              </a:rPr>
              <a:t> </a:t>
            </a:r>
            <a:r>
              <a:rPr lang="en-US" sz="2800" b="1" dirty="0">
                <a:latin typeface="Times New Roman"/>
                <a:cs typeface="Times New Roman"/>
              </a:rPr>
              <a:t>increase</a:t>
            </a:r>
            <a:r>
              <a:rPr lang="en-US" sz="2800" b="1" spc="-55" dirty="0">
                <a:latin typeface="Times New Roman"/>
                <a:cs typeface="Times New Roman"/>
              </a:rPr>
              <a:t> </a:t>
            </a:r>
            <a:r>
              <a:rPr lang="en-US" sz="2800" b="1" dirty="0">
                <a:latin typeface="Times New Roman"/>
                <a:cs typeface="Times New Roman"/>
              </a:rPr>
              <a:t>customer</a:t>
            </a:r>
            <a:r>
              <a:rPr lang="en-US" sz="2800" b="1" spc="-55" dirty="0">
                <a:latin typeface="Times New Roman"/>
                <a:cs typeface="Times New Roman"/>
              </a:rPr>
              <a:t> </a:t>
            </a:r>
            <a:r>
              <a:rPr lang="en-US" sz="2800" b="1" spc="-10" dirty="0">
                <a:latin typeface="Times New Roman"/>
                <a:cs typeface="Times New Roman"/>
              </a:rPr>
              <a:t>satisfaction,</a:t>
            </a:r>
            <a:endParaRPr lang="en-US" sz="2800" dirty="0">
              <a:latin typeface="Times New Roman"/>
              <a:cs typeface="Times New Roman"/>
            </a:endParaRPr>
          </a:p>
          <a:p>
            <a:pPr marL="79375">
              <a:lnSpc>
                <a:spcPct val="100000"/>
              </a:lnSpc>
              <a:spcBef>
                <a:spcPts val="1260"/>
              </a:spcBef>
            </a:pPr>
            <a:r>
              <a:rPr lang="en-US" sz="2800" b="1" dirty="0">
                <a:latin typeface="Times New Roman"/>
                <a:cs typeface="Times New Roman"/>
              </a:rPr>
              <a:t>and</a:t>
            </a:r>
            <a:r>
              <a:rPr lang="en-US" sz="2800" b="1" spc="-55" dirty="0">
                <a:latin typeface="Times New Roman"/>
                <a:cs typeface="Times New Roman"/>
              </a:rPr>
              <a:t> </a:t>
            </a:r>
            <a:r>
              <a:rPr lang="en-US" sz="2800" b="1" dirty="0">
                <a:latin typeface="Times New Roman"/>
                <a:cs typeface="Times New Roman"/>
              </a:rPr>
              <a:t>improve</a:t>
            </a:r>
            <a:r>
              <a:rPr lang="en-US" sz="2800" b="1" spc="-50" dirty="0">
                <a:latin typeface="Times New Roman"/>
                <a:cs typeface="Times New Roman"/>
              </a:rPr>
              <a:t> </a:t>
            </a:r>
            <a:r>
              <a:rPr lang="en-US" sz="2800" b="1" dirty="0">
                <a:latin typeface="Times New Roman"/>
                <a:cs typeface="Times New Roman"/>
              </a:rPr>
              <a:t>revenue</a:t>
            </a:r>
            <a:r>
              <a:rPr lang="en-US" sz="2800" b="1" spc="-55" dirty="0">
                <a:latin typeface="Times New Roman"/>
                <a:cs typeface="Times New Roman"/>
              </a:rPr>
              <a:t> </a:t>
            </a:r>
            <a:r>
              <a:rPr lang="en-US" sz="2800" b="1" spc="-10" dirty="0">
                <a:latin typeface="Times New Roman"/>
                <a:cs typeface="Times New Roman"/>
              </a:rPr>
              <a:t>stability.</a:t>
            </a:r>
          </a:p>
          <a:p>
            <a:pPr marL="79375">
              <a:lnSpc>
                <a:spcPct val="100000"/>
              </a:lnSpc>
              <a:spcBef>
                <a:spcPts val="1260"/>
              </a:spcBef>
            </a:pPr>
            <a:endParaRPr lang="en-US" sz="2800" dirty="0">
              <a:latin typeface="Times New Roman"/>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object 9"/>
          <p:cNvSpPr txBox="1"/>
          <p:nvPr/>
        </p:nvSpPr>
        <p:spPr>
          <a:xfrm>
            <a:off x="11732411" y="701812"/>
            <a:ext cx="839640" cy="320601"/>
          </a:xfrm>
          <a:prstGeom prst="rect">
            <a:avLst/>
          </a:prstGeom>
        </p:spPr>
        <p:txBody>
          <a:bodyPr vert="horz" wrap="square" lIns="0" tIns="12700" rIns="0" bIns="0" rtlCol="0">
            <a:spAutoFit/>
          </a:bodyPr>
          <a:lstStyle/>
          <a:p>
            <a:pPr marL="12700">
              <a:lnSpc>
                <a:spcPct val="100000"/>
              </a:lnSpc>
              <a:spcBef>
                <a:spcPts val="100"/>
              </a:spcBef>
            </a:pPr>
            <a:r>
              <a:rPr sz="2000" spc="225" dirty="0">
                <a:solidFill>
                  <a:srgbClr val="B14F31"/>
                </a:solidFill>
                <a:latin typeface="Calibri"/>
                <a:cs typeface="Calibri"/>
              </a:rPr>
              <a:t>t</a:t>
            </a:r>
            <a:endParaRPr sz="2000" dirty="0">
              <a:latin typeface="Calibri"/>
              <a:cs typeface="Calibri"/>
            </a:endParaRPr>
          </a:p>
        </p:txBody>
      </p:sp>
      <p:pic>
        <p:nvPicPr>
          <p:cNvPr id="7" name="Picture 6">
            <a:extLst>
              <a:ext uri="{FF2B5EF4-FFF2-40B4-BE49-F238E27FC236}">
                <a16:creationId xmlns:a16="http://schemas.microsoft.com/office/drawing/2014/main" id="{3E2D2C38-6F69-9F28-17F4-3FB2D20C877C}"/>
              </a:ext>
            </a:extLst>
          </p:cNvPr>
          <p:cNvPicPr>
            <a:picLocks noChangeAspect="1"/>
          </p:cNvPicPr>
          <p:nvPr/>
        </p:nvPicPr>
        <p:blipFill>
          <a:blip r:embed="rId2"/>
          <a:stretch>
            <a:fillRect/>
          </a:stretch>
        </p:blipFill>
        <p:spPr>
          <a:xfrm>
            <a:off x="0" y="0"/>
            <a:ext cx="18440400" cy="1028699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4CE53E5-8A48-C7A4-A8B1-1C231FA94F7A}"/>
              </a:ext>
            </a:extLst>
          </p:cNvPr>
          <p:cNvPicPr>
            <a:picLocks noChangeAspect="1"/>
          </p:cNvPicPr>
          <p:nvPr/>
        </p:nvPicPr>
        <p:blipFill>
          <a:blip r:embed="rId2"/>
          <a:stretch>
            <a:fillRect/>
          </a:stretch>
        </p:blipFill>
        <p:spPr>
          <a:xfrm>
            <a:off x="-76200" y="0"/>
            <a:ext cx="18364199" cy="107061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AE486A5-A6ED-F754-DC11-CCE7A7851104}"/>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99BCD947-931F-B515-C0D5-12357ECE23D6}"/>
              </a:ext>
            </a:extLst>
          </p:cNvPr>
          <p:cNvPicPr>
            <a:picLocks noChangeAspect="1"/>
          </p:cNvPicPr>
          <p:nvPr/>
        </p:nvPicPr>
        <p:blipFill>
          <a:blip r:embed="rId2"/>
          <a:stretch>
            <a:fillRect/>
          </a:stretch>
        </p:blipFill>
        <p:spPr>
          <a:xfrm>
            <a:off x="0" y="0"/>
            <a:ext cx="18135600" cy="10401300"/>
          </a:xfrm>
          <a:prstGeom prst="rect">
            <a:avLst/>
          </a:prstGeom>
        </p:spPr>
      </p:pic>
    </p:spTree>
    <p:extLst>
      <p:ext uri="{BB962C8B-B14F-4D97-AF65-F5344CB8AC3E}">
        <p14:creationId xmlns:p14="http://schemas.microsoft.com/office/powerpoint/2010/main" val="19463371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7D30D46-EFFE-234F-C942-58476A7F4944}"/>
              </a:ext>
            </a:extLst>
          </p:cNvPr>
          <p:cNvSpPr txBox="1"/>
          <p:nvPr/>
        </p:nvSpPr>
        <p:spPr>
          <a:xfrm>
            <a:off x="250371" y="85555"/>
            <a:ext cx="17809029" cy="58477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3200" b="1" spc="-10" dirty="0">
                <a:solidFill>
                  <a:srgbClr val="FF0000"/>
                </a:solidFill>
              </a:rPr>
              <a:t>                                        Applications</a:t>
            </a:r>
            <a:r>
              <a:rPr lang="en-IN" sz="3200" b="1" dirty="0">
                <a:solidFill>
                  <a:srgbClr val="FF0000"/>
                </a:solidFill>
              </a:rPr>
              <a:t>	</a:t>
            </a:r>
            <a:r>
              <a:rPr lang="en-IN" sz="3200" b="1" spc="-50" dirty="0">
                <a:solidFill>
                  <a:srgbClr val="FF0000"/>
                </a:solidFill>
              </a:rPr>
              <a:t>&amp;       </a:t>
            </a:r>
            <a:r>
              <a:rPr lang="en-IN" sz="3200" b="1" spc="-10" dirty="0">
                <a:solidFill>
                  <a:srgbClr val="FF0000"/>
                </a:solidFill>
              </a:rPr>
              <a:t>Recommendations :</a:t>
            </a:r>
            <a:endParaRPr lang="en-IN" sz="3200" b="1" dirty="0">
              <a:solidFill>
                <a:srgbClr val="FF0000"/>
              </a:solidFill>
            </a:endParaRPr>
          </a:p>
        </p:txBody>
      </p:sp>
      <p:sp>
        <p:nvSpPr>
          <p:cNvPr id="4" name="TextBox 3">
            <a:extLst>
              <a:ext uri="{FF2B5EF4-FFF2-40B4-BE49-F238E27FC236}">
                <a16:creationId xmlns:a16="http://schemas.microsoft.com/office/drawing/2014/main" id="{5F16ACF5-219E-71D3-1ACB-A54D441507AE}"/>
              </a:ext>
            </a:extLst>
          </p:cNvPr>
          <p:cNvSpPr txBox="1"/>
          <p:nvPr/>
        </p:nvSpPr>
        <p:spPr>
          <a:xfrm>
            <a:off x="228600" y="775275"/>
            <a:ext cx="17830800" cy="913378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469900" indent="-457200">
              <a:lnSpc>
                <a:spcPct val="100000"/>
              </a:lnSpc>
              <a:spcBef>
                <a:spcPts val="1630"/>
              </a:spcBef>
              <a:buFont typeface="Wingdings" panose="05000000000000000000" pitchFamily="2" charset="2"/>
              <a:buChar char="q"/>
            </a:pPr>
            <a:r>
              <a:rPr lang="en-US" sz="2800" b="1" spc="-10" dirty="0">
                <a:solidFill>
                  <a:srgbClr val="FF0000"/>
                </a:solidFill>
              </a:rPr>
              <a:t>Applications :</a:t>
            </a:r>
          </a:p>
          <a:p>
            <a:pPr marL="12700">
              <a:lnSpc>
                <a:spcPct val="100000"/>
              </a:lnSpc>
              <a:spcBef>
                <a:spcPts val="1630"/>
              </a:spcBef>
            </a:pPr>
            <a:endParaRPr lang="en-US" sz="2800" b="1" spc="-10" dirty="0">
              <a:solidFill>
                <a:srgbClr val="FF0000"/>
              </a:solidFill>
            </a:endParaRPr>
          </a:p>
          <a:p>
            <a:pPr marL="1073785" marR="2207895" indent="-457200">
              <a:lnSpc>
                <a:spcPct val="150000"/>
              </a:lnSpc>
              <a:spcBef>
                <a:spcPts val="160"/>
              </a:spcBef>
              <a:buFont typeface="Wingdings" panose="05000000000000000000" pitchFamily="2" charset="2"/>
              <a:buChar char="Ø"/>
            </a:pPr>
            <a:r>
              <a:rPr lang="en-US" sz="2800" dirty="0"/>
              <a:t>Used</a:t>
            </a:r>
            <a:r>
              <a:rPr lang="en-US" sz="2800" spc="-50" dirty="0"/>
              <a:t> </a:t>
            </a:r>
            <a:r>
              <a:rPr lang="en-US" sz="2800" dirty="0"/>
              <a:t>by</a:t>
            </a:r>
            <a:r>
              <a:rPr lang="en-US" sz="2800" spc="-50" dirty="0"/>
              <a:t> </a:t>
            </a:r>
            <a:r>
              <a:rPr lang="en-US" sz="2800" dirty="0"/>
              <a:t>Marketing</a:t>
            </a:r>
            <a:r>
              <a:rPr lang="en-US" sz="2800" spc="-50" dirty="0"/>
              <a:t> </a:t>
            </a:r>
            <a:r>
              <a:rPr lang="en-US" sz="2800" dirty="0"/>
              <a:t>Teams</a:t>
            </a:r>
            <a:r>
              <a:rPr lang="en-US" sz="2800" spc="-50" dirty="0"/>
              <a:t> </a:t>
            </a:r>
            <a:r>
              <a:rPr lang="en-US" sz="2800" dirty="0"/>
              <a:t>to</a:t>
            </a:r>
            <a:r>
              <a:rPr lang="en-US" sz="2800" spc="-50" dirty="0"/>
              <a:t> </a:t>
            </a:r>
            <a:r>
              <a:rPr lang="en-US" sz="2800" dirty="0"/>
              <a:t>identify</a:t>
            </a:r>
            <a:r>
              <a:rPr lang="en-US" sz="2800" spc="-45" dirty="0"/>
              <a:t> </a:t>
            </a:r>
            <a:r>
              <a:rPr lang="en-US" sz="2800" dirty="0"/>
              <a:t>and</a:t>
            </a:r>
            <a:r>
              <a:rPr lang="en-US" sz="2800" spc="-50" dirty="0"/>
              <a:t> </a:t>
            </a:r>
            <a:r>
              <a:rPr lang="en-US" sz="2800" dirty="0"/>
              <a:t>target</a:t>
            </a:r>
            <a:r>
              <a:rPr lang="en-US" sz="2800" spc="-50" dirty="0"/>
              <a:t> </a:t>
            </a:r>
            <a:r>
              <a:rPr lang="en-US" sz="2800" spc="-20" dirty="0"/>
              <a:t>high-</a:t>
            </a:r>
            <a:r>
              <a:rPr lang="en-US" sz="2800" dirty="0"/>
              <a:t>risk</a:t>
            </a:r>
            <a:r>
              <a:rPr lang="en-US" sz="2800" spc="-50" dirty="0"/>
              <a:t> </a:t>
            </a:r>
            <a:r>
              <a:rPr lang="en-US" sz="2800" dirty="0"/>
              <a:t>customers</a:t>
            </a:r>
            <a:r>
              <a:rPr lang="en-US" sz="2800" spc="-50" dirty="0"/>
              <a:t> </a:t>
            </a:r>
            <a:r>
              <a:rPr lang="en-US" sz="2800" dirty="0"/>
              <a:t>with</a:t>
            </a:r>
            <a:r>
              <a:rPr lang="en-US" sz="2800" spc="-50" dirty="0"/>
              <a:t> </a:t>
            </a:r>
            <a:r>
              <a:rPr lang="en-US" sz="2800" dirty="0"/>
              <a:t>retention</a:t>
            </a:r>
            <a:r>
              <a:rPr lang="en-US" sz="2800" spc="-45" dirty="0"/>
              <a:t> </a:t>
            </a:r>
            <a:r>
              <a:rPr lang="en-US" sz="2800" spc="-10" dirty="0"/>
              <a:t>offers.</a:t>
            </a:r>
          </a:p>
          <a:p>
            <a:pPr marL="1073785" marR="2207895" indent="-457200">
              <a:lnSpc>
                <a:spcPct val="150000"/>
              </a:lnSpc>
              <a:spcBef>
                <a:spcPts val="160"/>
              </a:spcBef>
              <a:buFont typeface="Wingdings" panose="05000000000000000000" pitchFamily="2" charset="2"/>
              <a:buChar char="Ø"/>
            </a:pPr>
            <a:r>
              <a:rPr lang="en-US" sz="2800" spc="-10" dirty="0"/>
              <a:t> </a:t>
            </a:r>
            <a:r>
              <a:rPr lang="en-US" sz="2800" dirty="0"/>
              <a:t>Helps</a:t>
            </a:r>
            <a:r>
              <a:rPr lang="en-US" sz="2800" spc="-70" dirty="0"/>
              <a:t> </a:t>
            </a:r>
            <a:r>
              <a:rPr lang="en-US" sz="2800" dirty="0"/>
              <a:t>Customer</a:t>
            </a:r>
            <a:r>
              <a:rPr lang="en-US" sz="2800" spc="-65" dirty="0"/>
              <a:t> </a:t>
            </a:r>
            <a:r>
              <a:rPr lang="en-US" sz="2800" dirty="0"/>
              <a:t>Support</a:t>
            </a:r>
            <a:r>
              <a:rPr lang="en-US" sz="2800" spc="-70" dirty="0"/>
              <a:t> </a:t>
            </a:r>
            <a:r>
              <a:rPr lang="en-US" sz="2800" dirty="0"/>
              <a:t>prioritize</a:t>
            </a:r>
            <a:r>
              <a:rPr lang="en-US" sz="2800" spc="-65" dirty="0"/>
              <a:t> </a:t>
            </a:r>
            <a:r>
              <a:rPr lang="en-US" sz="2800" dirty="0"/>
              <a:t>service</a:t>
            </a:r>
            <a:r>
              <a:rPr lang="en-US" sz="2800" spc="-70" dirty="0"/>
              <a:t> </a:t>
            </a:r>
            <a:r>
              <a:rPr lang="en-US" sz="2800" dirty="0"/>
              <a:t>improvement</a:t>
            </a:r>
            <a:r>
              <a:rPr lang="en-US" sz="2800" spc="-65" dirty="0"/>
              <a:t> </a:t>
            </a:r>
            <a:r>
              <a:rPr lang="en-US" sz="2800" dirty="0"/>
              <a:t>for</a:t>
            </a:r>
            <a:r>
              <a:rPr lang="en-US" sz="2800" spc="-70" dirty="0"/>
              <a:t> </a:t>
            </a:r>
            <a:r>
              <a:rPr lang="en-US" sz="2800" dirty="0"/>
              <a:t>segments</a:t>
            </a:r>
            <a:r>
              <a:rPr lang="en-US" sz="2800" spc="-65" dirty="0"/>
              <a:t> </a:t>
            </a:r>
            <a:r>
              <a:rPr lang="en-US" sz="2800" dirty="0"/>
              <a:t>with</a:t>
            </a:r>
            <a:r>
              <a:rPr lang="en-US" sz="2800" spc="-70" dirty="0"/>
              <a:t> </a:t>
            </a:r>
            <a:r>
              <a:rPr lang="en-US" sz="2800" dirty="0"/>
              <a:t>high</a:t>
            </a:r>
            <a:r>
              <a:rPr lang="en-US" sz="2800" spc="-65" dirty="0"/>
              <a:t> </a:t>
            </a:r>
            <a:r>
              <a:rPr lang="en-US" sz="2800" spc="-10" dirty="0"/>
              <a:t>churn.</a:t>
            </a:r>
          </a:p>
          <a:p>
            <a:pPr marL="1073785" marR="2473325" indent="-457200">
              <a:lnSpc>
                <a:spcPct val="150000"/>
              </a:lnSpc>
              <a:buFont typeface="Wingdings" panose="05000000000000000000" pitchFamily="2" charset="2"/>
              <a:buChar char="Ø"/>
            </a:pPr>
            <a:r>
              <a:rPr lang="en-US" sz="2800" dirty="0"/>
              <a:t>Enables</a:t>
            </a:r>
            <a:r>
              <a:rPr lang="en-US" sz="2800" spc="-55" dirty="0"/>
              <a:t> </a:t>
            </a:r>
            <a:r>
              <a:rPr lang="en-US" sz="2800" dirty="0"/>
              <a:t>Management</a:t>
            </a:r>
            <a:r>
              <a:rPr lang="en-US" sz="2800" spc="-55" dirty="0"/>
              <a:t> </a:t>
            </a:r>
            <a:r>
              <a:rPr lang="en-US" sz="2800" dirty="0"/>
              <a:t>to</a:t>
            </a:r>
            <a:r>
              <a:rPr lang="en-US" sz="2800" spc="-50" dirty="0"/>
              <a:t> </a:t>
            </a:r>
            <a:r>
              <a:rPr lang="en-US" sz="2800" dirty="0"/>
              <a:t>track</a:t>
            </a:r>
            <a:r>
              <a:rPr lang="en-US" sz="2800" spc="-55" dirty="0"/>
              <a:t> </a:t>
            </a:r>
            <a:r>
              <a:rPr lang="en-US" sz="2800" dirty="0"/>
              <a:t>key</a:t>
            </a:r>
            <a:r>
              <a:rPr lang="en-US" sz="2800" spc="-55" dirty="0"/>
              <a:t> </a:t>
            </a:r>
            <a:r>
              <a:rPr lang="en-US" sz="2800" dirty="0"/>
              <a:t>churn</a:t>
            </a:r>
            <a:r>
              <a:rPr lang="en-US" sz="2800" spc="-50" dirty="0"/>
              <a:t> </a:t>
            </a:r>
            <a:r>
              <a:rPr lang="en-US" sz="2800" dirty="0"/>
              <a:t>KPIs</a:t>
            </a:r>
            <a:r>
              <a:rPr lang="en-US" sz="2800" spc="-55" dirty="0"/>
              <a:t> </a:t>
            </a:r>
            <a:r>
              <a:rPr lang="en-US" sz="2800" dirty="0"/>
              <a:t>and</a:t>
            </a:r>
            <a:r>
              <a:rPr lang="en-US" sz="2800" spc="-50" dirty="0"/>
              <a:t> </a:t>
            </a:r>
            <a:r>
              <a:rPr lang="en-US" sz="2800" dirty="0"/>
              <a:t>make</a:t>
            </a:r>
            <a:r>
              <a:rPr lang="en-US" sz="2800" spc="-55" dirty="0"/>
              <a:t> </a:t>
            </a:r>
            <a:r>
              <a:rPr lang="en-US" sz="2800" spc="-10" dirty="0"/>
              <a:t>data-</a:t>
            </a:r>
            <a:r>
              <a:rPr lang="en-US" sz="2800" dirty="0"/>
              <a:t>driven</a:t>
            </a:r>
            <a:r>
              <a:rPr lang="en-US" sz="2800" spc="-55" dirty="0"/>
              <a:t> </a:t>
            </a:r>
            <a:r>
              <a:rPr lang="en-US" sz="2800" dirty="0"/>
              <a:t>strategic</a:t>
            </a:r>
            <a:r>
              <a:rPr lang="en-US" sz="2800" spc="-50" dirty="0"/>
              <a:t> </a:t>
            </a:r>
            <a:r>
              <a:rPr lang="en-US" sz="2800" spc="-10" dirty="0"/>
              <a:t>decisions.</a:t>
            </a:r>
          </a:p>
          <a:p>
            <a:pPr marL="1073785" marR="2473325" indent="-457200">
              <a:lnSpc>
                <a:spcPct val="150000"/>
              </a:lnSpc>
              <a:buFont typeface="Wingdings" panose="05000000000000000000" pitchFamily="2" charset="2"/>
              <a:buChar char="Ø"/>
            </a:pPr>
            <a:r>
              <a:rPr lang="en-US" sz="2800" spc="-10" dirty="0"/>
              <a:t> </a:t>
            </a:r>
            <a:r>
              <a:rPr lang="en-US" sz="2800" dirty="0"/>
              <a:t>Supports</a:t>
            </a:r>
            <a:r>
              <a:rPr lang="en-US" sz="2800" spc="-70" dirty="0"/>
              <a:t> </a:t>
            </a:r>
            <a:r>
              <a:rPr lang="en-US" sz="2800" dirty="0"/>
              <a:t>Product</a:t>
            </a:r>
            <a:r>
              <a:rPr lang="en-US" sz="2800" spc="-65" dirty="0"/>
              <a:t> </a:t>
            </a:r>
            <a:r>
              <a:rPr lang="en-US" sz="2800" dirty="0"/>
              <a:t>Teams</a:t>
            </a:r>
            <a:r>
              <a:rPr lang="en-US" sz="2800" spc="-65" dirty="0"/>
              <a:t> </a:t>
            </a:r>
            <a:r>
              <a:rPr lang="en-US" sz="2800" dirty="0"/>
              <a:t>in</a:t>
            </a:r>
            <a:r>
              <a:rPr lang="en-US" sz="2800" spc="-65" dirty="0"/>
              <a:t> </a:t>
            </a:r>
            <a:r>
              <a:rPr lang="en-US" sz="2800" dirty="0"/>
              <a:t>optimizing</a:t>
            </a:r>
            <a:r>
              <a:rPr lang="en-US" sz="2800" spc="-65" dirty="0"/>
              <a:t> </a:t>
            </a:r>
            <a:r>
              <a:rPr lang="en-US" sz="2800" dirty="0"/>
              <a:t>service</a:t>
            </a:r>
            <a:r>
              <a:rPr lang="en-US" sz="2800" spc="-65" dirty="0"/>
              <a:t> </a:t>
            </a:r>
            <a:r>
              <a:rPr lang="en-US" sz="2800" dirty="0"/>
              <a:t>bundles</a:t>
            </a:r>
            <a:r>
              <a:rPr lang="en-US" sz="2800" spc="-65" dirty="0"/>
              <a:t> </a:t>
            </a:r>
            <a:r>
              <a:rPr lang="en-US" sz="2800" dirty="0"/>
              <a:t>and</a:t>
            </a:r>
            <a:r>
              <a:rPr lang="en-US" sz="2800" spc="-65" dirty="0"/>
              <a:t> </a:t>
            </a:r>
            <a:r>
              <a:rPr lang="en-US" sz="2800" dirty="0"/>
              <a:t>pricing</a:t>
            </a:r>
            <a:r>
              <a:rPr lang="en-US" sz="2800" spc="-65" dirty="0"/>
              <a:t> </a:t>
            </a:r>
            <a:r>
              <a:rPr lang="en-US" sz="2800" spc="-10" dirty="0"/>
              <a:t>models.</a:t>
            </a:r>
            <a:endParaRPr lang="en-US" sz="2800" dirty="0"/>
          </a:p>
          <a:p>
            <a:pPr>
              <a:lnSpc>
                <a:spcPct val="150000"/>
              </a:lnSpc>
              <a:spcBef>
                <a:spcPts val="250"/>
              </a:spcBef>
            </a:pPr>
            <a:endParaRPr lang="en-US" sz="2800" dirty="0"/>
          </a:p>
          <a:p>
            <a:pPr marL="469900" indent="-457200">
              <a:lnSpc>
                <a:spcPct val="100000"/>
              </a:lnSpc>
              <a:buFont typeface="Wingdings" panose="05000000000000000000" pitchFamily="2" charset="2"/>
              <a:buChar char="q"/>
            </a:pPr>
            <a:r>
              <a:rPr lang="en-US" sz="2800" spc="-10" dirty="0"/>
              <a:t>   </a:t>
            </a:r>
            <a:r>
              <a:rPr lang="en-US" sz="2800" b="1" spc="-10" dirty="0">
                <a:solidFill>
                  <a:srgbClr val="FF0000"/>
                </a:solidFill>
              </a:rPr>
              <a:t>Recommendations :</a:t>
            </a:r>
          </a:p>
          <a:p>
            <a:pPr marL="469900" indent="-457200">
              <a:lnSpc>
                <a:spcPct val="100000"/>
              </a:lnSpc>
              <a:buFont typeface="Wingdings" panose="05000000000000000000" pitchFamily="2" charset="2"/>
              <a:buChar char="q"/>
            </a:pPr>
            <a:endParaRPr lang="en-US" sz="2800" b="1" spc="-10" dirty="0">
              <a:solidFill>
                <a:srgbClr val="FF0000"/>
              </a:solidFill>
            </a:endParaRPr>
          </a:p>
          <a:p>
            <a:pPr marL="1073785" marR="1486535" indent="-457200">
              <a:lnSpc>
                <a:spcPct val="150000"/>
              </a:lnSpc>
              <a:spcBef>
                <a:spcPts val="160"/>
              </a:spcBef>
              <a:buFont typeface="Wingdings" panose="05000000000000000000" pitchFamily="2" charset="2"/>
              <a:buChar char="Ø"/>
            </a:pPr>
            <a:r>
              <a:rPr lang="en-US" sz="2800" dirty="0"/>
              <a:t>Encourage</a:t>
            </a:r>
            <a:r>
              <a:rPr lang="en-US" sz="2800" spc="-50" dirty="0"/>
              <a:t> </a:t>
            </a:r>
            <a:r>
              <a:rPr lang="en-US" sz="2800" spc="-10" dirty="0"/>
              <a:t>long-</a:t>
            </a:r>
            <a:r>
              <a:rPr lang="en-US" sz="2800" dirty="0"/>
              <a:t>term</a:t>
            </a:r>
            <a:r>
              <a:rPr lang="en-US" sz="2800" spc="-50" dirty="0"/>
              <a:t> </a:t>
            </a:r>
            <a:r>
              <a:rPr lang="en-US" sz="2800" dirty="0"/>
              <a:t>contracts</a:t>
            </a:r>
            <a:r>
              <a:rPr lang="en-US" sz="2800" spc="-50" dirty="0"/>
              <a:t> </a:t>
            </a:r>
            <a:r>
              <a:rPr lang="en-US" sz="2800" spc="-10" dirty="0"/>
              <a:t>(1-</a:t>
            </a:r>
            <a:r>
              <a:rPr lang="en-US" sz="2800" dirty="0"/>
              <a:t>year</a:t>
            </a:r>
            <a:r>
              <a:rPr lang="en-US" sz="2800" spc="-45" dirty="0"/>
              <a:t> </a:t>
            </a:r>
            <a:r>
              <a:rPr lang="en-US" sz="2800" dirty="0"/>
              <a:t>or</a:t>
            </a:r>
            <a:r>
              <a:rPr lang="en-US" sz="2800" spc="-50" dirty="0"/>
              <a:t> </a:t>
            </a:r>
            <a:r>
              <a:rPr lang="en-US" sz="2800" spc="-10" dirty="0"/>
              <a:t>2-</a:t>
            </a:r>
            <a:r>
              <a:rPr lang="en-US" sz="2800" dirty="0"/>
              <a:t>year</a:t>
            </a:r>
            <a:r>
              <a:rPr lang="en-US" sz="2800" spc="-50" dirty="0"/>
              <a:t> </a:t>
            </a:r>
            <a:r>
              <a:rPr lang="en-US" sz="2800" dirty="0"/>
              <a:t>plans)</a:t>
            </a:r>
            <a:r>
              <a:rPr lang="en-US" sz="2800" spc="-50" dirty="0"/>
              <a:t> </a:t>
            </a:r>
            <a:r>
              <a:rPr lang="en-US" sz="2800" dirty="0"/>
              <a:t>through</a:t>
            </a:r>
            <a:r>
              <a:rPr lang="en-US" sz="2800" spc="-45" dirty="0"/>
              <a:t> </a:t>
            </a:r>
            <a:r>
              <a:rPr lang="en-US" sz="2800" dirty="0"/>
              <a:t>discounts</a:t>
            </a:r>
            <a:r>
              <a:rPr lang="en-US" sz="2800" spc="-50" dirty="0"/>
              <a:t> </a:t>
            </a:r>
            <a:r>
              <a:rPr lang="en-US" sz="2800" dirty="0"/>
              <a:t>and</a:t>
            </a:r>
            <a:r>
              <a:rPr lang="en-US" sz="2800" spc="-50" dirty="0"/>
              <a:t> </a:t>
            </a:r>
            <a:r>
              <a:rPr lang="en-US" sz="2800" dirty="0"/>
              <a:t>loyalty</a:t>
            </a:r>
            <a:r>
              <a:rPr lang="en-US" sz="2800" spc="-50" dirty="0"/>
              <a:t> </a:t>
            </a:r>
            <a:r>
              <a:rPr lang="en-US" sz="2800" spc="-10" dirty="0"/>
              <a:t>rewards.</a:t>
            </a:r>
          </a:p>
          <a:p>
            <a:pPr marL="1073785" marR="1486535" indent="-457200">
              <a:lnSpc>
                <a:spcPct val="150000"/>
              </a:lnSpc>
              <a:spcBef>
                <a:spcPts val="160"/>
              </a:spcBef>
              <a:buFont typeface="Wingdings" panose="05000000000000000000" pitchFamily="2" charset="2"/>
              <a:buChar char="Ø"/>
            </a:pPr>
            <a:r>
              <a:rPr lang="en-US" sz="2800" dirty="0"/>
              <a:t>Promote</a:t>
            </a:r>
            <a:r>
              <a:rPr lang="en-US" sz="2800" spc="-60" dirty="0"/>
              <a:t> </a:t>
            </a:r>
            <a:r>
              <a:rPr lang="en-US" sz="2800" dirty="0"/>
              <a:t>bundled</a:t>
            </a:r>
            <a:r>
              <a:rPr lang="en-US" sz="2800" spc="-60" dirty="0"/>
              <a:t> </a:t>
            </a:r>
            <a:r>
              <a:rPr lang="en-US" sz="2800" dirty="0"/>
              <a:t>service</a:t>
            </a:r>
            <a:r>
              <a:rPr lang="en-US" sz="2800" spc="-60" dirty="0"/>
              <a:t> </a:t>
            </a:r>
            <a:r>
              <a:rPr lang="en-US" sz="2800" dirty="0"/>
              <a:t>packages</a:t>
            </a:r>
            <a:r>
              <a:rPr lang="en-US" sz="2800" spc="-55" dirty="0"/>
              <a:t> </a:t>
            </a:r>
            <a:r>
              <a:rPr lang="en-US" sz="2800" dirty="0"/>
              <a:t>(e.g.,</a:t>
            </a:r>
            <a:r>
              <a:rPr lang="en-US" sz="2800" spc="-60" dirty="0"/>
              <a:t> </a:t>
            </a:r>
            <a:r>
              <a:rPr lang="en-US" sz="2800" dirty="0"/>
              <a:t>Internet</a:t>
            </a:r>
            <a:r>
              <a:rPr lang="en-US" sz="2800" spc="-60" dirty="0"/>
              <a:t> </a:t>
            </a:r>
            <a:r>
              <a:rPr lang="en-US" sz="2800" dirty="0"/>
              <a:t>+</a:t>
            </a:r>
            <a:r>
              <a:rPr lang="en-US" sz="2800" spc="-55" dirty="0"/>
              <a:t> </a:t>
            </a:r>
            <a:r>
              <a:rPr lang="en-US" sz="2800" dirty="0"/>
              <a:t>Streaming</a:t>
            </a:r>
            <a:r>
              <a:rPr lang="en-US" sz="2800" spc="-60" dirty="0"/>
              <a:t> </a:t>
            </a:r>
            <a:r>
              <a:rPr lang="en-US" sz="2800" dirty="0"/>
              <a:t>+</a:t>
            </a:r>
            <a:r>
              <a:rPr lang="en-US" sz="2800" spc="-60" dirty="0"/>
              <a:t> </a:t>
            </a:r>
            <a:r>
              <a:rPr lang="en-US" sz="2800" dirty="0"/>
              <a:t>Security)</a:t>
            </a:r>
            <a:r>
              <a:rPr lang="en-US" sz="2800" spc="-55" dirty="0"/>
              <a:t> </a:t>
            </a:r>
            <a:r>
              <a:rPr lang="en-US" sz="2800" dirty="0"/>
              <a:t>to</a:t>
            </a:r>
            <a:r>
              <a:rPr lang="en-US" sz="2800" spc="-60" dirty="0"/>
              <a:t> </a:t>
            </a:r>
            <a:r>
              <a:rPr lang="en-US" sz="2800" dirty="0"/>
              <a:t>reduce</a:t>
            </a:r>
            <a:r>
              <a:rPr lang="en-US" sz="2800" spc="-60" dirty="0"/>
              <a:t> </a:t>
            </a:r>
            <a:r>
              <a:rPr lang="en-US" sz="2800" spc="-10" dirty="0"/>
              <a:t>churn.</a:t>
            </a:r>
            <a:endParaRPr lang="en-US" sz="2800" dirty="0"/>
          </a:p>
          <a:p>
            <a:pPr marL="1073785" marR="5080" indent="-457200">
              <a:lnSpc>
                <a:spcPct val="150000"/>
              </a:lnSpc>
              <a:buFont typeface="Wingdings" panose="05000000000000000000" pitchFamily="2" charset="2"/>
              <a:buChar char="Ø"/>
            </a:pPr>
            <a:r>
              <a:rPr lang="en-US" sz="2800" dirty="0"/>
              <a:t>Improve</a:t>
            </a:r>
            <a:r>
              <a:rPr lang="en-US" sz="2800" spc="-55" dirty="0"/>
              <a:t> </a:t>
            </a:r>
            <a:r>
              <a:rPr lang="en-US" sz="2800" dirty="0"/>
              <a:t>customer</a:t>
            </a:r>
            <a:r>
              <a:rPr lang="en-US" sz="2800" spc="-50" dirty="0"/>
              <a:t> </a:t>
            </a:r>
            <a:r>
              <a:rPr lang="en-US" sz="2800" dirty="0"/>
              <a:t>retention</a:t>
            </a:r>
            <a:r>
              <a:rPr lang="en-US" sz="2800" spc="-55" dirty="0"/>
              <a:t> </a:t>
            </a:r>
            <a:r>
              <a:rPr lang="en-US" sz="2800" dirty="0"/>
              <a:t>by</a:t>
            </a:r>
            <a:r>
              <a:rPr lang="en-US" sz="2800" spc="-50" dirty="0"/>
              <a:t> </a:t>
            </a:r>
            <a:r>
              <a:rPr lang="en-US" sz="2800" dirty="0"/>
              <a:t>offering</a:t>
            </a:r>
            <a:r>
              <a:rPr lang="en-US" sz="2800" spc="-55" dirty="0"/>
              <a:t> </a:t>
            </a:r>
            <a:r>
              <a:rPr lang="en-US" sz="2800" dirty="0"/>
              <a:t>personalized</a:t>
            </a:r>
            <a:r>
              <a:rPr lang="en-US" sz="2800" spc="-50" dirty="0"/>
              <a:t> </a:t>
            </a:r>
            <a:r>
              <a:rPr lang="en-US" sz="2800" dirty="0"/>
              <a:t>plans</a:t>
            </a:r>
            <a:r>
              <a:rPr lang="en-US" sz="2800" spc="-55" dirty="0"/>
              <a:t> </a:t>
            </a:r>
            <a:r>
              <a:rPr lang="en-US" sz="2800" dirty="0"/>
              <a:t>for</a:t>
            </a:r>
            <a:r>
              <a:rPr lang="en-US" sz="2800" spc="-50" dirty="0"/>
              <a:t> </a:t>
            </a:r>
            <a:r>
              <a:rPr lang="en-US" sz="2800" dirty="0"/>
              <a:t>senior</a:t>
            </a:r>
            <a:r>
              <a:rPr lang="en-US" sz="2800" spc="-55" dirty="0"/>
              <a:t> </a:t>
            </a:r>
            <a:r>
              <a:rPr lang="en-US" sz="2800" dirty="0"/>
              <a:t>citizens</a:t>
            </a:r>
            <a:r>
              <a:rPr lang="en-US" sz="2800" spc="-50" dirty="0"/>
              <a:t> </a:t>
            </a:r>
            <a:r>
              <a:rPr lang="en-US" sz="2800" dirty="0"/>
              <a:t>and</a:t>
            </a:r>
            <a:r>
              <a:rPr lang="en-US" sz="2800" spc="-55" dirty="0"/>
              <a:t> </a:t>
            </a:r>
            <a:r>
              <a:rPr lang="en-US" sz="2800" spc="-20" dirty="0"/>
              <a:t>high-</a:t>
            </a:r>
            <a:r>
              <a:rPr lang="en-US" sz="2800" dirty="0"/>
              <a:t>charge</a:t>
            </a:r>
            <a:r>
              <a:rPr lang="en-US" sz="2800" spc="-50" dirty="0"/>
              <a:t> </a:t>
            </a:r>
            <a:r>
              <a:rPr lang="en-US" sz="2800" spc="-10" dirty="0"/>
              <a:t>users.</a:t>
            </a:r>
          </a:p>
          <a:p>
            <a:pPr marL="1073785" marR="5080" indent="-457200">
              <a:lnSpc>
                <a:spcPct val="150000"/>
              </a:lnSpc>
              <a:buFont typeface="Wingdings" panose="05000000000000000000" pitchFamily="2" charset="2"/>
              <a:buChar char="Ø"/>
            </a:pPr>
            <a:r>
              <a:rPr lang="en-US" sz="2800" spc="-10" dirty="0"/>
              <a:t> </a:t>
            </a:r>
            <a:r>
              <a:rPr lang="en-US" sz="2800" dirty="0"/>
              <a:t>Educate</a:t>
            </a:r>
            <a:r>
              <a:rPr lang="en-US" sz="2800" spc="-60" dirty="0"/>
              <a:t> </a:t>
            </a:r>
            <a:r>
              <a:rPr lang="en-US" sz="2800" dirty="0"/>
              <a:t>customers</a:t>
            </a:r>
            <a:r>
              <a:rPr lang="en-US" sz="2800" spc="-55" dirty="0"/>
              <a:t> </a:t>
            </a:r>
            <a:r>
              <a:rPr lang="en-US" sz="2800" dirty="0"/>
              <a:t>about</a:t>
            </a:r>
            <a:r>
              <a:rPr lang="en-US" sz="2800" spc="-55" dirty="0"/>
              <a:t> </a:t>
            </a:r>
            <a:r>
              <a:rPr lang="en-US" sz="2800" dirty="0"/>
              <a:t>benefits</a:t>
            </a:r>
            <a:r>
              <a:rPr lang="en-US" sz="2800" spc="-60" dirty="0"/>
              <a:t> </a:t>
            </a:r>
            <a:r>
              <a:rPr lang="en-US" sz="2800" dirty="0"/>
              <a:t>of</a:t>
            </a:r>
            <a:r>
              <a:rPr lang="en-US" sz="2800" spc="-55" dirty="0"/>
              <a:t> </a:t>
            </a:r>
            <a:r>
              <a:rPr lang="en-US" sz="2800" dirty="0"/>
              <a:t>online</a:t>
            </a:r>
            <a:r>
              <a:rPr lang="en-US" sz="2800" spc="-55" dirty="0"/>
              <a:t> </a:t>
            </a:r>
            <a:r>
              <a:rPr lang="en-US" sz="2800" dirty="0"/>
              <a:t>backup</a:t>
            </a:r>
            <a:r>
              <a:rPr lang="en-US" sz="2800" spc="-60" dirty="0"/>
              <a:t> </a:t>
            </a:r>
            <a:r>
              <a:rPr lang="en-US" sz="2800" dirty="0"/>
              <a:t>and</a:t>
            </a:r>
            <a:r>
              <a:rPr lang="en-US" sz="2800" spc="-55" dirty="0"/>
              <a:t> </a:t>
            </a:r>
            <a:r>
              <a:rPr lang="en-US" sz="2800" dirty="0"/>
              <a:t>device</a:t>
            </a:r>
            <a:r>
              <a:rPr lang="en-US" sz="2800" spc="-55" dirty="0"/>
              <a:t> </a:t>
            </a:r>
            <a:r>
              <a:rPr lang="en-US" sz="2800" dirty="0"/>
              <a:t>protection</a:t>
            </a:r>
            <a:r>
              <a:rPr lang="en-US" sz="2800" spc="-55" dirty="0"/>
              <a:t> </a:t>
            </a:r>
            <a:r>
              <a:rPr lang="en-US" sz="2800" dirty="0"/>
              <a:t>services,</a:t>
            </a:r>
            <a:r>
              <a:rPr lang="en-US" sz="2800" spc="-60" dirty="0"/>
              <a:t> </a:t>
            </a:r>
            <a:r>
              <a:rPr lang="en-US" sz="2800" dirty="0"/>
              <a:t>as</a:t>
            </a:r>
            <a:r>
              <a:rPr lang="en-US" sz="2800" spc="-55" dirty="0"/>
              <a:t> </a:t>
            </a:r>
            <a:r>
              <a:rPr lang="en-US" sz="2800" dirty="0"/>
              <a:t>these</a:t>
            </a:r>
            <a:r>
              <a:rPr lang="en-US" sz="2800" spc="-55" dirty="0"/>
              <a:t> </a:t>
            </a:r>
            <a:r>
              <a:rPr lang="en-US" sz="2800" dirty="0"/>
              <a:t>reduce</a:t>
            </a:r>
          </a:p>
          <a:p>
            <a:pPr marL="1073785" marR="5080" indent="-457200">
              <a:lnSpc>
                <a:spcPct val="150000"/>
              </a:lnSpc>
              <a:buFont typeface="Wingdings" panose="05000000000000000000" pitchFamily="2" charset="2"/>
              <a:buChar char="Ø"/>
            </a:pPr>
            <a:r>
              <a:rPr lang="en-US" sz="2800" spc="-60" dirty="0"/>
              <a:t> </a:t>
            </a:r>
            <a:r>
              <a:rPr lang="en-US" sz="2800" spc="-10" dirty="0"/>
              <a:t>churn. </a:t>
            </a:r>
            <a:r>
              <a:rPr lang="en-US" sz="2800" dirty="0"/>
              <a:t>Monitor</a:t>
            </a:r>
            <a:r>
              <a:rPr lang="en-US" sz="2800" spc="-55" dirty="0"/>
              <a:t> </a:t>
            </a:r>
            <a:r>
              <a:rPr lang="en-US" sz="2800" dirty="0"/>
              <a:t>monthly</a:t>
            </a:r>
            <a:r>
              <a:rPr lang="en-US" sz="2800" spc="-50" dirty="0"/>
              <a:t> </a:t>
            </a:r>
            <a:r>
              <a:rPr lang="en-US" sz="2800" dirty="0"/>
              <a:t>charges</a:t>
            </a:r>
            <a:r>
              <a:rPr lang="en-US" sz="2800" spc="-50" dirty="0"/>
              <a:t> </a:t>
            </a:r>
            <a:r>
              <a:rPr lang="en-US" sz="2800" dirty="0"/>
              <a:t>and</a:t>
            </a:r>
            <a:r>
              <a:rPr lang="en-US" sz="2800" spc="-50" dirty="0"/>
              <a:t> </a:t>
            </a:r>
            <a:r>
              <a:rPr lang="en-US" sz="2800" dirty="0"/>
              <a:t>payment</a:t>
            </a:r>
            <a:r>
              <a:rPr lang="en-US" sz="2800" spc="-55" dirty="0"/>
              <a:t> </a:t>
            </a:r>
            <a:r>
              <a:rPr lang="en-US" sz="2800" dirty="0"/>
              <a:t>issues</a:t>
            </a:r>
            <a:r>
              <a:rPr lang="en-US" sz="2800" spc="-50" dirty="0"/>
              <a:t> </a:t>
            </a:r>
            <a:r>
              <a:rPr lang="en-US" sz="2800" dirty="0"/>
              <a:t>closely</a:t>
            </a:r>
            <a:r>
              <a:rPr lang="en-US" sz="2800" spc="-50" dirty="0"/>
              <a:t> </a:t>
            </a:r>
            <a:r>
              <a:rPr lang="en-US" sz="2800" dirty="0"/>
              <a:t>for</a:t>
            </a:r>
            <a:r>
              <a:rPr lang="en-US" sz="2800" spc="-50" dirty="0"/>
              <a:t> </a:t>
            </a:r>
            <a:r>
              <a:rPr lang="en-US" sz="2800" dirty="0"/>
              <a:t>early</a:t>
            </a:r>
            <a:r>
              <a:rPr lang="en-US" sz="2800" spc="-55" dirty="0"/>
              <a:t> </a:t>
            </a:r>
            <a:r>
              <a:rPr lang="en-US" sz="2800" dirty="0"/>
              <a:t>churn</a:t>
            </a:r>
            <a:r>
              <a:rPr lang="en-US" sz="2800" spc="-50" dirty="0"/>
              <a:t> </a:t>
            </a:r>
            <a:r>
              <a:rPr lang="en-US" sz="2800" spc="-10" dirty="0"/>
              <a:t>indicators.</a:t>
            </a:r>
          </a:p>
          <a:p>
            <a:pPr marL="616585" marR="5080">
              <a:lnSpc>
                <a:spcPct val="131700"/>
              </a:lnSpc>
            </a:pPr>
            <a:endParaRPr 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5D3CDB-AAD9-EE48-B145-CC90456D86B4}"/>
              </a:ext>
            </a:extLst>
          </p:cNvPr>
          <p:cNvSpPr txBox="1"/>
          <p:nvPr/>
        </p:nvSpPr>
        <p:spPr>
          <a:xfrm>
            <a:off x="0" y="5443"/>
            <a:ext cx="18288000" cy="70788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4000" b="1" spc="-10" dirty="0">
                <a:solidFill>
                  <a:srgbClr val="FF0000"/>
                </a:solidFill>
              </a:rPr>
              <a:t>                             CONCLUSION  :</a:t>
            </a:r>
            <a:endParaRPr lang="en-IN" sz="4000" b="1" dirty="0">
              <a:solidFill>
                <a:srgbClr val="FF0000"/>
              </a:solidFill>
            </a:endParaRPr>
          </a:p>
        </p:txBody>
      </p:sp>
      <p:sp>
        <p:nvSpPr>
          <p:cNvPr id="4" name="TextBox 3">
            <a:extLst>
              <a:ext uri="{FF2B5EF4-FFF2-40B4-BE49-F238E27FC236}">
                <a16:creationId xmlns:a16="http://schemas.microsoft.com/office/drawing/2014/main" id="{BE7A2992-1092-E83C-5B62-F6C02E05C2C0}"/>
              </a:ext>
            </a:extLst>
          </p:cNvPr>
          <p:cNvSpPr txBox="1"/>
          <p:nvPr/>
        </p:nvSpPr>
        <p:spPr>
          <a:xfrm>
            <a:off x="0" y="724215"/>
            <a:ext cx="18288000" cy="961930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469900" marR="864235" indent="-457200">
              <a:lnSpc>
                <a:spcPct val="150000"/>
              </a:lnSpc>
              <a:spcBef>
                <a:spcPts val="100"/>
              </a:spcBef>
              <a:buFont typeface="Wingdings" panose="05000000000000000000" pitchFamily="2" charset="2"/>
              <a:buChar char="§"/>
            </a:pPr>
            <a:r>
              <a:rPr lang="en-US" sz="3200" b="1" dirty="0">
                <a:latin typeface="Times New Roman"/>
                <a:cs typeface="Times New Roman"/>
              </a:rPr>
              <a:t>The</a:t>
            </a:r>
            <a:r>
              <a:rPr lang="en-US" sz="3200" b="1" spc="-60" dirty="0">
                <a:latin typeface="Times New Roman"/>
                <a:cs typeface="Times New Roman"/>
              </a:rPr>
              <a:t> </a:t>
            </a:r>
            <a:r>
              <a:rPr lang="en-US" sz="3200" b="1" dirty="0">
                <a:latin typeface="Times New Roman"/>
                <a:cs typeface="Times New Roman"/>
              </a:rPr>
              <a:t>Power</a:t>
            </a:r>
            <a:r>
              <a:rPr lang="en-US" sz="3200" b="1" spc="-55" dirty="0">
                <a:latin typeface="Times New Roman"/>
                <a:cs typeface="Times New Roman"/>
              </a:rPr>
              <a:t> </a:t>
            </a:r>
            <a:r>
              <a:rPr lang="en-US" sz="3200" b="1" dirty="0">
                <a:latin typeface="Times New Roman"/>
                <a:cs typeface="Times New Roman"/>
              </a:rPr>
              <a:t>BI</a:t>
            </a:r>
            <a:r>
              <a:rPr lang="en-US" sz="3200" b="1" spc="-55" dirty="0">
                <a:latin typeface="Times New Roman"/>
                <a:cs typeface="Times New Roman"/>
              </a:rPr>
              <a:t> </a:t>
            </a:r>
            <a:r>
              <a:rPr lang="en-US" sz="3200" b="1" dirty="0">
                <a:latin typeface="Times New Roman"/>
                <a:cs typeface="Times New Roman"/>
              </a:rPr>
              <a:t>dashboards</a:t>
            </a:r>
            <a:r>
              <a:rPr lang="en-US" sz="3200" b="1" spc="-55" dirty="0">
                <a:latin typeface="Times New Roman"/>
                <a:cs typeface="Times New Roman"/>
              </a:rPr>
              <a:t> </a:t>
            </a:r>
            <a:r>
              <a:rPr lang="en-US" sz="3200" b="1" dirty="0">
                <a:latin typeface="Times New Roman"/>
                <a:cs typeface="Times New Roman"/>
              </a:rPr>
              <a:t>provided</a:t>
            </a:r>
            <a:r>
              <a:rPr lang="en-US" sz="3200" b="1" spc="-55" dirty="0">
                <a:latin typeface="Times New Roman"/>
                <a:cs typeface="Times New Roman"/>
              </a:rPr>
              <a:t> </a:t>
            </a:r>
            <a:r>
              <a:rPr lang="en-US" sz="3200" b="1" dirty="0">
                <a:latin typeface="Times New Roman"/>
                <a:cs typeface="Times New Roman"/>
              </a:rPr>
              <a:t>clear</a:t>
            </a:r>
            <a:r>
              <a:rPr lang="en-US" sz="3200" b="1" spc="-55" dirty="0">
                <a:latin typeface="Times New Roman"/>
                <a:cs typeface="Times New Roman"/>
              </a:rPr>
              <a:t> </a:t>
            </a:r>
            <a:r>
              <a:rPr lang="en-US" sz="3200" b="1" dirty="0">
                <a:latin typeface="Times New Roman"/>
                <a:cs typeface="Times New Roman"/>
              </a:rPr>
              <a:t>visibility</a:t>
            </a:r>
            <a:r>
              <a:rPr lang="en-US" sz="3200" b="1" spc="-55" dirty="0">
                <a:latin typeface="Times New Roman"/>
                <a:cs typeface="Times New Roman"/>
              </a:rPr>
              <a:t> </a:t>
            </a:r>
            <a:r>
              <a:rPr lang="en-US" sz="3200" b="1" dirty="0">
                <a:latin typeface="Times New Roman"/>
                <a:cs typeface="Times New Roman"/>
              </a:rPr>
              <a:t>into</a:t>
            </a:r>
            <a:r>
              <a:rPr lang="en-US" sz="3200" b="1" spc="-55" dirty="0">
                <a:latin typeface="Times New Roman"/>
                <a:cs typeface="Times New Roman"/>
              </a:rPr>
              <a:t> </a:t>
            </a:r>
            <a:r>
              <a:rPr lang="en-US" sz="3200" b="1" dirty="0">
                <a:latin typeface="Times New Roman"/>
                <a:cs typeface="Times New Roman"/>
              </a:rPr>
              <a:t>customer</a:t>
            </a:r>
            <a:r>
              <a:rPr lang="en-US" sz="3200" b="1" spc="-55" dirty="0">
                <a:latin typeface="Times New Roman"/>
                <a:cs typeface="Times New Roman"/>
              </a:rPr>
              <a:t> </a:t>
            </a:r>
            <a:r>
              <a:rPr lang="en-US" sz="3200" b="1" dirty="0">
                <a:latin typeface="Times New Roman"/>
                <a:cs typeface="Times New Roman"/>
              </a:rPr>
              <a:t>churn</a:t>
            </a:r>
            <a:r>
              <a:rPr lang="en-US" sz="3200" b="1" spc="-55" dirty="0">
                <a:latin typeface="Times New Roman"/>
                <a:cs typeface="Times New Roman"/>
              </a:rPr>
              <a:t> </a:t>
            </a:r>
            <a:r>
              <a:rPr lang="en-US" sz="3200" b="1" dirty="0">
                <a:latin typeface="Times New Roman"/>
                <a:cs typeface="Times New Roman"/>
              </a:rPr>
              <a:t>behavior</a:t>
            </a:r>
            <a:r>
              <a:rPr lang="en-US" sz="3200" b="1" spc="-55" dirty="0">
                <a:latin typeface="Times New Roman"/>
                <a:cs typeface="Times New Roman"/>
              </a:rPr>
              <a:t> </a:t>
            </a:r>
            <a:r>
              <a:rPr lang="en-US" sz="3200" b="1" dirty="0">
                <a:latin typeface="Times New Roman"/>
                <a:cs typeface="Times New Roman"/>
              </a:rPr>
              <a:t>and</a:t>
            </a:r>
            <a:r>
              <a:rPr lang="en-US" sz="3200" b="1" spc="-60" dirty="0">
                <a:latin typeface="Times New Roman"/>
                <a:cs typeface="Times New Roman"/>
              </a:rPr>
              <a:t> </a:t>
            </a:r>
            <a:r>
              <a:rPr lang="en-US" sz="3200" b="1" spc="-10" dirty="0">
                <a:latin typeface="Times New Roman"/>
                <a:cs typeface="Times New Roman"/>
              </a:rPr>
              <a:t>patterns.</a:t>
            </a:r>
          </a:p>
          <a:p>
            <a:pPr marL="469900" marR="864235" indent="-457200">
              <a:lnSpc>
                <a:spcPct val="150000"/>
              </a:lnSpc>
              <a:spcBef>
                <a:spcPts val="100"/>
              </a:spcBef>
              <a:buFont typeface="Wingdings" panose="05000000000000000000" pitchFamily="2" charset="2"/>
              <a:buChar char="§"/>
            </a:pPr>
            <a:r>
              <a:rPr lang="en-US" sz="3200" b="1" spc="-10" dirty="0">
                <a:latin typeface="Times New Roman"/>
                <a:cs typeface="Times New Roman"/>
              </a:rPr>
              <a:t> </a:t>
            </a:r>
            <a:r>
              <a:rPr lang="en-US" sz="3200" b="1" dirty="0">
                <a:latin typeface="Times New Roman"/>
                <a:cs typeface="Times New Roman"/>
              </a:rPr>
              <a:t>Analysis</a:t>
            </a:r>
            <a:r>
              <a:rPr lang="en-US" sz="3200" b="1" spc="-55" dirty="0">
                <a:latin typeface="Times New Roman"/>
                <a:cs typeface="Times New Roman"/>
              </a:rPr>
              <a:t> </a:t>
            </a:r>
            <a:r>
              <a:rPr lang="en-US" sz="3200" b="1" dirty="0">
                <a:latin typeface="Times New Roman"/>
                <a:cs typeface="Times New Roman"/>
              </a:rPr>
              <a:t>revealed</a:t>
            </a:r>
            <a:r>
              <a:rPr lang="en-US" sz="3200" b="1" spc="-50" dirty="0">
                <a:latin typeface="Times New Roman"/>
                <a:cs typeface="Times New Roman"/>
              </a:rPr>
              <a:t> </a:t>
            </a:r>
            <a:r>
              <a:rPr lang="en-US" sz="3200" b="1" dirty="0">
                <a:latin typeface="Times New Roman"/>
                <a:cs typeface="Times New Roman"/>
              </a:rPr>
              <a:t>that</a:t>
            </a:r>
            <a:r>
              <a:rPr lang="en-US" sz="3200" b="1" spc="-50" dirty="0">
                <a:latin typeface="Times New Roman"/>
                <a:cs typeface="Times New Roman"/>
              </a:rPr>
              <a:t> </a:t>
            </a:r>
            <a:r>
              <a:rPr lang="en-US" sz="3200" b="1" dirty="0">
                <a:latin typeface="Times New Roman"/>
                <a:cs typeface="Times New Roman"/>
              </a:rPr>
              <a:t>high</a:t>
            </a:r>
            <a:r>
              <a:rPr lang="en-US" sz="3200" b="1" spc="-50" dirty="0">
                <a:latin typeface="Times New Roman"/>
                <a:cs typeface="Times New Roman"/>
              </a:rPr>
              <a:t> </a:t>
            </a:r>
            <a:r>
              <a:rPr lang="en-US" sz="3200" b="1" dirty="0">
                <a:latin typeface="Times New Roman"/>
                <a:cs typeface="Times New Roman"/>
              </a:rPr>
              <a:t>monthly</a:t>
            </a:r>
            <a:r>
              <a:rPr lang="en-US" sz="3200" b="1" spc="-55" dirty="0">
                <a:latin typeface="Times New Roman"/>
                <a:cs typeface="Times New Roman"/>
              </a:rPr>
              <a:t> </a:t>
            </a:r>
            <a:r>
              <a:rPr lang="en-US" sz="3200" b="1" dirty="0">
                <a:latin typeface="Times New Roman"/>
                <a:cs typeface="Times New Roman"/>
              </a:rPr>
              <a:t>charges,</a:t>
            </a:r>
            <a:r>
              <a:rPr lang="en-US" sz="3200" b="1" spc="-50" dirty="0">
                <a:latin typeface="Times New Roman"/>
                <a:cs typeface="Times New Roman"/>
              </a:rPr>
              <a:t> </a:t>
            </a:r>
            <a:r>
              <a:rPr lang="en-US" sz="3200" b="1" spc="-25" dirty="0">
                <a:latin typeface="Times New Roman"/>
                <a:cs typeface="Times New Roman"/>
              </a:rPr>
              <a:t>month-</a:t>
            </a:r>
            <a:r>
              <a:rPr lang="en-US" sz="3200" b="1" spc="-10" dirty="0">
                <a:latin typeface="Times New Roman"/>
                <a:cs typeface="Times New Roman"/>
              </a:rPr>
              <a:t>to-</a:t>
            </a:r>
            <a:r>
              <a:rPr lang="en-US" sz="3200" b="1" dirty="0">
                <a:latin typeface="Times New Roman"/>
                <a:cs typeface="Times New Roman"/>
              </a:rPr>
              <a:t>month</a:t>
            </a:r>
            <a:r>
              <a:rPr lang="en-US" sz="3200" b="1" spc="-50" dirty="0">
                <a:latin typeface="Times New Roman"/>
                <a:cs typeface="Times New Roman"/>
              </a:rPr>
              <a:t> </a:t>
            </a:r>
            <a:r>
              <a:rPr lang="en-US" sz="3200" b="1" dirty="0">
                <a:latin typeface="Times New Roman"/>
                <a:cs typeface="Times New Roman"/>
              </a:rPr>
              <a:t>contracts,</a:t>
            </a:r>
            <a:r>
              <a:rPr lang="en-US" sz="3200" b="1" spc="-50" dirty="0">
                <a:latin typeface="Times New Roman"/>
                <a:cs typeface="Times New Roman"/>
              </a:rPr>
              <a:t> </a:t>
            </a:r>
            <a:r>
              <a:rPr lang="en-US" sz="3200" b="1" dirty="0">
                <a:latin typeface="Times New Roman"/>
                <a:cs typeface="Times New Roman"/>
              </a:rPr>
              <a:t>and</a:t>
            </a:r>
            <a:r>
              <a:rPr lang="en-US" sz="3200" b="1" spc="-55" dirty="0">
                <a:latin typeface="Times New Roman"/>
                <a:cs typeface="Times New Roman"/>
              </a:rPr>
              <a:t> </a:t>
            </a:r>
            <a:r>
              <a:rPr lang="en-US" sz="3200" b="1" dirty="0">
                <a:latin typeface="Times New Roman"/>
                <a:cs typeface="Times New Roman"/>
              </a:rPr>
              <a:t>fiber</a:t>
            </a:r>
            <a:r>
              <a:rPr lang="en-US" sz="3200" b="1" spc="-50" dirty="0">
                <a:latin typeface="Times New Roman"/>
                <a:cs typeface="Times New Roman"/>
              </a:rPr>
              <a:t> </a:t>
            </a:r>
            <a:r>
              <a:rPr lang="en-US" sz="3200" b="1" dirty="0">
                <a:latin typeface="Times New Roman"/>
                <a:cs typeface="Times New Roman"/>
              </a:rPr>
              <a:t>optic</a:t>
            </a:r>
            <a:r>
              <a:rPr lang="en-US" sz="3200" b="1" spc="-50" dirty="0">
                <a:latin typeface="Times New Roman"/>
                <a:cs typeface="Times New Roman"/>
              </a:rPr>
              <a:t> </a:t>
            </a:r>
            <a:r>
              <a:rPr lang="en-US" sz="3200" b="1" dirty="0">
                <a:latin typeface="Times New Roman"/>
                <a:cs typeface="Times New Roman"/>
              </a:rPr>
              <a:t>services</a:t>
            </a:r>
            <a:r>
              <a:rPr lang="en-US" sz="3200" b="1" spc="-50" dirty="0">
                <a:latin typeface="Times New Roman"/>
                <a:cs typeface="Times New Roman"/>
              </a:rPr>
              <a:t> </a:t>
            </a:r>
            <a:r>
              <a:rPr lang="en-US" sz="3200" b="1" spc="-25" dirty="0">
                <a:latin typeface="Times New Roman"/>
                <a:cs typeface="Times New Roman"/>
              </a:rPr>
              <a:t>are </a:t>
            </a:r>
            <a:r>
              <a:rPr lang="en-US" sz="3200" b="1" dirty="0">
                <a:latin typeface="Times New Roman"/>
                <a:cs typeface="Times New Roman"/>
              </a:rPr>
              <a:t>major</a:t>
            </a:r>
            <a:r>
              <a:rPr lang="en-US" sz="3200" b="1" spc="-65" dirty="0">
                <a:latin typeface="Times New Roman"/>
                <a:cs typeface="Times New Roman"/>
              </a:rPr>
              <a:t> </a:t>
            </a:r>
            <a:r>
              <a:rPr lang="en-US" sz="3200" b="1" dirty="0">
                <a:latin typeface="Times New Roman"/>
                <a:cs typeface="Times New Roman"/>
              </a:rPr>
              <a:t>churn</a:t>
            </a:r>
            <a:r>
              <a:rPr lang="en-US" sz="3200" b="1" spc="-60" dirty="0">
                <a:latin typeface="Times New Roman"/>
                <a:cs typeface="Times New Roman"/>
              </a:rPr>
              <a:t> </a:t>
            </a:r>
            <a:r>
              <a:rPr lang="en-US" sz="3200" b="1" spc="-10" dirty="0">
                <a:latin typeface="Times New Roman"/>
                <a:cs typeface="Times New Roman"/>
              </a:rPr>
              <a:t>drivers.</a:t>
            </a:r>
          </a:p>
          <a:p>
            <a:pPr marL="469900" marR="389890" indent="-457200" algn="just">
              <a:lnSpc>
                <a:spcPct val="150000"/>
              </a:lnSpc>
              <a:buFont typeface="Wingdings" panose="05000000000000000000" pitchFamily="2" charset="2"/>
              <a:buChar char="§"/>
            </a:pPr>
            <a:r>
              <a:rPr lang="en-US" sz="3200" b="1" dirty="0">
                <a:latin typeface="Times New Roman"/>
                <a:cs typeface="Times New Roman"/>
              </a:rPr>
              <a:t>Customers</a:t>
            </a:r>
            <a:r>
              <a:rPr lang="en-US" sz="3200" b="1" spc="-60" dirty="0">
                <a:latin typeface="Times New Roman"/>
                <a:cs typeface="Times New Roman"/>
              </a:rPr>
              <a:t> </a:t>
            </a:r>
            <a:r>
              <a:rPr lang="en-US" sz="3200" b="1" dirty="0">
                <a:latin typeface="Times New Roman"/>
                <a:cs typeface="Times New Roman"/>
              </a:rPr>
              <a:t>with</a:t>
            </a:r>
            <a:r>
              <a:rPr lang="en-US" sz="3200" b="1" spc="-60" dirty="0">
                <a:latin typeface="Times New Roman"/>
                <a:cs typeface="Times New Roman"/>
              </a:rPr>
              <a:t> </a:t>
            </a:r>
            <a:r>
              <a:rPr lang="en-US" sz="3200" b="1" dirty="0">
                <a:latin typeface="Times New Roman"/>
                <a:cs typeface="Times New Roman"/>
              </a:rPr>
              <a:t>longer</a:t>
            </a:r>
            <a:r>
              <a:rPr lang="en-US" sz="3200" b="1" spc="-60" dirty="0">
                <a:latin typeface="Times New Roman"/>
                <a:cs typeface="Times New Roman"/>
              </a:rPr>
              <a:t> </a:t>
            </a:r>
            <a:r>
              <a:rPr lang="en-US" sz="3200" b="1" dirty="0">
                <a:latin typeface="Times New Roman"/>
                <a:cs typeface="Times New Roman"/>
              </a:rPr>
              <a:t>tenure</a:t>
            </a:r>
            <a:r>
              <a:rPr lang="en-US" sz="3200" b="1" spc="-55" dirty="0">
                <a:latin typeface="Times New Roman"/>
                <a:cs typeface="Times New Roman"/>
              </a:rPr>
              <a:t> </a:t>
            </a:r>
            <a:r>
              <a:rPr lang="en-US" sz="3200" b="1" dirty="0">
                <a:latin typeface="Times New Roman"/>
                <a:cs typeface="Times New Roman"/>
              </a:rPr>
              <a:t>and</a:t>
            </a:r>
            <a:r>
              <a:rPr lang="en-US" sz="3200" b="1" spc="-60" dirty="0">
                <a:latin typeface="Times New Roman"/>
                <a:cs typeface="Times New Roman"/>
              </a:rPr>
              <a:t> </a:t>
            </a:r>
            <a:r>
              <a:rPr lang="en-US" sz="3200" b="1" dirty="0">
                <a:latin typeface="Times New Roman"/>
                <a:cs typeface="Times New Roman"/>
              </a:rPr>
              <a:t>multiple</a:t>
            </a:r>
            <a:r>
              <a:rPr lang="en-US" sz="3200" b="1" spc="-60" dirty="0">
                <a:latin typeface="Times New Roman"/>
                <a:cs typeface="Times New Roman"/>
              </a:rPr>
              <a:t> </a:t>
            </a:r>
            <a:r>
              <a:rPr lang="en-US" sz="3200" b="1" dirty="0">
                <a:latin typeface="Times New Roman"/>
                <a:cs typeface="Times New Roman"/>
              </a:rPr>
              <a:t>service</a:t>
            </a:r>
            <a:r>
              <a:rPr lang="en-US" sz="3200" b="1" spc="-60" dirty="0">
                <a:latin typeface="Times New Roman"/>
                <a:cs typeface="Times New Roman"/>
              </a:rPr>
              <a:t> </a:t>
            </a:r>
            <a:r>
              <a:rPr lang="en-US" sz="3200" b="1" dirty="0">
                <a:latin typeface="Times New Roman"/>
                <a:cs typeface="Times New Roman"/>
              </a:rPr>
              <a:t>subscriptions</a:t>
            </a:r>
            <a:r>
              <a:rPr lang="en-US" sz="3200" b="1" spc="-55" dirty="0">
                <a:latin typeface="Times New Roman"/>
                <a:cs typeface="Times New Roman"/>
              </a:rPr>
              <a:t> </a:t>
            </a:r>
            <a:r>
              <a:rPr lang="en-US" sz="3200" b="1" dirty="0">
                <a:latin typeface="Times New Roman"/>
                <a:cs typeface="Times New Roman"/>
              </a:rPr>
              <a:t>show</a:t>
            </a:r>
            <a:r>
              <a:rPr lang="en-US" sz="3200" b="1" spc="-60" dirty="0">
                <a:latin typeface="Times New Roman"/>
                <a:cs typeface="Times New Roman"/>
              </a:rPr>
              <a:t> </a:t>
            </a:r>
            <a:r>
              <a:rPr lang="en-US" sz="3200" b="1" dirty="0">
                <a:latin typeface="Times New Roman"/>
                <a:cs typeface="Times New Roman"/>
              </a:rPr>
              <a:t>greater</a:t>
            </a:r>
            <a:r>
              <a:rPr lang="en-US" sz="3200" b="1" spc="-60" dirty="0">
                <a:latin typeface="Times New Roman"/>
                <a:cs typeface="Times New Roman"/>
              </a:rPr>
              <a:t> </a:t>
            </a:r>
            <a:r>
              <a:rPr lang="en-US" sz="3200" b="1" dirty="0">
                <a:latin typeface="Times New Roman"/>
                <a:cs typeface="Times New Roman"/>
              </a:rPr>
              <a:t>loyalty</a:t>
            </a:r>
            <a:r>
              <a:rPr lang="en-US" sz="3200" b="1" spc="-60" dirty="0">
                <a:latin typeface="Times New Roman"/>
                <a:cs typeface="Times New Roman"/>
              </a:rPr>
              <a:t> </a:t>
            </a:r>
            <a:r>
              <a:rPr lang="en-US" sz="3200" b="1" dirty="0">
                <a:latin typeface="Times New Roman"/>
                <a:cs typeface="Times New Roman"/>
              </a:rPr>
              <a:t>and</a:t>
            </a:r>
            <a:r>
              <a:rPr lang="en-US" sz="3200" b="1" spc="-55" dirty="0">
                <a:latin typeface="Times New Roman"/>
                <a:cs typeface="Times New Roman"/>
              </a:rPr>
              <a:t> </a:t>
            </a:r>
            <a:r>
              <a:rPr lang="en-US" sz="3200" b="1" dirty="0">
                <a:latin typeface="Times New Roman"/>
                <a:cs typeface="Times New Roman"/>
              </a:rPr>
              <a:t>lower</a:t>
            </a:r>
            <a:r>
              <a:rPr lang="en-US" sz="3200" b="1" spc="-60" dirty="0">
                <a:latin typeface="Times New Roman"/>
                <a:cs typeface="Times New Roman"/>
              </a:rPr>
              <a:t> </a:t>
            </a:r>
            <a:r>
              <a:rPr lang="en-US" sz="3200" b="1" spc="-10" dirty="0">
                <a:latin typeface="Times New Roman"/>
                <a:cs typeface="Times New Roman"/>
              </a:rPr>
              <a:t>churn.</a:t>
            </a:r>
          </a:p>
          <a:p>
            <a:pPr marL="469900" marR="389890" indent="-457200" algn="just">
              <a:lnSpc>
                <a:spcPct val="150000"/>
              </a:lnSpc>
              <a:buFont typeface="Wingdings" panose="05000000000000000000" pitchFamily="2" charset="2"/>
              <a:buChar char="§"/>
            </a:pPr>
            <a:r>
              <a:rPr lang="en-US" sz="3200" b="1" spc="-10" dirty="0">
                <a:latin typeface="Times New Roman"/>
                <a:cs typeface="Times New Roman"/>
              </a:rPr>
              <a:t> </a:t>
            </a:r>
            <a:r>
              <a:rPr lang="en-US" sz="3200" b="1" dirty="0">
                <a:latin typeface="Times New Roman"/>
                <a:cs typeface="Times New Roman"/>
              </a:rPr>
              <a:t>Demographic</a:t>
            </a:r>
            <a:r>
              <a:rPr lang="en-US" sz="3200" b="1" spc="-55" dirty="0">
                <a:latin typeface="Times New Roman"/>
                <a:cs typeface="Times New Roman"/>
              </a:rPr>
              <a:t> </a:t>
            </a:r>
            <a:r>
              <a:rPr lang="en-US" sz="3200" b="1" dirty="0">
                <a:latin typeface="Times New Roman"/>
                <a:cs typeface="Times New Roman"/>
              </a:rPr>
              <a:t>factors</a:t>
            </a:r>
            <a:r>
              <a:rPr lang="en-US" sz="3200" b="1" spc="-50" dirty="0">
                <a:latin typeface="Times New Roman"/>
                <a:cs typeface="Times New Roman"/>
              </a:rPr>
              <a:t> </a:t>
            </a:r>
            <a:r>
              <a:rPr lang="en-US" sz="3200" b="1" dirty="0">
                <a:latin typeface="Times New Roman"/>
                <a:cs typeface="Times New Roman"/>
              </a:rPr>
              <a:t>such</a:t>
            </a:r>
            <a:r>
              <a:rPr lang="en-US" sz="3200" b="1" spc="-55" dirty="0">
                <a:latin typeface="Times New Roman"/>
                <a:cs typeface="Times New Roman"/>
              </a:rPr>
              <a:t> </a:t>
            </a:r>
            <a:r>
              <a:rPr lang="en-US" sz="3200" b="1" dirty="0">
                <a:latin typeface="Times New Roman"/>
                <a:cs typeface="Times New Roman"/>
              </a:rPr>
              <a:t>as</a:t>
            </a:r>
            <a:r>
              <a:rPr lang="en-US" sz="3200" b="1" spc="-50" dirty="0">
                <a:latin typeface="Times New Roman"/>
                <a:cs typeface="Times New Roman"/>
              </a:rPr>
              <a:t> </a:t>
            </a:r>
            <a:r>
              <a:rPr lang="en-US" sz="3200" b="1" dirty="0">
                <a:latin typeface="Times New Roman"/>
                <a:cs typeface="Times New Roman"/>
              </a:rPr>
              <a:t>senior</a:t>
            </a:r>
            <a:r>
              <a:rPr lang="en-US" sz="3200" b="1" spc="-50" dirty="0">
                <a:latin typeface="Times New Roman"/>
                <a:cs typeface="Times New Roman"/>
              </a:rPr>
              <a:t> </a:t>
            </a:r>
            <a:r>
              <a:rPr lang="en-US" sz="3200" b="1" dirty="0">
                <a:latin typeface="Times New Roman"/>
                <a:cs typeface="Times New Roman"/>
              </a:rPr>
              <a:t>citizen</a:t>
            </a:r>
            <a:r>
              <a:rPr lang="en-US" sz="3200" b="1" spc="-55" dirty="0">
                <a:latin typeface="Times New Roman"/>
                <a:cs typeface="Times New Roman"/>
              </a:rPr>
              <a:t> </a:t>
            </a:r>
            <a:r>
              <a:rPr lang="en-US" sz="3200" b="1" dirty="0">
                <a:latin typeface="Times New Roman"/>
                <a:cs typeface="Times New Roman"/>
              </a:rPr>
              <a:t>status</a:t>
            </a:r>
            <a:r>
              <a:rPr lang="en-US" sz="3200" b="1" spc="-50" dirty="0">
                <a:latin typeface="Times New Roman"/>
                <a:cs typeface="Times New Roman"/>
              </a:rPr>
              <a:t> </a:t>
            </a:r>
            <a:r>
              <a:rPr lang="en-US" sz="3200" b="1" dirty="0">
                <a:latin typeface="Times New Roman"/>
                <a:cs typeface="Times New Roman"/>
              </a:rPr>
              <a:t>and</a:t>
            </a:r>
            <a:r>
              <a:rPr lang="en-US" sz="3200" b="1" spc="-50" dirty="0">
                <a:latin typeface="Times New Roman"/>
                <a:cs typeface="Times New Roman"/>
              </a:rPr>
              <a:t> </a:t>
            </a:r>
            <a:r>
              <a:rPr lang="en-US" sz="3200" b="1" spc="-10" dirty="0">
                <a:latin typeface="Times New Roman"/>
                <a:cs typeface="Times New Roman"/>
              </a:rPr>
              <a:t>partner/dependent</a:t>
            </a:r>
            <a:r>
              <a:rPr lang="en-US" sz="3200" b="1" spc="-55" dirty="0">
                <a:latin typeface="Times New Roman"/>
                <a:cs typeface="Times New Roman"/>
              </a:rPr>
              <a:t> </a:t>
            </a:r>
            <a:r>
              <a:rPr lang="en-US" sz="3200" b="1" dirty="0">
                <a:latin typeface="Times New Roman"/>
                <a:cs typeface="Times New Roman"/>
              </a:rPr>
              <a:t>presence</a:t>
            </a:r>
            <a:r>
              <a:rPr lang="en-US" sz="3200" b="1" spc="-50" dirty="0">
                <a:latin typeface="Times New Roman"/>
                <a:cs typeface="Times New Roman"/>
              </a:rPr>
              <a:t> </a:t>
            </a:r>
            <a:r>
              <a:rPr lang="en-US" sz="3200" b="1" dirty="0">
                <a:latin typeface="Times New Roman"/>
                <a:cs typeface="Times New Roman"/>
              </a:rPr>
              <a:t>also</a:t>
            </a:r>
            <a:r>
              <a:rPr lang="en-US" sz="3200" b="1" spc="-50" dirty="0">
                <a:latin typeface="Times New Roman"/>
                <a:cs typeface="Times New Roman"/>
              </a:rPr>
              <a:t> </a:t>
            </a:r>
            <a:r>
              <a:rPr lang="en-US" sz="3200" b="1" dirty="0">
                <a:latin typeface="Times New Roman"/>
                <a:cs typeface="Times New Roman"/>
              </a:rPr>
              <a:t>influence</a:t>
            </a:r>
          </a:p>
          <a:p>
            <a:pPr marL="12700" marR="389890" algn="just">
              <a:lnSpc>
                <a:spcPct val="150000"/>
              </a:lnSpc>
            </a:pPr>
            <a:r>
              <a:rPr lang="en-US" sz="3200" b="1" spc="-55" dirty="0">
                <a:latin typeface="Times New Roman"/>
                <a:cs typeface="Times New Roman"/>
              </a:rPr>
              <a:t> 	</a:t>
            </a:r>
            <a:r>
              <a:rPr lang="en-US" sz="3200" b="1" spc="-20" dirty="0">
                <a:latin typeface="Times New Roman"/>
                <a:cs typeface="Times New Roman"/>
              </a:rPr>
              <a:t>churn </a:t>
            </a:r>
            <a:r>
              <a:rPr lang="en-US" sz="3200" b="1" spc="-10" dirty="0">
                <a:latin typeface="Times New Roman"/>
                <a:cs typeface="Times New Roman"/>
              </a:rPr>
              <a:t>tendency.</a:t>
            </a:r>
            <a:endParaRPr lang="en-US" sz="3200" dirty="0">
              <a:latin typeface="Times New Roman"/>
              <a:cs typeface="Times New Roman"/>
            </a:endParaRPr>
          </a:p>
          <a:p>
            <a:pPr marL="469900" marR="972819" indent="-457200">
              <a:lnSpc>
                <a:spcPct val="150000"/>
              </a:lnSpc>
              <a:buFont typeface="Wingdings" panose="05000000000000000000" pitchFamily="2" charset="2"/>
              <a:buChar char="§"/>
            </a:pPr>
            <a:r>
              <a:rPr lang="en-US" sz="3200" b="1" dirty="0">
                <a:latin typeface="Times New Roman"/>
                <a:cs typeface="Times New Roman"/>
              </a:rPr>
              <a:t>The</a:t>
            </a:r>
            <a:r>
              <a:rPr lang="en-US" sz="3200" b="1" spc="-60" dirty="0">
                <a:latin typeface="Times New Roman"/>
                <a:cs typeface="Times New Roman"/>
              </a:rPr>
              <a:t> </a:t>
            </a:r>
            <a:r>
              <a:rPr lang="en-US" sz="3200" b="1" dirty="0">
                <a:latin typeface="Times New Roman"/>
                <a:cs typeface="Times New Roman"/>
              </a:rPr>
              <a:t>insights</a:t>
            </a:r>
            <a:r>
              <a:rPr lang="en-US" sz="3200" b="1" spc="-55" dirty="0">
                <a:latin typeface="Times New Roman"/>
                <a:cs typeface="Times New Roman"/>
              </a:rPr>
              <a:t> </a:t>
            </a:r>
            <a:r>
              <a:rPr lang="en-US" sz="3200" b="1" dirty="0">
                <a:latin typeface="Times New Roman"/>
                <a:cs typeface="Times New Roman"/>
              </a:rPr>
              <a:t>enable</a:t>
            </a:r>
            <a:r>
              <a:rPr lang="en-US" sz="3200" b="1" spc="-55" dirty="0">
                <a:latin typeface="Times New Roman"/>
                <a:cs typeface="Times New Roman"/>
              </a:rPr>
              <a:t> </a:t>
            </a:r>
            <a:r>
              <a:rPr lang="en-US" sz="3200" b="1" dirty="0">
                <a:latin typeface="Times New Roman"/>
                <a:cs typeface="Times New Roman"/>
              </a:rPr>
              <a:t>the</a:t>
            </a:r>
            <a:r>
              <a:rPr lang="en-US" sz="3200" b="1" spc="-60" dirty="0">
                <a:latin typeface="Times New Roman"/>
                <a:cs typeface="Times New Roman"/>
              </a:rPr>
              <a:t> </a:t>
            </a:r>
            <a:r>
              <a:rPr lang="en-US" sz="3200" b="1" dirty="0">
                <a:latin typeface="Times New Roman"/>
                <a:cs typeface="Times New Roman"/>
              </a:rPr>
              <a:t>company</a:t>
            </a:r>
            <a:r>
              <a:rPr lang="en-US" sz="3200" b="1" spc="-55" dirty="0">
                <a:latin typeface="Times New Roman"/>
                <a:cs typeface="Times New Roman"/>
              </a:rPr>
              <a:t> </a:t>
            </a:r>
            <a:r>
              <a:rPr lang="en-US" sz="3200" b="1" dirty="0">
                <a:latin typeface="Times New Roman"/>
                <a:cs typeface="Times New Roman"/>
              </a:rPr>
              <a:t>to</a:t>
            </a:r>
            <a:r>
              <a:rPr lang="en-US" sz="3200" b="1" spc="-55" dirty="0">
                <a:latin typeface="Times New Roman"/>
                <a:cs typeface="Times New Roman"/>
              </a:rPr>
              <a:t> </a:t>
            </a:r>
            <a:r>
              <a:rPr lang="en-US" sz="3200" b="1" dirty="0">
                <a:latin typeface="Times New Roman"/>
                <a:cs typeface="Times New Roman"/>
              </a:rPr>
              <a:t>design</a:t>
            </a:r>
            <a:r>
              <a:rPr lang="en-US" sz="3200" b="1" spc="-55" dirty="0">
                <a:latin typeface="Times New Roman"/>
                <a:cs typeface="Times New Roman"/>
              </a:rPr>
              <a:t> </a:t>
            </a:r>
            <a:r>
              <a:rPr lang="en-US" sz="3200" b="1" dirty="0">
                <a:latin typeface="Times New Roman"/>
                <a:cs typeface="Times New Roman"/>
              </a:rPr>
              <a:t>targeted</a:t>
            </a:r>
            <a:r>
              <a:rPr lang="en-US" sz="3200" b="1" spc="-60" dirty="0">
                <a:latin typeface="Times New Roman"/>
                <a:cs typeface="Times New Roman"/>
              </a:rPr>
              <a:t> </a:t>
            </a:r>
            <a:r>
              <a:rPr lang="en-US" sz="3200" b="1" dirty="0">
                <a:latin typeface="Times New Roman"/>
                <a:cs typeface="Times New Roman"/>
              </a:rPr>
              <a:t>retention</a:t>
            </a:r>
            <a:r>
              <a:rPr lang="en-US" sz="3200" b="1" spc="-55" dirty="0">
                <a:latin typeface="Times New Roman"/>
                <a:cs typeface="Times New Roman"/>
              </a:rPr>
              <a:t> </a:t>
            </a:r>
            <a:r>
              <a:rPr lang="en-US" sz="3200" b="1" dirty="0">
                <a:latin typeface="Times New Roman"/>
                <a:cs typeface="Times New Roman"/>
              </a:rPr>
              <a:t>strategies</a:t>
            </a:r>
            <a:r>
              <a:rPr lang="en-US" sz="3200" b="1" spc="-55" dirty="0">
                <a:latin typeface="Times New Roman"/>
                <a:cs typeface="Times New Roman"/>
              </a:rPr>
              <a:t> </a:t>
            </a:r>
            <a:r>
              <a:rPr lang="en-US" sz="3200" b="1" dirty="0">
                <a:latin typeface="Times New Roman"/>
                <a:cs typeface="Times New Roman"/>
              </a:rPr>
              <a:t>and</a:t>
            </a:r>
            <a:r>
              <a:rPr lang="en-US" sz="3200" b="1" spc="-55" dirty="0">
                <a:latin typeface="Times New Roman"/>
                <a:cs typeface="Times New Roman"/>
              </a:rPr>
              <a:t> </a:t>
            </a:r>
            <a:r>
              <a:rPr lang="en-US" sz="3200" b="1" dirty="0">
                <a:latin typeface="Times New Roman"/>
                <a:cs typeface="Times New Roman"/>
              </a:rPr>
              <a:t>reduce</a:t>
            </a:r>
            <a:r>
              <a:rPr lang="en-US" sz="3200" b="1" spc="-60" dirty="0">
                <a:latin typeface="Times New Roman"/>
                <a:cs typeface="Times New Roman"/>
              </a:rPr>
              <a:t> </a:t>
            </a:r>
            <a:r>
              <a:rPr lang="en-US" sz="3200" b="1" dirty="0">
                <a:latin typeface="Times New Roman"/>
                <a:cs typeface="Times New Roman"/>
              </a:rPr>
              <a:t>customer</a:t>
            </a:r>
            <a:r>
              <a:rPr lang="en-US" sz="3200" b="1" spc="-55" dirty="0">
                <a:latin typeface="Times New Roman"/>
                <a:cs typeface="Times New Roman"/>
              </a:rPr>
              <a:t> </a:t>
            </a:r>
            <a:r>
              <a:rPr lang="en-US" sz="3200" b="1" spc="-20" dirty="0">
                <a:latin typeface="Times New Roman"/>
                <a:cs typeface="Times New Roman"/>
              </a:rPr>
              <a:t>loss.</a:t>
            </a:r>
          </a:p>
          <a:p>
            <a:pPr marL="469900" marR="972819" indent="-457200">
              <a:lnSpc>
                <a:spcPct val="150000"/>
              </a:lnSpc>
              <a:buFont typeface="Wingdings" panose="05000000000000000000" pitchFamily="2" charset="2"/>
              <a:buChar char="§"/>
            </a:pPr>
            <a:r>
              <a:rPr lang="en-US" sz="3200" b="1" spc="-20" dirty="0">
                <a:latin typeface="Times New Roman"/>
                <a:cs typeface="Times New Roman"/>
              </a:rPr>
              <a:t> </a:t>
            </a:r>
            <a:r>
              <a:rPr lang="en-US" sz="3200" b="1" dirty="0">
                <a:latin typeface="Times New Roman"/>
                <a:cs typeface="Times New Roman"/>
              </a:rPr>
              <a:t>Implementing</a:t>
            </a:r>
            <a:r>
              <a:rPr lang="en-US" sz="3200" b="1" spc="-65" dirty="0">
                <a:latin typeface="Times New Roman"/>
                <a:cs typeface="Times New Roman"/>
              </a:rPr>
              <a:t> </a:t>
            </a:r>
            <a:r>
              <a:rPr lang="en-US" sz="3200" b="1" spc="-10" dirty="0">
                <a:latin typeface="Times New Roman"/>
                <a:cs typeface="Times New Roman"/>
              </a:rPr>
              <a:t>data-</a:t>
            </a:r>
            <a:r>
              <a:rPr lang="en-US" sz="3200" b="1" dirty="0">
                <a:latin typeface="Times New Roman"/>
                <a:cs typeface="Times New Roman"/>
              </a:rPr>
              <a:t>driven</a:t>
            </a:r>
            <a:r>
              <a:rPr lang="en-US" sz="3200" b="1" spc="-65" dirty="0">
                <a:latin typeface="Times New Roman"/>
                <a:cs typeface="Times New Roman"/>
              </a:rPr>
              <a:t> </a:t>
            </a:r>
            <a:r>
              <a:rPr lang="en-US" sz="3200" b="1" dirty="0">
                <a:latin typeface="Times New Roman"/>
                <a:cs typeface="Times New Roman"/>
              </a:rPr>
              <a:t>actions</a:t>
            </a:r>
            <a:r>
              <a:rPr lang="en-US" sz="3200" b="1" spc="-65" dirty="0">
                <a:latin typeface="Times New Roman"/>
                <a:cs typeface="Times New Roman"/>
              </a:rPr>
              <a:t> </a:t>
            </a:r>
            <a:r>
              <a:rPr lang="en-US" sz="3200" b="1" dirty="0">
                <a:latin typeface="Times New Roman"/>
                <a:cs typeface="Times New Roman"/>
              </a:rPr>
              <a:t>can</a:t>
            </a:r>
            <a:r>
              <a:rPr lang="en-US" sz="3200" b="1" spc="-65" dirty="0">
                <a:latin typeface="Times New Roman"/>
                <a:cs typeface="Times New Roman"/>
              </a:rPr>
              <a:t> </a:t>
            </a:r>
            <a:r>
              <a:rPr lang="en-US" sz="3200" b="1" dirty="0">
                <a:latin typeface="Times New Roman"/>
                <a:cs typeface="Times New Roman"/>
              </a:rPr>
              <a:t>help</a:t>
            </a:r>
            <a:r>
              <a:rPr lang="en-US" sz="3200" b="1" spc="-65" dirty="0">
                <a:latin typeface="Times New Roman"/>
                <a:cs typeface="Times New Roman"/>
              </a:rPr>
              <a:t> </a:t>
            </a:r>
            <a:r>
              <a:rPr lang="en-US" sz="3200" b="1" dirty="0">
                <a:latin typeface="Times New Roman"/>
                <a:cs typeface="Times New Roman"/>
              </a:rPr>
              <a:t>boost</a:t>
            </a:r>
            <a:r>
              <a:rPr lang="en-US" sz="3200" b="1" spc="-65" dirty="0">
                <a:latin typeface="Times New Roman"/>
                <a:cs typeface="Times New Roman"/>
              </a:rPr>
              <a:t> </a:t>
            </a:r>
            <a:r>
              <a:rPr lang="en-US" sz="3200" b="1" dirty="0">
                <a:latin typeface="Times New Roman"/>
                <a:cs typeface="Times New Roman"/>
              </a:rPr>
              <a:t>customer</a:t>
            </a:r>
            <a:r>
              <a:rPr lang="en-US" sz="3200" b="1" spc="-65" dirty="0">
                <a:latin typeface="Times New Roman"/>
                <a:cs typeface="Times New Roman"/>
              </a:rPr>
              <a:t> </a:t>
            </a:r>
            <a:r>
              <a:rPr lang="en-US" sz="3200" b="1" dirty="0">
                <a:latin typeface="Times New Roman"/>
                <a:cs typeface="Times New Roman"/>
              </a:rPr>
              <a:t>satisfaction,</a:t>
            </a:r>
            <a:r>
              <a:rPr lang="en-US" sz="3200" b="1" spc="-60" dirty="0">
                <a:latin typeface="Times New Roman"/>
                <a:cs typeface="Times New Roman"/>
              </a:rPr>
              <a:t> </a:t>
            </a:r>
            <a:r>
              <a:rPr lang="en-US" sz="3200" b="1" dirty="0">
                <a:latin typeface="Times New Roman"/>
                <a:cs typeface="Times New Roman"/>
              </a:rPr>
              <a:t>increase</a:t>
            </a:r>
            <a:r>
              <a:rPr lang="en-US" sz="3200" b="1" spc="-65" dirty="0">
                <a:latin typeface="Times New Roman"/>
                <a:cs typeface="Times New Roman"/>
              </a:rPr>
              <a:t> </a:t>
            </a:r>
            <a:r>
              <a:rPr lang="en-US" sz="3200" b="1" dirty="0">
                <a:latin typeface="Times New Roman"/>
                <a:cs typeface="Times New Roman"/>
              </a:rPr>
              <a:t>retention</a:t>
            </a:r>
            <a:r>
              <a:rPr lang="en-US" sz="3200" b="1" spc="-65" dirty="0">
                <a:latin typeface="Times New Roman"/>
                <a:cs typeface="Times New Roman"/>
              </a:rPr>
              <a:t> </a:t>
            </a:r>
            <a:r>
              <a:rPr lang="en-US" sz="3200" b="1" dirty="0">
                <a:latin typeface="Times New Roman"/>
                <a:cs typeface="Times New Roman"/>
              </a:rPr>
              <a:t>rate,</a:t>
            </a:r>
            <a:r>
              <a:rPr lang="en-US" sz="3200" b="1" spc="-65" dirty="0">
                <a:latin typeface="Times New Roman"/>
                <a:cs typeface="Times New Roman"/>
              </a:rPr>
              <a:t> </a:t>
            </a:r>
            <a:r>
              <a:rPr lang="en-US" sz="3200" b="1" spc="-25" dirty="0">
                <a:latin typeface="Times New Roman"/>
                <a:cs typeface="Times New Roman"/>
              </a:rPr>
              <a:t>and </a:t>
            </a:r>
            <a:r>
              <a:rPr lang="en-US" sz="3200" b="1" dirty="0">
                <a:latin typeface="Times New Roman"/>
                <a:cs typeface="Times New Roman"/>
              </a:rPr>
              <a:t>maximize</a:t>
            </a:r>
            <a:r>
              <a:rPr lang="en-US" sz="3200" b="1" spc="-80" dirty="0">
                <a:latin typeface="Times New Roman"/>
                <a:cs typeface="Times New Roman"/>
              </a:rPr>
              <a:t> </a:t>
            </a:r>
            <a:r>
              <a:rPr lang="en-US" sz="3200" b="1" spc="-10" dirty="0">
                <a:latin typeface="Times New Roman"/>
                <a:cs typeface="Times New Roman"/>
              </a:rPr>
              <a:t>revenue.</a:t>
            </a:r>
            <a:endParaRPr lang="en-US" sz="3200" dirty="0">
              <a:latin typeface="Times New Roman"/>
              <a:cs typeface="Times New Roman"/>
            </a:endParaRPr>
          </a:p>
          <a:p>
            <a:pPr marL="469900" marR="5080" indent="-457200">
              <a:lnSpc>
                <a:spcPct val="150000"/>
              </a:lnSpc>
              <a:buFont typeface="Wingdings" panose="05000000000000000000" pitchFamily="2" charset="2"/>
              <a:buChar char="§"/>
            </a:pPr>
            <a:r>
              <a:rPr lang="en-US" sz="3200" b="1" dirty="0">
                <a:latin typeface="Times New Roman"/>
                <a:cs typeface="Times New Roman"/>
              </a:rPr>
              <a:t>Overall,</a:t>
            </a:r>
            <a:r>
              <a:rPr lang="en-US" sz="3200" b="1" spc="-60" dirty="0">
                <a:latin typeface="Times New Roman"/>
                <a:cs typeface="Times New Roman"/>
              </a:rPr>
              <a:t> </a:t>
            </a:r>
            <a:r>
              <a:rPr lang="en-US" sz="3200" b="1" dirty="0">
                <a:latin typeface="Times New Roman"/>
                <a:cs typeface="Times New Roman"/>
              </a:rPr>
              <a:t>the</a:t>
            </a:r>
            <a:r>
              <a:rPr lang="en-US" sz="3200" b="1" spc="-60" dirty="0">
                <a:latin typeface="Times New Roman"/>
                <a:cs typeface="Times New Roman"/>
              </a:rPr>
              <a:t> </a:t>
            </a:r>
            <a:r>
              <a:rPr lang="en-US" sz="3200" b="1" dirty="0">
                <a:latin typeface="Times New Roman"/>
                <a:cs typeface="Times New Roman"/>
              </a:rPr>
              <a:t>project</a:t>
            </a:r>
            <a:r>
              <a:rPr lang="en-US" sz="3200" b="1" spc="-55" dirty="0">
                <a:latin typeface="Times New Roman"/>
                <a:cs typeface="Times New Roman"/>
              </a:rPr>
              <a:t> </a:t>
            </a:r>
            <a:r>
              <a:rPr lang="en-US" sz="3200" b="1" dirty="0">
                <a:latin typeface="Times New Roman"/>
                <a:cs typeface="Times New Roman"/>
              </a:rPr>
              <a:t>demonstrates</a:t>
            </a:r>
            <a:r>
              <a:rPr lang="en-US" sz="3200" b="1" spc="-60" dirty="0">
                <a:latin typeface="Times New Roman"/>
                <a:cs typeface="Times New Roman"/>
              </a:rPr>
              <a:t> </a:t>
            </a:r>
            <a:r>
              <a:rPr lang="en-US" sz="3200" b="1" dirty="0">
                <a:latin typeface="Times New Roman"/>
                <a:cs typeface="Times New Roman"/>
              </a:rPr>
              <a:t>how</a:t>
            </a:r>
            <a:r>
              <a:rPr lang="en-US" sz="3200" b="1" spc="-55" dirty="0">
                <a:latin typeface="Times New Roman"/>
                <a:cs typeface="Times New Roman"/>
              </a:rPr>
              <a:t> </a:t>
            </a:r>
            <a:r>
              <a:rPr lang="en-US" sz="3200" b="1" dirty="0">
                <a:latin typeface="Times New Roman"/>
                <a:cs typeface="Times New Roman"/>
              </a:rPr>
              <a:t>Power</a:t>
            </a:r>
            <a:r>
              <a:rPr lang="en-US" sz="3200" b="1" spc="-60" dirty="0">
                <a:latin typeface="Times New Roman"/>
                <a:cs typeface="Times New Roman"/>
              </a:rPr>
              <a:t> </a:t>
            </a:r>
            <a:r>
              <a:rPr lang="en-US" sz="3200" b="1" dirty="0">
                <a:latin typeface="Times New Roman"/>
                <a:cs typeface="Times New Roman"/>
              </a:rPr>
              <a:t>BI</a:t>
            </a:r>
            <a:r>
              <a:rPr lang="en-US" sz="3200" b="1" spc="-55" dirty="0">
                <a:latin typeface="Times New Roman"/>
                <a:cs typeface="Times New Roman"/>
              </a:rPr>
              <a:t> </a:t>
            </a:r>
            <a:r>
              <a:rPr lang="en-US" sz="3200" b="1" dirty="0">
                <a:latin typeface="Times New Roman"/>
                <a:cs typeface="Times New Roman"/>
              </a:rPr>
              <a:t>transforms</a:t>
            </a:r>
            <a:r>
              <a:rPr lang="en-US" sz="3200" b="1" spc="-60" dirty="0">
                <a:latin typeface="Times New Roman"/>
                <a:cs typeface="Times New Roman"/>
              </a:rPr>
              <a:t> </a:t>
            </a:r>
            <a:r>
              <a:rPr lang="en-US" sz="3200" b="1" dirty="0">
                <a:latin typeface="Times New Roman"/>
                <a:cs typeface="Times New Roman"/>
              </a:rPr>
              <a:t>raw</a:t>
            </a:r>
            <a:r>
              <a:rPr lang="en-US" sz="3200" b="1" spc="-55" dirty="0">
                <a:latin typeface="Times New Roman"/>
                <a:cs typeface="Times New Roman"/>
              </a:rPr>
              <a:t> </a:t>
            </a:r>
            <a:r>
              <a:rPr lang="en-US" sz="3200" b="1" dirty="0">
                <a:latin typeface="Times New Roman"/>
                <a:cs typeface="Times New Roman"/>
              </a:rPr>
              <a:t>data</a:t>
            </a:r>
            <a:r>
              <a:rPr lang="en-US" sz="3200" b="1" spc="-60" dirty="0">
                <a:latin typeface="Times New Roman"/>
                <a:cs typeface="Times New Roman"/>
              </a:rPr>
              <a:t> </a:t>
            </a:r>
            <a:r>
              <a:rPr lang="en-US" sz="3200" b="1" dirty="0">
                <a:latin typeface="Times New Roman"/>
                <a:cs typeface="Times New Roman"/>
              </a:rPr>
              <a:t>into</a:t>
            </a:r>
            <a:r>
              <a:rPr lang="en-US" sz="3200" b="1" spc="-55" dirty="0">
                <a:latin typeface="Times New Roman"/>
                <a:cs typeface="Times New Roman"/>
              </a:rPr>
              <a:t> </a:t>
            </a:r>
            <a:r>
              <a:rPr lang="en-US" sz="3200" b="1" dirty="0">
                <a:latin typeface="Times New Roman"/>
                <a:cs typeface="Times New Roman"/>
              </a:rPr>
              <a:t>actionable</a:t>
            </a:r>
            <a:r>
              <a:rPr lang="en-US" sz="3200" b="1" spc="-60" dirty="0">
                <a:latin typeface="Times New Roman"/>
                <a:cs typeface="Times New Roman"/>
              </a:rPr>
              <a:t> </a:t>
            </a:r>
            <a:r>
              <a:rPr lang="en-US" sz="3200" b="1" dirty="0">
                <a:latin typeface="Times New Roman"/>
                <a:cs typeface="Times New Roman"/>
              </a:rPr>
              <a:t>business</a:t>
            </a:r>
            <a:r>
              <a:rPr lang="en-US" sz="3200" b="1" spc="-55" dirty="0">
                <a:latin typeface="Times New Roman"/>
                <a:cs typeface="Times New Roman"/>
              </a:rPr>
              <a:t> </a:t>
            </a:r>
          </a:p>
          <a:p>
            <a:pPr marL="12700" marR="5080">
              <a:lnSpc>
                <a:spcPct val="150000"/>
              </a:lnSpc>
            </a:pPr>
            <a:r>
              <a:rPr lang="en-US" sz="3200" b="1" spc="-55" dirty="0">
                <a:latin typeface="Times New Roman"/>
                <a:cs typeface="Times New Roman"/>
              </a:rPr>
              <a:t>	</a:t>
            </a:r>
            <a:r>
              <a:rPr lang="en-US" sz="3200" b="1" dirty="0">
                <a:latin typeface="Times New Roman"/>
                <a:cs typeface="Times New Roman"/>
              </a:rPr>
              <a:t>insights</a:t>
            </a:r>
            <a:r>
              <a:rPr lang="en-US" sz="3200" b="1" spc="-60" dirty="0">
                <a:latin typeface="Times New Roman"/>
                <a:cs typeface="Times New Roman"/>
              </a:rPr>
              <a:t> </a:t>
            </a:r>
            <a:r>
              <a:rPr lang="en-US" sz="3200" b="1" spc="-25" dirty="0">
                <a:latin typeface="Times New Roman"/>
                <a:cs typeface="Times New Roman"/>
              </a:rPr>
              <a:t>for </a:t>
            </a:r>
            <a:r>
              <a:rPr lang="en-US" sz="3200" b="1" dirty="0">
                <a:latin typeface="Times New Roman"/>
                <a:cs typeface="Times New Roman"/>
              </a:rPr>
              <a:t>strategic</a:t>
            </a:r>
            <a:r>
              <a:rPr lang="en-US" sz="3200" b="1" spc="-30" dirty="0">
                <a:latin typeface="Times New Roman"/>
                <a:cs typeface="Times New Roman"/>
              </a:rPr>
              <a:t> </a:t>
            </a:r>
            <a:r>
              <a:rPr lang="en-US" sz="3200" b="1" spc="-10" dirty="0">
                <a:latin typeface="Times New Roman"/>
                <a:cs typeface="Times New Roman"/>
              </a:rPr>
              <a:t>decision-making.</a:t>
            </a:r>
            <a:endParaRPr lang="en-US" sz="3200" dirty="0">
              <a:latin typeface="Times New Roman"/>
              <a:cs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WhatsApp Image 2025-10-25 at 12.53.34 AM.jpeg">
            <a:extLst>
              <a:ext uri="{FF2B5EF4-FFF2-40B4-BE49-F238E27FC236}">
                <a16:creationId xmlns:a16="http://schemas.microsoft.com/office/drawing/2014/main" id="{94563CA0-38F5-41FE-C260-C16738AFE19D}"/>
              </a:ext>
            </a:extLst>
          </p:cNvPr>
          <p:cNvPicPr>
            <a:picLocks noChangeAspect="1"/>
          </p:cNvPicPr>
          <p:nvPr/>
        </p:nvPicPr>
        <p:blipFill>
          <a:blip r:embed="rId2"/>
          <a:stretch>
            <a:fillRect/>
          </a:stretch>
        </p:blipFill>
        <p:spPr>
          <a:xfrm>
            <a:off x="-10886" y="0"/>
            <a:ext cx="18298886" cy="10286999"/>
          </a:xfrm>
          <a:prstGeom prst="rect">
            <a:avLst/>
          </a:prstGeom>
        </p:spPr>
      </p:pic>
    </p:spTree>
    <p:extLst>
      <p:ext uri="{BB962C8B-B14F-4D97-AF65-F5344CB8AC3E}">
        <p14:creationId xmlns:p14="http://schemas.microsoft.com/office/powerpoint/2010/main" val="10629260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1233</TotalTime>
  <Words>921</Words>
  <Application>Microsoft Office PowerPoint</Application>
  <PresentationFormat>Custom</PresentationFormat>
  <Paragraphs>106</Paragraphs>
  <Slides>16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 and Green Modern Customer Support Presentation</dc:title>
  <dc:creator>Yuva Raju</dc:creator>
  <cp:keywords>DAG4gRjCEX0,BAGzf4mnVyo,0</cp:keywords>
  <cp:lastModifiedBy>Yuva Raju</cp:lastModifiedBy>
  <cp:revision>4</cp:revision>
  <dcterms:created xsi:type="dcterms:W3CDTF">2025-11-12T17:59:52Z</dcterms:created>
  <dcterms:modified xsi:type="dcterms:W3CDTF">2025-11-15T14:31:43Z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2025-11-12T00:00:00Z</vt:filetime>
  </property>
  <property fmtid="{D5CDD505-2E9C-101B-9397-08002B2CF9AE}" pid="3" name="Creator">
    <vt:lpwstr>Canva</vt:lpwstr>
  </property>
  <property fmtid="{D5CDD505-2E9C-101B-9397-08002B2CF9AE}" pid="4" name="LastSaved">
    <vt:filetime>2025-11-12T00:00:00Z</vt:filetime>
  </property>
  <property fmtid="{D5CDD505-2E9C-101B-9397-08002B2CF9AE}" pid="5" name="Producer">
    <vt:lpwstr>Canva</vt:lpwstr>
  </property>
</Properties>
</file>