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71" r:id="rId2"/>
    <p:sldId id="270" r:id="rId3"/>
    <p:sldId id="256" r:id="rId4"/>
    <p:sldId id="257" r:id="rId5"/>
    <p:sldId id="258" r:id="rId6"/>
    <p:sldId id="261" r:id="rId7"/>
    <p:sldId id="259" r:id="rId8"/>
    <p:sldId id="260" r:id="rId9"/>
    <p:sldId id="263" r:id="rId10"/>
    <p:sldId id="264" r:id="rId11"/>
    <p:sldId id="265" r:id="rId12"/>
    <p:sldId id="268" r:id="rId13"/>
    <p:sldId id="269" r:id="rId14"/>
    <p:sldId id="262" r:id="rId15"/>
    <p:sldId id="266" r:id="rId16"/>
    <p:sldId id="267" r:id="rId17"/>
    <p:sldId id="272" r:id="rId18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39" d="100"/>
          <a:sy n="39" d="100"/>
        </p:scale>
        <p:origin x="940" y="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77B4B7-FFEB-465B-A269-19CCA458A1FA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6022B-7F18-4115-AB51-A25C45DBC6E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5031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66022B-7F18-4115-AB51-A25C45DBC6E0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6420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B14F31"/>
                </a:solidFill>
                <a:latin typeface="Calibri"/>
                <a:cs typeface="Calibri"/>
              </a:defRPr>
            </a:lvl1pPr>
          </a:lstStyle>
          <a:p>
            <a:pPr marR="71120" algn="r">
              <a:lnSpc>
                <a:spcPts val="2385"/>
              </a:lnSpc>
              <a:spcBef>
                <a:spcPts val="35"/>
              </a:spcBef>
            </a:pPr>
            <a:r>
              <a:rPr spc="204" dirty="0"/>
              <a:t>Presented</a:t>
            </a:r>
            <a:r>
              <a:rPr spc="85" dirty="0"/>
              <a:t> </a:t>
            </a:r>
            <a:r>
              <a:rPr spc="290" dirty="0"/>
              <a:t>By</a:t>
            </a:r>
            <a:r>
              <a:rPr spc="85" dirty="0"/>
              <a:t> </a:t>
            </a:r>
            <a:r>
              <a:rPr spc="-50" dirty="0"/>
              <a:t>:</a:t>
            </a:r>
          </a:p>
          <a:p>
            <a:pPr marR="5080" algn="r">
              <a:lnSpc>
                <a:spcPts val="2385"/>
              </a:lnSpc>
            </a:pPr>
            <a:r>
              <a:rPr b="1" spc="225" dirty="0">
                <a:latin typeface="Calibri"/>
                <a:cs typeface="Calibri"/>
              </a:rPr>
              <a:t>Eleanor</a:t>
            </a:r>
            <a:r>
              <a:rPr b="1" spc="110" dirty="0">
                <a:latin typeface="Calibri"/>
                <a:cs typeface="Calibri"/>
              </a:rPr>
              <a:t> </a:t>
            </a:r>
            <a:r>
              <a:rPr b="1" spc="220" dirty="0">
                <a:latin typeface="Calibri"/>
                <a:cs typeface="Calibri"/>
              </a:rPr>
              <a:t>Fitzgerald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B14F31"/>
                </a:solidFill>
                <a:latin typeface="Calibri"/>
                <a:cs typeface="Calibri"/>
              </a:defRPr>
            </a:lvl1pPr>
          </a:lstStyle>
          <a:p>
            <a:pPr marR="71120" algn="r">
              <a:lnSpc>
                <a:spcPts val="2385"/>
              </a:lnSpc>
              <a:spcBef>
                <a:spcPts val="35"/>
              </a:spcBef>
            </a:pPr>
            <a:r>
              <a:rPr spc="204" dirty="0"/>
              <a:t>Presented</a:t>
            </a:r>
            <a:r>
              <a:rPr spc="85" dirty="0"/>
              <a:t> </a:t>
            </a:r>
            <a:r>
              <a:rPr spc="290" dirty="0"/>
              <a:t>By</a:t>
            </a:r>
            <a:r>
              <a:rPr spc="85" dirty="0"/>
              <a:t> </a:t>
            </a:r>
            <a:r>
              <a:rPr spc="-50" dirty="0"/>
              <a:t>:</a:t>
            </a:r>
          </a:p>
          <a:p>
            <a:pPr marR="5080" algn="r">
              <a:lnSpc>
                <a:spcPts val="2385"/>
              </a:lnSpc>
            </a:pPr>
            <a:r>
              <a:rPr b="1" spc="225" dirty="0">
                <a:latin typeface="Calibri"/>
                <a:cs typeface="Calibri"/>
              </a:rPr>
              <a:t>Eleanor</a:t>
            </a:r>
            <a:r>
              <a:rPr b="1" spc="110" dirty="0">
                <a:latin typeface="Calibri"/>
                <a:cs typeface="Calibri"/>
              </a:rPr>
              <a:t> </a:t>
            </a:r>
            <a:r>
              <a:rPr b="1" spc="220" dirty="0">
                <a:latin typeface="Calibri"/>
                <a:cs typeface="Calibri"/>
              </a:rPr>
              <a:t>Fitzgerald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B14F31"/>
                </a:solidFill>
                <a:latin typeface="Calibri"/>
                <a:cs typeface="Calibri"/>
              </a:defRPr>
            </a:lvl1pPr>
          </a:lstStyle>
          <a:p>
            <a:pPr marR="71120" algn="r">
              <a:lnSpc>
                <a:spcPts val="2385"/>
              </a:lnSpc>
              <a:spcBef>
                <a:spcPts val="35"/>
              </a:spcBef>
            </a:pPr>
            <a:r>
              <a:rPr spc="204" dirty="0"/>
              <a:t>Presented</a:t>
            </a:r>
            <a:r>
              <a:rPr spc="85" dirty="0"/>
              <a:t> </a:t>
            </a:r>
            <a:r>
              <a:rPr spc="290" dirty="0"/>
              <a:t>By</a:t>
            </a:r>
            <a:r>
              <a:rPr spc="85" dirty="0"/>
              <a:t> </a:t>
            </a:r>
            <a:r>
              <a:rPr spc="-50" dirty="0"/>
              <a:t>:</a:t>
            </a:r>
          </a:p>
          <a:p>
            <a:pPr marR="5080" algn="r">
              <a:lnSpc>
                <a:spcPts val="2385"/>
              </a:lnSpc>
            </a:pPr>
            <a:r>
              <a:rPr b="1" spc="225" dirty="0">
                <a:latin typeface="Calibri"/>
                <a:cs typeface="Calibri"/>
              </a:rPr>
              <a:t>Eleanor</a:t>
            </a:r>
            <a:r>
              <a:rPr b="1" spc="110" dirty="0">
                <a:latin typeface="Calibri"/>
                <a:cs typeface="Calibri"/>
              </a:rPr>
              <a:t> </a:t>
            </a:r>
            <a:r>
              <a:rPr b="1" spc="220" dirty="0">
                <a:latin typeface="Calibri"/>
                <a:cs typeface="Calibri"/>
              </a:rPr>
              <a:t>Fitzgerald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B14F31"/>
                </a:solidFill>
                <a:latin typeface="Calibri"/>
                <a:cs typeface="Calibri"/>
              </a:defRPr>
            </a:lvl1pPr>
          </a:lstStyle>
          <a:p>
            <a:pPr marR="71120" algn="r">
              <a:lnSpc>
                <a:spcPts val="2385"/>
              </a:lnSpc>
              <a:spcBef>
                <a:spcPts val="35"/>
              </a:spcBef>
            </a:pPr>
            <a:r>
              <a:rPr spc="204" dirty="0"/>
              <a:t>Presented</a:t>
            </a:r>
            <a:r>
              <a:rPr spc="85" dirty="0"/>
              <a:t> </a:t>
            </a:r>
            <a:r>
              <a:rPr spc="290" dirty="0"/>
              <a:t>By</a:t>
            </a:r>
            <a:r>
              <a:rPr spc="85" dirty="0"/>
              <a:t> </a:t>
            </a:r>
            <a:r>
              <a:rPr spc="-50" dirty="0"/>
              <a:t>:</a:t>
            </a:r>
          </a:p>
          <a:p>
            <a:pPr marR="5080" algn="r">
              <a:lnSpc>
                <a:spcPts val="2385"/>
              </a:lnSpc>
            </a:pPr>
            <a:r>
              <a:rPr b="1" spc="225" dirty="0">
                <a:latin typeface="Calibri"/>
                <a:cs typeface="Calibri"/>
              </a:rPr>
              <a:t>Eleanor</a:t>
            </a:r>
            <a:r>
              <a:rPr b="1" spc="110" dirty="0">
                <a:latin typeface="Calibri"/>
                <a:cs typeface="Calibri"/>
              </a:rPr>
              <a:t> </a:t>
            </a:r>
            <a:r>
              <a:rPr b="1" spc="220" dirty="0">
                <a:latin typeface="Calibri"/>
                <a:cs typeface="Calibri"/>
              </a:rPr>
              <a:t>Fitzgerald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B14F31"/>
                </a:solidFill>
                <a:latin typeface="Calibri"/>
                <a:cs typeface="Calibri"/>
              </a:defRPr>
            </a:lvl1pPr>
          </a:lstStyle>
          <a:p>
            <a:pPr marR="71120" algn="r">
              <a:lnSpc>
                <a:spcPts val="2385"/>
              </a:lnSpc>
              <a:spcBef>
                <a:spcPts val="35"/>
              </a:spcBef>
            </a:pPr>
            <a:r>
              <a:rPr spc="204" dirty="0"/>
              <a:t>Presented</a:t>
            </a:r>
            <a:r>
              <a:rPr spc="85" dirty="0"/>
              <a:t> </a:t>
            </a:r>
            <a:r>
              <a:rPr spc="290" dirty="0"/>
              <a:t>By</a:t>
            </a:r>
            <a:r>
              <a:rPr spc="85" dirty="0"/>
              <a:t> </a:t>
            </a:r>
            <a:r>
              <a:rPr spc="-50" dirty="0"/>
              <a:t>:</a:t>
            </a:r>
          </a:p>
          <a:p>
            <a:pPr marR="5080" algn="r">
              <a:lnSpc>
                <a:spcPts val="2385"/>
              </a:lnSpc>
            </a:pPr>
            <a:r>
              <a:rPr b="1" spc="225" dirty="0">
                <a:latin typeface="Calibri"/>
                <a:cs typeface="Calibri"/>
              </a:rPr>
              <a:t>Eleanor</a:t>
            </a:r>
            <a:r>
              <a:rPr b="1" spc="110" dirty="0">
                <a:latin typeface="Calibri"/>
                <a:cs typeface="Calibri"/>
              </a:rPr>
              <a:t> </a:t>
            </a:r>
            <a:r>
              <a:rPr b="1" spc="220" dirty="0">
                <a:latin typeface="Calibri"/>
                <a:cs typeface="Calibri"/>
              </a:rPr>
              <a:t>Fitzgerald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4400" y="411480"/>
            <a:ext cx="16459200" cy="1645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4400" y="2366010"/>
            <a:ext cx="1645920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4824933" y="8939538"/>
            <a:ext cx="2447290" cy="6369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B14F31"/>
                </a:solidFill>
                <a:latin typeface="Calibri"/>
                <a:cs typeface="Calibri"/>
              </a:defRPr>
            </a:lvl1pPr>
          </a:lstStyle>
          <a:p>
            <a:pPr marR="71120" algn="r">
              <a:lnSpc>
                <a:spcPts val="2385"/>
              </a:lnSpc>
              <a:spcBef>
                <a:spcPts val="35"/>
              </a:spcBef>
            </a:pPr>
            <a:r>
              <a:rPr spc="204" dirty="0"/>
              <a:t>Presented</a:t>
            </a:r>
            <a:r>
              <a:rPr spc="85" dirty="0"/>
              <a:t> </a:t>
            </a:r>
            <a:r>
              <a:rPr spc="290" dirty="0"/>
              <a:t>By</a:t>
            </a:r>
            <a:r>
              <a:rPr spc="85" dirty="0"/>
              <a:t> </a:t>
            </a:r>
            <a:r>
              <a:rPr spc="-50" dirty="0"/>
              <a:t>:</a:t>
            </a:r>
          </a:p>
          <a:p>
            <a:pPr marR="5080" algn="r">
              <a:lnSpc>
                <a:spcPts val="2385"/>
              </a:lnSpc>
            </a:pPr>
            <a:r>
              <a:rPr b="1" spc="225" dirty="0">
                <a:latin typeface="Calibri"/>
                <a:cs typeface="Calibri"/>
              </a:rPr>
              <a:t>Eleanor</a:t>
            </a:r>
            <a:r>
              <a:rPr b="1" spc="110" dirty="0">
                <a:latin typeface="Calibri"/>
                <a:cs typeface="Calibri"/>
              </a:rPr>
              <a:t> </a:t>
            </a:r>
            <a:r>
              <a:rPr b="1" spc="220" dirty="0">
                <a:latin typeface="Calibri"/>
                <a:cs typeface="Calibri"/>
              </a:rPr>
              <a:t>Fitzgerald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4976767-1984-62A2-030C-825C748CEE04}"/>
              </a:ext>
            </a:extLst>
          </p:cNvPr>
          <p:cNvSpPr/>
          <p:nvPr/>
        </p:nvSpPr>
        <p:spPr>
          <a:xfrm>
            <a:off x="87444" y="0"/>
            <a:ext cx="18113112" cy="10286999"/>
          </a:xfrm>
          <a:custGeom>
            <a:avLst/>
            <a:gdLst/>
            <a:ahLst/>
            <a:cxnLst/>
            <a:rect l="l" t="t" r="r" b="b"/>
            <a:pathLst>
              <a:path w="8361041" h="6410935">
                <a:moveTo>
                  <a:pt x="0" y="0"/>
                </a:moveTo>
                <a:lnTo>
                  <a:pt x="8361041" y="0"/>
                </a:lnTo>
                <a:lnTo>
                  <a:pt x="8361041" y="6410935"/>
                </a:lnTo>
                <a:lnTo>
                  <a:pt x="0" y="641093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839" r="-1839" b="-3102"/>
            </a:stretch>
          </a:blipFill>
        </p:spPr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A64831-784D-C533-A631-17EA16D29F08}"/>
              </a:ext>
            </a:extLst>
          </p:cNvPr>
          <p:cNvSpPr txBox="1"/>
          <p:nvPr/>
        </p:nvSpPr>
        <p:spPr>
          <a:xfrm>
            <a:off x="9176657" y="8343900"/>
            <a:ext cx="92851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NAME</a:t>
            </a:r>
            <a:r>
              <a:rPr lang="en-US" sz="3600" dirty="0">
                <a:solidFill>
                  <a:srgbClr val="FF0000"/>
                </a:solidFill>
              </a:rPr>
              <a:t> :   </a:t>
            </a:r>
            <a:r>
              <a:rPr lang="en-US" sz="3600" dirty="0" err="1">
                <a:solidFill>
                  <a:srgbClr val="FF0000"/>
                </a:solidFill>
              </a:rPr>
              <a:t>Yuvaraju</a:t>
            </a:r>
            <a:endParaRPr lang="en-US" sz="3600" dirty="0">
              <a:solidFill>
                <a:srgbClr val="FF0000"/>
              </a:solidFill>
            </a:endParaRPr>
          </a:p>
          <a:p>
            <a:r>
              <a:rPr lang="en-US" sz="3200" dirty="0">
                <a:solidFill>
                  <a:srgbClr val="FF0000"/>
                </a:solidFill>
              </a:rPr>
              <a:t>BATCH NO  </a:t>
            </a:r>
            <a:r>
              <a:rPr lang="en-US" sz="3600" dirty="0">
                <a:solidFill>
                  <a:srgbClr val="FF0000"/>
                </a:solidFill>
              </a:rPr>
              <a:t>: 403</a:t>
            </a:r>
          </a:p>
          <a:p>
            <a:r>
              <a:rPr lang="en-US" sz="3200" dirty="0">
                <a:solidFill>
                  <a:srgbClr val="FF0000"/>
                </a:solidFill>
              </a:rPr>
              <a:t>BRANCH </a:t>
            </a:r>
            <a:r>
              <a:rPr lang="en-US" sz="3600" dirty="0">
                <a:solidFill>
                  <a:srgbClr val="FF0000"/>
                </a:solidFill>
              </a:rPr>
              <a:t>:  </a:t>
            </a:r>
            <a:r>
              <a:rPr lang="en-US" sz="3600" dirty="0" err="1">
                <a:solidFill>
                  <a:srgbClr val="FF0000"/>
                </a:solidFill>
              </a:rPr>
              <a:t>Innomaticks</a:t>
            </a:r>
            <a:r>
              <a:rPr lang="en-US" sz="3600" dirty="0">
                <a:solidFill>
                  <a:srgbClr val="FF0000"/>
                </a:solidFill>
              </a:rPr>
              <a:t> Research Labs,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AA850D-085A-1425-F91F-F01F25490210}"/>
              </a:ext>
            </a:extLst>
          </p:cNvPr>
          <p:cNvSpPr txBox="1"/>
          <p:nvPr/>
        </p:nvSpPr>
        <p:spPr>
          <a:xfrm>
            <a:off x="4038600" y="5981700"/>
            <a:ext cx="11353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Telecom Customer Churn Analysis</a:t>
            </a:r>
            <a:endParaRPr lang="en-US" sz="2400" dirty="0">
              <a:latin typeface="Calibri"/>
              <a:cs typeface="Calibri"/>
            </a:endParaRPr>
          </a:p>
          <a:p>
            <a:endParaRPr lang="en-IN" sz="4800" dirty="0"/>
          </a:p>
        </p:txBody>
      </p:sp>
    </p:spTree>
    <p:extLst>
      <p:ext uri="{BB962C8B-B14F-4D97-AF65-F5344CB8AC3E}">
        <p14:creationId xmlns:p14="http://schemas.microsoft.com/office/powerpoint/2010/main" val="3643942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399337D-0A0C-FC37-C1E5-6470362C5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D70E725F-75F2-3CA2-B888-765DA6AAD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813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20AE1C5-1D8C-8C0B-116A-A53AD7D6C5C6}"/>
              </a:ext>
            </a:extLst>
          </p:cNvPr>
          <p:cNvSpPr txBox="1"/>
          <p:nvPr/>
        </p:nvSpPr>
        <p:spPr>
          <a:xfrm>
            <a:off x="1447800" y="-21771"/>
            <a:ext cx="1043940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lang="en-US" sz="3600" b="1" dirty="0">
                <a:solidFill>
                  <a:srgbClr val="FF0000"/>
                </a:solidFill>
                <a:latin typeface="Calibri"/>
                <a:cs typeface="Calibri"/>
              </a:rPr>
              <a:t>                   INTRODUCTION 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19BA4C-338F-0038-5ABB-66DB39E683B6}"/>
              </a:ext>
            </a:extLst>
          </p:cNvPr>
          <p:cNvSpPr txBox="1"/>
          <p:nvPr/>
        </p:nvSpPr>
        <p:spPr>
          <a:xfrm>
            <a:off x="228600" y="880190"/>
            <a:ext cx="17906999" cy="35394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3200" b="1" dirty="0"/>
              <a:t> Telecom Customer Churn Analysis</a:t>
            </a:r>
            <a:r>
              <a:rPr lang="en-US" sz="3200" dirty="0"/>
              <a:t> is the process of finding out   </a:t>
            </a:r>
            <a:r>
              <a:rPr lang="en-US" sz="3200" b="1" dirty="0"/>
              <a:t>why customers are leaving a telecom company</a:t>
            </a:r>
            <a:r>
              <a:rPr lang="en-US" sz="3200" dirty="0"/>
              <a:t> (disconnecting services) and </a:t>
            </a:r>
            <a:r>
              <a:rPr lang="en-US" sz="3200" b="1" dirty="0"/>
              <a:t>which customers are likely to leave in the future</a:t>
            </a:r>
            <a:r>
              <a:rPr lang="en-US" sz="3200" dirty="0"/>
              <a:t>.</a:t>
            </a:r>
          </a:p>
          <a:p>
            <a:endParaRPr lang="en-US" sz="3200" dirty="0"/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b="1" dirty="0"/>
              <a:t>  Churn</a:t>
            </a:r>
            <a:r>
              <a:rPr lang="en-US" sz="3200" dirty="0"/>
              <a:t> means </a:t>
            </a:r>
            <a:r>
              <a:rPr lang="en-US" sz="3200" b="1" dirty="0"/>
              <a:t>customers stopping their service..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b="1" dirty="0"/>
              <a:t>  Churn analysis</a:t>
            </a:r>
            <a:r>
              <a:rPr lang="en-US" sz="3200" dirty="0"/>
              <a:t> means </a:t>
            </a:r>
            <a:r>
              <a:rPr lang="en-US" sz="3200" b="1" dirty="0"/>
              <a:t>studying customer </a:t>
            </a:r>
            <a:r>
              <a:rPr lang="en-US" sz="3200" b="1" dirty="0" err="1"/>
              <a:t>behaviour</a:t>
            </a:r>
            <a:r>
              <a:rPr lang="en-US" sz="3200" b="1" dirty="0"/>
              <a:t> to    	understand and reduce churn</a:t>
            </a:r>
          </a:p>
          <a:p>
            <a:endParaRPr lang="en-US" sz="3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178968-CBEE-696D-D6F4-6B05290290F3}"/>
              </a:ext>
            </a:extLst>
          </p:cNvPr>
          <p:cNvSpPr txBox="1"/>
          <p:nvPr/>
        </p:nvSpPr>
        <p:spPr>
          <a:xfrm>
            <a:off x="228600" y="4811600"/>
            <a:ext cx="17650023" cy="44012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sz="4000" b="1" dirty="0">
                <a:solidFill>
                  <a:srgbClr val="FF0000"/>
                </a:solidFill>
              </a:rPr>
              <a:t> Purpose of Churn Analysis</a:t>
            </a:r>
          </a:p>
          <a:p>
            <a:endParaRPr lang="en-US" sz="4000" b="1" dirty="0">
              <a:solidFill>
                <a:srgbClr val="FF0000"/>
              </a:solidFill>
            </a:endParaRPr>
          </a:p>
          <a:p>
            <a:pPr marL="571500" indent="-571500">
              <a:buFont typeface="Wingdings" panose="05000000000000000000" pitchFamily="2" charset="2"/>
              <a:buChar char="Ø"/>
            </a:pPr>
            <a:r>
              <a:rPr lang="en-US" sz="4000" dirty="0"/>
              <a:t>  Reduce customer loss</a:t>
            </a:r>
          </a:p>
          <a:p>
            <a:pPr marL="571500" indent="-571500">
              <a:buFont typeface="Wingdings" panose="05000000000000000000" pitchFamily="2" charset="2"/>
              <a:buChar char="Ø"/>
            </a:pPr>
            <a:r>
              <a:rPr lang="en-US" sz="4000" dirty="0"/>
              <a:t>   Identify high-risk customers</a:t>
            </a:r>
          </a:p>
          <a:p>
            <a:pPr marL="571500" indent="-571500">
              <a:buFont typeface="Wingdings" panose="05000000000000000000" pitchFamily="2" charset="2"/>
              <a:buChar char="Ø"/>
            </a:pPr>
            <a:r>
              <a:rPr lang="en-US" sz="4000" dirty="0"/>
              <a:t>  Improve customer experience</a:t>
            </a:r>
          </a:p>
          <a:p>
            <a:pPr marL="571500" indent="-571500">
              <a:buFont typeface="Wingdings" panose="05000000000000000000" pitchFamily="2" charset="2"/>
              <a:buChar char="Ø"/>
            </a:pPr>
            <a:r>
              <a:rPr lang="en-US" sz="4000" dirty="0"/>
              <a:t>   Increase company revenue</a:t>
            </a:r>
          </a:p>
          <a:p>
            <a:pPr marL="571500" indent="-571500">
              <a:buFont typeface="Wingdings" panose="05000000000000000000" pitchFamily="2" charset="2"/>
              <a:buChar char="Ø"/>
            </a:pPr>
            <a:r>
              <a:rPr lang="en-US" sz="4000" dirty="0"/>
              <a:t>   Make better business decisions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9AA041-1262-7EAA-F4DF-FAE25051B34F}"/>
              </a:ext>
            </a:extLst>
          </p:cNvPr>
          <p:cNvSpPr txBox="1"/>
          <p:nvPr/>
        </p:nvSpPr>
        <p:spPr>
          <a:xfrm>
            <a:off x="5524333" y="9097266"/>
            <a:ext cx="1247270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Imagine you are running a telecom company like Airtel or Jio.</a:t>
            </a:r>
          </a:p>
          <a:p>
            <a:r>
              <a:rPr lang="en-US" sz="2800" dirty="0"/>
              <a:t>Some customers suddenly stop using your service → </a:t>
            </a:r>
            <a:r>
              <a:rPr lang="en-US" sz="2800" b="1" dirty="0"/>
              <a:t>this is churn</a:t>
            </a:r>
            <a:r>
              <a:rPr lang="en-US" sz="28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372600" cy="10287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E622795-8EF5-D136-B201-BA08FD9E60EB}"/>
              </a:ext>
            </a:extLst>
          </p:cNvPr>
          <p:cNvSpPr txBox="1"/>
          <p:nvPr/>
        </p:nvSpPr>
        <p:spPr>
          <a:xfrm>
            <a:off x="10134600" y="1104900"/>
            <a:ext cx="6553200" cy="76944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4400" b="1" spc="-10" dirty="0">
                <a:solidFill>
                  <a:srgbClr val="FF0000"/>
                </a:solidFill>
              </a:rPr>
              <a:t>AGENDA :</a:t>
            </a:r>
            <a:endParaRPr lang="en-IN" sz="4400" b="1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1BEF9E-929C-63AE-B53A-B4FD341DC560}"/>
              </a:ext>
            </a:extLst>
          </p:cNvPr>
          <p:cNvSpPr txBox="1"/>
          <p:nvPr/>
        </p:nvSpPr>
        <p:spPr>
          <a:xfrm>
            <a:off x="9906000" y="2324100"/>
            <a:ext cx="8458200" cy="6014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8450" marR="3735704" indent="-285750">
              <a:lnSpc>
                <a:spcPct val="150000"/>
              </a:lnSpc>
              <a:spcBef>
                <a:spcPts val="95"/>
              </a:spcBef>
              <a:buFont typeface="Wingdings" panose="05000000000000000000" pitchFamily="2" charset="2"/>
              <a:buChar char="Ø"/>
            </a:pPr>
            <a:r>
              <a:rPr lang="en-US" sz="3600" b="1" dirty="0">
                <a:latin typeface="Times New Roman"/>
                <a:cs typeface="Times New Roman"/>
              </a:rPr>
              <a:t>   Project</a:t>
            </a:r>
            <a:r>
              <a:rPr lang="en-US" sz="3600" b="1" spc="-10" dirty="0">
                <a:latin typeface="Times New Roman"/>
                <a:cs typeface="Times New Roman"/>
              </a:rPr>
              <a:t> Overview </a:t>
            </a:r>
          </a:p>
          <a:p>
            <a:pPr marL="298450" marR="3735704" indent="-285750">
              <a:lnSpc>
                <a:spcPct val="150000"/>
              </a:lnSpc>
              <a:spcBef>
                <a:spcPts val="95"/>
              </a:spcBef>
              <a:buFont typeface="Wingdings" panose="05000000000000000000" pitchFamily="2" charset="2"/>
              <a:buChar char="Ø"/>
            </a:pPr>
            <a:r>
              <a:rPr lang="en-US" sz="3600" b="1" dirty="0">
                <a:latin typeface="Times New Roman"/>
                <a:cs typeface="Times New Roman"/>
              </a:rPr>
              <a:t>    Data </a:t>
            </a:r>
            <a:r>
              <a:rPr lang="en-US" sz="3600" b="1" spc="-10" dirty="0">
                <a:latin typeface="Times New Roman"/>
                <a:cs typeface="Times New Roman"/>
              </a:rPr>
              <a:t>Source</a:t>
            </a:r>
            <a:r>
              <a:rPr lang="en-US" sz="3600" b="1" spc="1025" dirty="0">
                <a:latin typeface="Times New Roman"/>
                <a:cs typeface="Times New Roman"/>
              </a:rPr>
              <a:t> </a:t>
            </a:r>
          </a:p>
          <a:p>
            <a:pPr marL="298450" marR="3735704" indent="-285750">
              <a:lnSpc>
                <a:spcPct val="150000"/>
              </a:lnSpc>
              <a:spcBef>
                <a:spcPts val="95"/>
              </a:spcBef>
              <a:buFont typeface="Wingdings" panose="05000000000000000000" pitchFamily="2" charset="2"/>
              <a:buChar char="Ø"/>
            </a:pPr>
            <a:r>
              <a:rPr lang="en-US" sz="3600" b="1" dirty="0">
                <a:latin typeface="Times New Roman"/>
                <a:cs typeface="Times New Roman"/>
              </a:rPr>
              <a:t>    Data</a:t>
            </a:r>
            <a:r>
              <a:rPr lang="en-US" sz="3600" b="1" spc="-10" dirty="0">
                <a:latin typeface="Times New Roman"/>
                <a:cs typeface="Times New Roman"/>
              </a:rPr>
              <a:t> Preparation</a:t>
            </a:r>
            <a:endParaRPr lang="en-US" sz="3600" dirty="0">
              <a:latin typeface="Times New Roman"/>
              <a:cs typeface="Times New Roman"/>
            </a:endParaRPr>
          </a:p>
          <a:p>
            <a:pPr marL="298450" marR="5080" indent="-285750">
              <a:lnSpc>
                <a:spcPct val="150000"/>
              </a:lnSpc>
              <a:spcBef>
                <a:spcPts val="320"/>
              </a:spcBef>
              <a:buFont typeface="Wingdings" panose="05000000000000000000" pitchFamily="2" charset="2"/>
              <a:buChar char="Ø"/>
            </a:pPr>
            <a:r>
              <a:rPr lang="en-US" sz="3600" b="1" dirty="0">
                <a:latin typeface="Times New Roman"/>
                <a:cs typeface="Times New Roman"/>
              </a:rPr>
              <a:t>     Dashboard</a:t>
            </a:r>
            <a:r>
              <a:rPr lang="en-US" sz="3600" b="1" spc="-10" dirty="0">
                <a:latin typeface="Times New Roman"/>
                <a:cs typeface="Times New Roman"/>
              </a:rPr>
              <a:t> Visualizations</a:t>
            </a:r>
          </a:p>
          <a:p>
            <a:pPr marL="298450" marR="5080" indent="-285750">
              <a:lnSpc>
                <a:spcPct val="150000"/>
              </a:lnSpc>
              <a:spcBef>
                <a:spcPts val="320"/>
              </a:spcBef>
              <a:buFont typeface="Wingdings" panose="05000000000000000000" pitchFamily="2" charset="2"/>
              <a:buChar char="Ø"/>
            </a:pPr>
            <a:r>
              <a:rPr lang="en-US" sz="3600" b="1" spc="-10" dirty="0">
                <a:latin typeface="Times New Roman"/>
                <a:cs typeface="Times New Roman"/>
              </a:rPr>
              <a:t>     </a:t>
            </a:r>
            <a:r>
              <a:rPr lang="en-US" sz="3600" b="1" dirty="0">
                <a:latin typeface="Times New Roman"/>
                <a:cs typeface="Times New Roman"/>
              </a:rPr>
              <a:t>Applications &amp; </a:t>
            </a:r>
            <a:r>
              <a:rPr lang="en-US" sz="3600" b="1" spc="-10" dirty="0">
                <a:latin typeface="Times New Roman"/>
                <a:cs typeface="Times New Roman"/>
              </a:rPr>
              <a:t>Recommendations</a:t>
            </a:r>
          </a:p>
          <a:p>
            <a:pPr marL="298450" marR="5080" indent="-285750">
              <a:lnSpc>
                <a:spcPct val="150000"/>
              </a:lnSpc>
              <a:spcBef>
                <a:spcPts val="320"/>
              </a:spcBef>
              <a:buFont typeface="Wingdings" panose="05000000000000000000" pitchFamily="2" charset="2"/>
              <a:buChar char="Ø"/>
            </a:pPr>
            <a:r>
              <a:rPr lang="en-US" sz="3600" b="1" spc="-10" dirty="0">
                <a:latin typeface="Times New Roman"/>
                <a:cs typeface="Times New Roman"/>
              </a:rPr>
              <a:t>     Conclusion</a:t>
            </a:r>
            <a:endParaRPr lang="en-US" sz="3600" dirty="0">
              <a:latin typeface="Times New Roman"/>
              <a:cs typeface="Times New Roman"/>
            </a:endParaRPr>
          </a:p>
          <a:p>
            <a:pPr marL="12700">
              <a:lnSpc>
                <a:spcPct val="150000"/>
              </a:lnSpc>
              <a:spcBef>
                <a:spcPts val="459"/>
              </a:spcBef>
            </a:pPr>
            <a:endParaRPr lang="en-US" sz="36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8601" y="95250"/>
            <a:ext cx="7391399" cy="10096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2AC4E17-7930-5601-22B2-42C204892E7D}"/>
              </a:ext>
            </a:extLst>
          </p:cNvPr>
          <p:cNvSpPr txBox="1"/>
          <p:nvPr/>
        </p:nvSpPr>
        <p:spPr>
          <a:xfrm>
            <a:off x="8534400" y="114300"/>
            <a:ext cx="8839200" cy="70788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sz="4000" b="1" spc="-10" dirty="0">
                <a:solidFill>
                  <a:srgbClr val="FF0000"/>
                </a:solidFill>
              </a:rPr>
              <a:t>PROJECT  OVERVIEW :</a:t>
            </a:r>
            <a:endParaRPr lang="en-IN" sz="4000" b="1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671C66-B7A8-861F-C81A-886FC1D78E44}"/>
              </a:ext>
            </a:extLst>
          </p:cNvPr>
          <p:cNvSpPr txBox="1"/>
          <p:nvPr/>
        </p:nvSpPr>
        <p:spPr>
          <a:xfrm>
            <a:off x="8262257" y="822186"/>
            <a:ext cx="10058400" cy="8530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9900" marR="306070" indent="-457200">
              <a:lnSpc>
                <a:spcPct val="131500"/>
              </a:lnSpc>
              <a:spcBef>
                <a:spcPts val="100"/>
              </a:spcBef>
              <a:buFont typeface="Wingdings" panose="05000000000000000000" pitchFamily="2" charset="2"/>
              <a:buChar char="v"/>
            </a:pPr>
            <a:r>
              <a:rPr lang="en-US" sz="2800" b="1" dirty="0">
                <a:latin typeface="Times New Roman"/>
                <a:cs typeface="Times New Roman"/>
              </a:rPr>
              <a:t>To</a:t>
            </a:r>
            <a:r>
              <a:rPr lang="en-US" sz="2800" b="1" spc="-9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analyze</a:t>
            </a: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customer</a:t>
            </a:r>
            <a:r>
              <a:rPr lang="en-US" sz="2800" b="1" spc="-9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churn</a:t>
            </a: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patterns</a:t>
            </a:r>
            <a:r>
              <a:rPr lang="en-US" sz="2800" b="1" spc="-9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and</a:t>
            </a: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identify</a:t>
            </a:r>
            <a:r>
              <a:rPr lang="en-US" sz="2800" b="1" spc="-9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the</a:t>
            </a: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key</a:t>
            </a:r>
            <a:r>
              <a:rPr lang="en-US" sz="2800" b="1" spc="-9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factors</a:t>
            </a: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influencing</a:t>
            </a:r>
            <a:r>
              <a:rPr lang="en-US" sz="2800" b="1" spc="-9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customer</a:t>
            </a: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spc="-10" dirty="0">
                <a:latin typeface="Times New Roman"/>
                <a:cs typeface="Times New Roman"/>
              </a:rPr>
              <a:t>attrition. </a:t>
            </a:r>
            <a:endParaRPr lang="en-US" sz="2800" b="1" dirty="0">
              <a:latin typeface="Times New Roman"/>
              <a:cs typeface="Times New Roman"/>
            </a:endParaRPr>
          </a:p>
          <a:p>
            <a:pPr marL="469900" marR="306070" indent="-457200">
              <a:lnSpc>
                <a:spcPct val="131500"/>
              </a:lnSpc>
              <a:spcBef>
                <a:spcPts val="100"/>
              </a:spcBef>
              <a:buFont typeface="Wingdings" panose="05000000000000000000" pitchFamily="2" charset="2"/>
              <a:buChar char="v"/>
            </a:pP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understand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customer</a:t>
            </a: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behavior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based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on</a:t>
            </a: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spc="-10" dirty="0">
                <a:latin typeface="Times New Roman"/>
                <a:cs typeface="Times New Roman"/>
              </a:rPr>
              <a:t>demographics,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service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spc="-10" dirty="0">
                <a:latin typeface="Times New Roman"/>
                <a:cs typeface="Times New Roman"/>
              </a:rPr>
              <a:t>subscriptions,</a:t>
            </a: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and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spc="-10" dirty="0">
                <a:latin typeface="Times New Roman"/>
                <a:cs typeface="Times New Roman"/>
              </a:rPr>
              <a:t>billing information.</a:t>
            </a:r>
            <a:endParaRPr lang="en-US" sz="2800" dirty="0">
              <a:latin typeface="Times New Roman"/>
              <a:cs typeface="Times New Roman"/>
            </a:endParaRPr>
          </a:p>
          <a:p>
            <a:pPr marL="469900" marR="164465" indent="-457200">
              <a:lnSpc>
                <a:spcPts val="4580"/>
              </a:lnSpc>
              <a:spcBef>
                <a:spcPts val="330"/>
              </a:spcBef>
              <a:buFont typeface="Wingdings" panose="05000000000000000000" pitchFamily="2" charset="2"/>
              <a:buChar char="v"/>
            </a:pPr>
            <a:r>
              <a:rPr lang="en-US" sz="2800" b="1" dirty="0">
                <a:latin typeface="Times New Roman"/>
                <a:cs typeface="Times New Roman"/>
              </a:rPr>
              <a:t>To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measure</a:t>
            </a: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churn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rate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across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various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customer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segments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such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as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contract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type,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internet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spc="-10" dirty="0">
                <a:latin typeface="Times New Roman"/>
                <a:cs typeface="Times New Roman"/>
              </a:rPr>
              <a:t>service, </a:t>
            </a:r>
            <a:r>
              <a:rPr lang="en-US" sz="2800" b="1" dirty="0">
                <a:latin typeface="Times New Roman"/>
                <a:cs typeface="Times New Roman"/>
              </a:rPr>
              <a:t>and</a:t>
            </a:r>
            <a:r>
              <a:rPr lang="en-US" sz="2800" b="1" spc="-9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payment</a:t>
            </a:r>
            <a:r>
              <a:rPr lang="en-US" sz="2800" b="1" spc="-85" dirty="0">
                <a:latin typeface="Times New Roman"/>
                <a:cs typeface="Times New Roman"/>
              </a:rPr>
              <a:t> </a:t>
            </a:r>
            <a:r>
              <a:rPr lang="en-US" sz="2800" b="1" spc="-10" dirty="0">
                <a:latin typeface="Times New Roman"/>
                <a:cs typeface="Times New Roman"/>
              </a:rPr>
              <a:t>method.</a:t>
            </a:r>
            <a:endParaRPr lang="en-US" sz="2800" dirty="0">
              <a:latin typeface="Times New Roman"/>
              <a:cs typeface="Times New Roman"/>
            </a:endParaRPr>
          </a:p>
          <a:p>
            <a:pPr marL="469900" indent="-457200">
              <a:lnSpc>
                <a:spcPct val="100000"/>
              </a:lnSpc>
              <a:spcBef>
                <a:spcPts val="755"/>
              </a:spcBef>
              <a:buFont typeface="Wingdings" panose="05000000000000000000" pitchFamily="2" charset="2"/>
              <a:buChar char="v"/>
            </a:pPr>
            <a:r>
              <a:rPr lang="en-US" sz="2800" b="1" dirty="0">
                <a:latin typeface="Times New Roman"/>
                <a:cs typeface="Times New Roman"/>
              </a:rPr>
              <a:t>To</a:t>
            </a:r>
            <a:r>
              <a:rPr lang="en-US" sz="2800" b="1" spc="-10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visualize</a:t>
            </a:r>
            <a:r>
              <a:rPr lang="en-US" sz="2800" b="1" spc="-10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business</a:t>
            </a:r>
            <a:r>
              <a:rPr lang="en-US" sz="2800" b="1" spc="-10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performance</a:t>
            </a:r>
            <a:r>
              <a:rPr lang="en-US" sz="2800" b="1" spc="-10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using</a:t>
            </a:r>
            <a:r>
              <a:rPr lang="en-US" sz="2800" b="1" spc="-10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interactive</a:t>
            </a:r>
            <a:r>
              <a:rPr lang="en-US" sz="2800" b="1" spc="-10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Power</a:t>
            </a:r>
            <a:r>
              <a:rPr lang="en-US" sz="2800" b="1" spc="-10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BI</a:t>
            </a:r>
            <a:r>
              <a:rPr lang="en-US" sz="2800" b="1" spc="-10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dashboards</a:t>
            </a:r>
            <a:r>
              <a:rPr lang="en-US" sz="2800" b="1" spc="-10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and</a:t>
            </a:r>
            <a:r>
              <a:rPr lang="en-US" sz="2800" b="1" spc="-105" dirty="0">
                <a:latin typeface="Times New Roman"/>
                <a:cs typeface="Times New Roman"/>
              </a:rPr>
              <a:t> </a:t>
            </a:r>
            <a:r>
              <a:rPr lang="en-US" sz="2800" b="1" spc="-10" dirty="0">
                <a:latin typeface="Times New Roman"/>
                <a:cs typeface="Times New Roman"/>
              </a:rPr>
              <a:t>KPIs.</a:t>
            </a:r>
            <a:endParaRPr lang="en-US" sz="2800" dirty="0">
              <a:latin typeface="Times New Roman"/>
              <a:cs typeface="Times New Roman"/>
            </a:endParaRPr>
          </a:p>
          <a:p>
            <a:pPr marL="469900" marR="1613535" indent="-457200">
              <a:lnSpc>
                <a:spcPts val="4580"/>
              </a:lnSpc>
              <a:spcBef>
                <a:spcPts val="330"/>
              </a:spcBef>
              <a:buFont typeface="Wingdings" panose="05000000000000000000" pitchFamily="2" charset="2"/>
              <a:buChar char="v"/>
            </a:pPr>
            <a:r>
              <a:rPr lang="en-US" sz="2800" b="1" dirty="0">
                <a:latin typeface="Times New Roman"/>
                <a:cs typeface="Times New Roman"/>
              </a:rPr>
              <a:t>To</a:t>
            </a:r>
            <a:r>
              <a:rPr lang="en-US" sz="2800" b="1" spc="-8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predict</a:t>
            </a:r>
            <a:r>
              <a:rPr lang="en-US" sz="2800" b="1" spc="-8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churn</a:t>
            </a:r>
            <a:r>
              <a:rPr lang="en-US" sz="2800" b="1" spc="-8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risk</a:t>
            </a:r>
            <a:r>
              <a:rPr lang="en-US" sz="2800" b="1" spc="-8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and</a:t>
            </a:r>
            <a:r>
              <a:rPr lang="en-US" sz="2800" b="1" spc="-8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highlight</a:t>
            </a:r>
            <a:r>
              <a:rPr lang="en-US" sz="2800" b="1" spc="-80" dirty="0">
                <a:latin typeface="Times New Roman"/>
                <a:cs typeface="Times New Roman"/>
              </a:rPr>
              <a:t> </a:t>
            </a:r>
            <a:r>
              <a:rPr lang="en-US" sz="2800" b="1" spc="-20" dirty="0">
                <a:latin typeface="Times New Roman"/>
                <a:cs typeface="Times New Roman"/>
              </a:rPr>
              <a:t>high-</a:t>
            </a:r>
            <a:r>
              <a:rPr lang="en-US" sz="2800" b="1" dirty="0">
                <a:latin typeface="Times New Roman"/>
                <a:cs typeface="Times New Roman"/>
              </a:rPr>
              <a:t>risk</a:t>
            </a:r>
            <a:r>
              <a:rPr lang="en-US" sz="2800" b="1" spc="-8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customer</a:t>
            </a:r>
            <a:r>
              <a:rPr lang="en-US" sz="2800" b="1" spc="-8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segments</a:t>
            </a:r>
            <a:r>
              <a:rPr lang="en-US" sz="2800" b="1" spc="-8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for</a:t>
            </a:r>
            <a:r>
              <a:rPr lang="en-US" sz="2800" b="1" spc="-7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targeted</a:t>
            </a:r>
            <a:r>
              <a:rPr lang="en-US" sz="2800" b="1" spc="-80" dirty="0">
                <a:latin typeface="Times New Roman"/>
                <a:cs typeface="Times New Roman"/>
              </a:rPr>
              <a:t> </a:t>
            </a:r>
            <a:r>
              <a:rPr lang="en-US" sz="2800" b="1" spc="-10" dirty="0">
                <a:latin typeface="Times New Roman"/>
                <a:cs typeface="Times New Roman"/>
              </a:rPr>
              <a:t>retention strategies.</a:t>
            </a:r>
            <a:endParaRPr lang="en-US" sz="2800" dirty="0">
              <a:latin typeface="Times New Roman"/>
              <a:cs typeface="Times New Roman"/>
            </a:endParaRPr>
          </a:p>
          <a:p>
            <a:pPr marL="536575" indent="-457200">
              <a:lnSpc>
                <a:spcPct val="100000"/>
              </a:lnSpc>
              <a:spcBef>
                <a:spcPts val="830"/>
              </a:spcBef>
              <a:buFont typeface="Wingdings" panose="05000000000000000000" pitchFamily="2" charset="2"/>
              <a:buChar char="v"/>
            </a:pPr>
            <a:r>
              <a:rPr lang="en-US" sz="2800" b="1" dirty="0">
                <a:latin typeface="Times New Roman"/>
                <a:cs typeface="Times New Roman"/>
              </a:rPr>
              <a:t>To</a:t>
            </a:r>
            <a:r>
              <a:rPr lang="en-US" sz="2800" b="1" spc="-6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support</a:t>
            </a:r>
            <a:r>
              <a:rPr lang="en-US" sz="2800" b="1" spc="-55" dirty="0">
                <a:latin typeface="Times New Roman"/>
                <a:cs typeface="Times New Roman"/>
              </a:rPr>
              <a:t> </a:t>
            </a:r>
            <a:r>
              <a:rPr lang="en-US" sz="2800" b="1" spc="-10" dirty="0">
                <a:latin typeface="Times New Roman"/>
                <a:cs typeface="Times New Roman"/>
              </a:rPr>
              <a:t>data-</a:t>
            </a:r>
            <a:r>
              <a:rPr lang="en-US" sz="2800" b="1" dirty="0">
                <a:latin typeface="Times New Roman"/>
                <a:cs typeface="Times New Roman"/>
              </a:rPr>
              <a:t>driven</a:t>
            </a:r>
            <a:r>
              <a:rPr lang="en-US" sz="2800" b="1" spc="-5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decisions</a:t>
            </a:r>
            <a:r>
              <a:rPr lang="en-US" sz="2800" b="1" spc="-5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that</a:t>
            </a:r>
            <a:r>
              <a:rPr lang="en-US" sz="2800" b="1" spc="-5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can</a:t>
            </a:r>
            <a:r>
              <a:rPr lang="en-US" sz="2800" b="1" spc="-5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reduce</a:t>
            </a:r>
            <a:r>
              <a:rPr lang="en-US" sz="2800" b="1" spc="-5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churn,</a:t>
            </a:r>
            <a:r>
              <a:rPr lang="en-US" sz="2800" b="1" spc="-5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increase</a:t>
            </a:r>
            <a:r>
              <a:rPr lang="en-US" sz="2800" b="1" spc="-5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customer</a:t>
            </a:r>
            <a:r>
              <a:rPr lang="en-US" sz="2800" b="1" spc="-55" dirty="0">
                <a:latin typeface="Times New Roman"/>
                <a:cs typeface="Times New Roman"/>
              </a:rPr>
              <a:t> </a:t>
            </a:r>
            <a:r>
              <a:rPr lang="en-US" sz="2800" b="1" spc="-10" dirty="0">
                <a:latin typeface="Times New Roman"/>
                <a:cs typeface="Times New Roman"/>
              </a:rPr>
              <a:t>satisfaction,</a:t>
            </a:r>
            <a:endParaRPr lang="en-US" sz="2800" dirty="0">
              <a:latin typeface="Times New Roman"/>
              <a:cs typeface="Times New Roman"/>
            </a:endParaRPr>
          </a:p>
          <a:p>
            <a:pPr marL="79375">
              <a:lnSpc>
                <a:spcPct val="100000"/>
              </a:lnSpc>
              <a:spcBef>
                <a:spcPts val="1260"/>
              </a:spcBef>
            </a:pPr>
            <a:r>
              <a:rPr lang="en-US" sz="2800" b="1" dirty="0">
                <a:latin typeface="Times New Roman"/>
                <a:cs typeface="Times New Roman"/>
              </a:rPr>
              <a:t>and</a:t>
            </a:r>
            <a:r>
              <a:rPr lang="en-US" sz="2800" b="1" spc="-55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improve</a:t>
            </a:r>
            <a:r>
              <a:rPr lang="en-US" sz="2800" b="1" spc="-50" dirty="0">
                <a:latin typeface="Times New Roman"/>
                <a:cs typeface="Times New Roman"/>
              </a:rPr>
              <a:t> </a:t>
            </a:r>
            <a:r>
              <a:rPr lang="en-US" sz="2800" b="1" dirty="0">
                <a:latin typeface="Times New Roman"/>
                <a:cs typeface="Times New Roman"/>
              </a:rPr>
              <a:t>revenue</a:t>
            </a:r>
            <a:r>
              <a:rPr lang="en-US" sz="2800" b="1" spc="-55" dirty="0">
                <a:latin typeface="Times New Roman"/>
                <a:cs typeface="Times New Roman"/>
              </a:rPr>
              <a:t> </a:t>
            </a:r>
            <a:r>
              <a:rPr lang="en-US" sz="2800" b="1" spc="-10" dirty="0">
                <a:latin typeface="Times New Roman"/>
                <a:cs typeface="Times New Roman"/>
              </a:rPr>
              <a:t>stability.</a:t>
            </a:r>
          </a:p>
          <a:p>
            <a:pPr marL="79375">
              <a:lnSpc>
                <a:spcPct val="100000"/>
              </a:lnSpc>
              <a:spcBef>
                <a:spcPts val="1260"/>
              </a:spcBef>
            </a:pPr>
            <a:endParaRPr lang="en-US" sz="2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object 2">
            <a:extLst>
              <a:ext uri="{FF2B5EF4-FFF2-40B4-BE49-F238E27FC236}">
                <a16:creationId xmlns:a16="http://schemas.microsoft.com/office/drawing/2014/main" id="{32B2303D-B8B8-4A17-CD6D-E8AF44F7BAE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-10886" y="266700"/>
            <a:ext cx="7402286" cy="990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F59138-0428-851F-8DD5-04282932C456}"/>
              </a:ext>
            </a:extLst>
          </p:cNvPr>
          <p:cNvSpPr txBox="1"/>
          <p:nvPr/>
        </p:nvSpPr>
        <p:spPr>
          <a:xfrm>
            <a:off x="8001000" y="163286"/>
            <a:ext cx="9677400" cy="70788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sz="4000" b="1" spc="-20" dirty="0">
                <a:solidFill>
                  <a:srgbClr val="FF0000"/>
                </a:solidFill>
              </a:rPr>
              <a:t>DATA  </a:t>
            </a:r>
            <a:r>
              <a:rPr lang="en-IN" sz="4000" b="1" spc="-10" dirty="0">
                <a:solidFill>
                  <a:srgbClr val="FF0000"/>
                </a:solidFill>
              </a:rPr>
              <a:t>PREPARATION :</a:t>
            </a:r>
            <a:endParaRPr lang="en-IN" sz="4000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2DEFCE-CE8C-00AD-DE52-66DFE1CF0216}"/>
              </a:ext>
            </a:extLst>
          </p:cNvPr>
          <p:cNvSpPr txBox="1"/>
          <p:nvPr/>
        </p:nvSpPr>
        <p:spPr>
          <a:xfrm>
            <a:off x="8001000" y="1126506"/>
            <a:ext cx="10058400" cy="90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5"/>
              </a:spcBef>
            </a:pPr>
            <a:r>
              <a:rPr lang="en-US" sz="2400" b="1" dirty="0">
                <a:latin typeface="Times New Roman"/>
                <a:cs typeface="Times New Roman"/>
              </a:rPr>
              <a:t>Imported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dataset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into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Power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BI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Desktop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from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Excel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file.</a:t>
            </a:r>
            <a:endParaRPr lang="en-US" sz="2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65"/>
              </a:spcBef>
            </a:pPr>
            <a:r>
              <a:rPr lang="en-US" sz="2400" b="1" dirty="0">
                <a:latin typeface="Times New Roman"/>
                <a:cs typeface="Times New Roman"/>
              </a:rPr>
              <a:t>Performed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data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cleaning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using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Power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Query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Editor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to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ensure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accuracy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and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consistency.</a:t>
            </a:r>
            <a:endParaRPr lang="en-US" sz="2400" dirty="0">
              <a:latin typeface="Times New Roman"/>
              <a:cs typeface="Times New Roman"/>
            </a:endParaRPr>
          </a:p>
          <a:p>
            <a:pPr marL="12700" marR="5080">
              <a:lnSpc>
                <a:spcPct val="131700"/>
              </a:lnSpc>
            </a:pPr>
            <a:r>
              <a:rPr lang="en-US" sz="2400" b="1" dirty="0">
                <a:latin typeface="Times New Roman"/>
                <a:cs typeface="Times New Roman"/>
              </a:rPr>
              <a:t>Checked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and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removed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null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values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in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columns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like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 err="1">
                <a:latin typeface="Times New Roman"/>
                <a:cs typeface="Times New Roman"/>
              </a:rPr>
              <a:t>TotalCharges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and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replaced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blanks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where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necessary. </a:t>
            </a:r>
            <a:r>
              <a:rPr lang="en-US" sz="2400" b="1" dirty="0">
                <a:latin typeface="Times New Roman"/>
                <a:cs typeface="Times New Roman"/>
              </a:rPr>
              <a:t>Converted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 err="1">
                <a:latin typeface="Times New Roman"/>
                <a:cs typeface="Times New Roman"/>
              </a:rPr>
              <a:t>TotalCharges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from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text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to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numeric.</a:t>
            </a:r>
            <a:endParaRPr lang="en-US" sz="2400" dirty="0">
              <a:latin typeface="Times New Roman"/>
              <a:cs typeface="Times New Roman"/>
            </a:endParaRPr>
          </a:p>
          <a:p>
            <a:pPr marL="12700" marR="668655">
              <a:lnSpc>
                <a:spcPct val="131700"/>
              </a:lnSpc>
            </a:pPr>
            <a:r>
              <a:rPr lang="en-US" sz="2400" b="1" dirty="0">
                <a:latin typeface="Times New Roman"/>
                <a:cs typeface="Times New Roman"/>
              </a:rPr>
              <a:t>Ensured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 err="1">
                <a:latin typeface="Times New Roman"/>
                <a:cs typeface="Times New Roman"/>
              </a:rPr>
              <a:t>SeniorCitizen</a:t>
            </a:r>
            <a:r>
              <a:rPr lang="en-US" sz="2400" b="1" dirty="0">
                <a:latin typeface="Times New Roman"/>
                <a:cs typeface="Times New Roman"/>
              </a:rPr>
              <a:t>,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Churn,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and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Partner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were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properly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categorized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as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Yes/No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or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binary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fields. </a:t>
            </a:r>
            <a:r>
              <a:rPr lang="en-US" sz="2400" b="1" dirty="0">
                <a:latin typeface="Times New Roman"/>
                <a:cs typeface="Times New Roman"/>
              </a:rPr>
              <a:t>Created</a:t>
            </a:r>
            <a:r>
              <a:rPr lang="en-US" sz="2400" b="1" spc="-7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calculated</a:t>
            </a:r>
            <a:r>
              <a:rPr lang="en-US" sz="2400" b="1" spc="-7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columns</a:t>
            </a:r>
            <a:r>
              <a:rPr lang="en-US" sz="2400" b="1" spc="-7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and</a:t>
            </a:r>
            <a:r>
              <a:rPr lang="en-US" sz="2400" b="1" spc="-7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DAX</a:t>
            </a:r>
            <a:r>
              <a:rPr lang="en-US" sz="2400" b="1" spc="-7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measures</a:t>
            </a:r>
            <a:r>
              <a:rPr lang="en-US" sz="2400" b="1" spc="-75" dirty="0">
                <a:latin typeface="Times New Roman"/>
                <a:cs typeface="Times New Roman"/>
              </a:rPr>
              <a:t> </a:t>
            </a:r>
            <a:r>
              <a:rPr lang="en-US" sz="2400" b="1" spc="-20" dirty="0">
                <a:latin typeface="Times New Roman"/>
                <a:cs typeface="Times New Roman"/>
              </a:rPr>
              <a:t>for:</a:t>
            </a:r>
            <a:endParaRPr lang="en-US" sz="2400" dirty="0">
              <a:latin typeface="Times New Roman"/>
              <a:cs typeface="Times New Roman"/>
            </a:endParaRPr>
          </a:p>
          <a:p>
            <a:pPr marL="12700" marR="3405504">
              <a:lnSpc>
                <a:spcPct val="131700"/>
              </a:lnSpc>
            </a:pPr>
            <a:r>
              <a:rPr lang="en-US" sz="2400" b="1" dirty="0">
                <a:latin typeface="Times New Roman"/>
                <a:cs typeface="Times New Roman"/>
              </a:rPr>
              <a:t>Churn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Rate,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Average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Monthly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Charges,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Average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Tenure,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Total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Revenue </a:t>
            </a:r>
            <a:r>
              <a:rPr lang="en-US" sz="2400" b="1" dirty="0">
                <a:latin typeface="Times New Roman"/>
                <a:cs typeface="Times New Roman"/>
              </a:rPr>
              <a:t>Standardized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categorical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values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(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No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internet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service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changed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to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No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for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clarity). </a:t>
            </a:r>
            <a:r>
              <a:rPr lang="en-US" sz="2400" b="1" dirty="0">
                <a:latin typeface="Times New Roman"/>
                <a:cs typeface="Times New Roman"/>
              </a:rPr>
              <a:t>Added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new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derived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fields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for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advanced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analysis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such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spc="-25" dirty="0">
                <a:latin typeface="Times New Roman"/>
                <a:cs typeface="Times New Roman"/>
              </a:rPr>
              <a:t>as:</a:t>
            </a:r>
            <a:endParaRPr lang="en-US" sz="2400" dirty="0">
              <a:latin typeface="Times New Roman"/>
              <a:cs typeface="Times New Roman"/>
            </a:endParaRPr>
          </a:p>
          <a:p>
            <a:pPr marL="12700" marR="5123180">
              <a:lnSpc>
                <a:spcPct val="131700"/>
              </a:lnSpc>
            </a:pPr>
            <a:r>
              <a:rPr lang="en-US" sz="2400" b="1" dirty="0">
                <a:latin typeface="Times New Roman"/>
                <a:cs typeface="Times New Roman"/>
              </a:rPr>
              <a:t>Total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Services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Subscribed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dataset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to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ensure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no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duplicates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or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mismatched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entries.</a:t>
            </a:r>
            <a:endParaRPr lang="en-US" sz="2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65"/>
              </a:spcBef>
            </a:pPr>
            <a:r>
              <a:rPr lang="en-US" sz="2400" b="1" dirty="0">
                <a:latin typeface="Times New Roman"/>
                <a:cs typeface="Times New Roman"/>
              </a:rPr>
              <a:t>Loaded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the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cleaned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data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into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the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Power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BI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Model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for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visualization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and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analysis.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9615" y="99832"/>
            <a:ext cx="5001985" cy="999666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DD1FBB-8997-518E-C3D3-06D9C6F5FA7A}"/>
              </a:ext>
            </a:extLst>
          </p:cNvPr>
          <p:cNvSpPr txBox="1"/>
          <p:nvPr/>
        </p:nvSpPr>
        <p:spPr>
          <a:xfrm>
            <a:off x="6324600" y="190500"/>
            <a:ext cx="9906000" cy="83099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sz="4800" b="1" spc="-10" dirty="0">
                <a:solidFill>
                  <a:srgbClr val="FF0000"/>
                </a:solidFill>
              </a:rPr>
              <a:t>Dashboard  Visualizations :</a:t>
            </a:r>
            <a:endParaRPr lang="en-IN" sz="4800" b="1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5C4A4C-BCD4-5FAF-9C80-AC803E89B1A4}"/>
              </a:ext>
            </a:extLst>
          </p:cNvPr>
          <p:cNvSpPr txBox="1"/>
          <p:nvPr/>
        </p:nvSpPr>
        <p:spPr>
          <a:xfrm>
            <a:off x="5638800" y="1181100"/>
            <a:ext cx="16383000" cy="86547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630"/>
              </a:spcBef>
            </a:pPr>
            <a:r>
              <a:rPr lang="en-IN" sz="3200" dirty="0"/>
              <a:t>     </a:t>
            </a:r>
            <a:r>
              <a:rPr lang="en-IN" sz="3600" b="1" dirty="0"/>
              <a:t>1.</a:t>
            </a:r>
            <a:r>
              <a:rPr lang="en-IN" sz="3600" b="1" spc="-70" dirty="0"/>
              <a:t> </a:t>
            </a:r>
            <a:r>
              <a:rPr lang="en-IN" sz="3600" b="1" dirty="0"/>
              <a:t>Customer</a:t>
            </a:r>
            <a:r>
              <a:rPr lang="en-IN" sz="3600" b="1" spc="-70" dirty="0"/>
              <a:t> </a:t>
            </a:r>
            <a:r>
              <a:rPr lang="en-IN" sz="3600" b="1" dirty="0"/>
              <a:t>Demographics</a:t>
            </a:r>
            <a:r>
              <a:rPr lang="en-IN" sz="3600" b="1" spc="-70" dirty="0"/>
              <a:t> </a:t>
            </a:r>
            <a:r>
              <a:rPr lang="en-IN" sz="3600" b="1" spc="-10" dirty="0"/>
              <a:t>Dashboard</a:t>
            </a:r>
            <a:endParaRPr lang="en-IN" sz="3200" b="1" spc="-10" dirty="0"/>
          </a:p>
          <a:p>
            <a:pPr marL="1073785" indent="-457200">
              <a:lnSpc>
                <a:spcPct val="150000"/>
              </a:lnSpc>
              <a:spcBef>
                <a:spcPts val="1225"/>
              </a:spcBef>
              <a:buFont typeface="Wingdings" panose="05000000000000000000" pitchFamily="2" charset="2"/>
              <a:buChar char="Ø"/>
            </a:pPr>
            <a:r>
              <a:rPr lang="en-IN" sz="3200" dirty="0"/>
              <a:t>Visuals</a:t>
            </a:r>
            <a:r>
              <a:rPr lang="en-IN" sz="3200" spc="-65" dirty="0"/>
              <a:t> </a:t>
            </a:r>
            <a:r>
              <a:rPr lang="en-IN" sz="3200" spc="-10" dirty="0"/>
              <a:t>Used:</a:t>
            </a:r>
            <a:endParaRPr lang="en-IN" sz="3200" dirty="0"/>
          </a:p>
          <a:p>
            <a:pPr marL="1073785" indent="-457200">
              <a:lnSpc>
                <a:spcPct val="150000"/>
              </a:lnSpc>
              <a:spcBef>
                <a:spcPts val="1065"/>
              </a:spcBef>
              <a:buFont typeface="Wingdings" panose="05000000000000000000" pitchFamily="2" charset="2"/>
              <a:buChar char="Ø"/>
            </a:pPr>
            <a:r>
              <a:rPr lang="en-IN" sz="3200" dirty="0"/>
              <a:t>Donut</a:t>
            </a:r>
            <a:r>
              <a:rPr lang="en-IN" sz="3200" spc="-60" dirty="0"/>
              <a:t> </a:t>
            </a:r>
            <a:r>
              <a:rPr lang="en-IN" sz="3200" dirty="0"/>
              <a:t>Chart</a:t>
            </a:r>
            <a:r>
              <a:rPr lang="en-IN" sz="3200" spc="-55" dirty="0"/>
              <a:t> </a:t>
            </a:r>
            <a:r>
              <a:rPr lang="en-IN" sz="3200" dirty="0"/>
              <a:t>→</a:t>
            </a:r>
            <a:r>
              <a:rPr lang="en-IN" sz="3200" spc="-55" dirty="0"/>
              <a:t> </a:t>
            </a:r>
            <a:r>
              <a:rPr lang="en-IN" sz="3200" dirty="0"/>
              <a:t>Gender</a:t>
            </a:r>
            <a:r>
              <a:rPr lang="en-IN" sz="3200" spc="-55" dirty="0"/>
              <a:t> </a:t>
            </a:r>
            <a:r>
              <a:rPr lang="en-IN" sz="3200" spc="-10" dirty="0"/>
              <a:t>distribution</a:t>
            </a:r>
            <a:endParaRPr lang="en-IN" sz="3200" dirty="0"/>
          </a:p>
          <a:p>
            <a:pPr marL="1073785" marR="5723255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3200" dirty="0"/>
              <a:t>Bar</a:t>
            </a:r>
            <a:r>
              <a:rPr lang="en-IN" sz="3200" spc="-40" dirty="0"/>
              <a:t> </a:t>
            </a:r>
            <a:r>
              <a:rPr lang="en-IN" sz="3200" dirty="0"/>
              <a:t>Chart</a:t>
            </a:r>
            <a:r>
              <a:rPr lang="en-IN" sz="3200" spc="-35" dirty="0"/>
              <a:t> </a:t>
            </a:r>
            <a:r>
              <a:rPr lang="en-IN" sz="3200" dirty="0"/>
              <a:t>→Senior</a:t>
            </a:r>
            <a:r>
              <a:rPr lang="en-IN" sz="3200" spc="-35" dirty="0"/>
              <a:t> </a:t>
            </a:r>
            <a:r>
              <a:rPr lang="en-IN" sz="3200" dirty="0"/>
              <a:t>citizen</a:t>
            </a:r>
            <a:r>
              <a:rPr lang="en-IN" sz="3200" spc="-35" dirty="0"/>
              <a:t> </a:t>
            </a:r>
            <a:r>
              <a:rPr lang="en-IN" sz="3200" dirty="0"/>
              <a:t>vs.</a:t>
            </a:r>
            <a:r>
              <a:rPr lang="en-IN" sz="3200" spc="-40" dirty="0"/>
              <a:t> </a:t>
            </a:r>
            <a:r>
              <a:rPr lang="en-IN" sz="3200" spc="-20" dirty="0"/>
              <a:t>non-</a:t>
            </a:r>
            <a:r>
              <a:rPr lang="en-IN" sz="3200" dirty="0"/>
              <a:t>senior</a:t>
            </a:r>
            <a:r>
              <a:rPr lang="en-IN" sz="3200" spc="-35" dirty="0"/>
              <a:t> </a:t>
            </a:r>
            <a:r>
              <a:rPr lang="en-IN" sz="3200" dirty="0"/>
              <a:t>churn </a:t>
            </a:r>
            <a:r>
              <a:rPr lang="en-IN" sz="3200" spc="-10" dirty="0"/>
              <a:t>comparison</a:t>
            </a:r>
          </a:p>
          <a:p>
            <a:pPr marL="1073785" marR="5723255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3200" spc="-10" dirty="0"/>
              <a:t> </a:t>
            </a:r>
            <a:r>
              <a:rPr lang="en-IN" sz="3200" dirty="0"/>
              <a:t>Column</a:t>
            </a:r>
            <a:r>
              <a:rPr lang="en-IN" sz="3200" spc="-60" dirty="0"/>
              <a:t> </a:t>
            </a:r>
            <a:r>
              <a:rPr lang="en-IN" sz="3200" dirty="0"/>
              <a:t>Chart</a:t>
            </a:r>
            <a:r>
              <a:rPr lang="en-IN" sz="3200" spc="-60" dirty="0"/>
              <a:t> </a:t>
            </a:r>
            <a:r>
              <a:rPr lang="en-IN" sz="3200" dirty="0"/>
              <a:t>→</a:t>
            </a:r>
            <a:r>
              <a:rPr lang="en-IN" sz="3200" spc="-60" dirty="0"/>
              <a:t> </a:t>
            </a:r>
            <a:r>
              <a:rPr lang="en-IN" sz="3200" dirty="0"/>
              <a:t>Tenure</a:t>
            </a:r>
            <a:r>
              <a:rPr lang="en-IN" sz="3200" spc="-60" dirty="0"/>
              <a:t> </a:t>
            </a:r>
            <a:r>
              <a:rPr lang="en-IN" sz="3200" spc="-10" dirty="0"/>
              <a:t>segmentation</a:t>
            </a:r>
            <a:endParaRPr lang="en-IN" sz="3200" dirty="0"/>
          </a:p>
          <a:p>
            <a:pPr marL="1073785" indent="-457200">
              <a:lnSpc>
                <a:spcPct val="150000"/>
              </a:lnSpc>
              <a:spcBef>
                <a:spcPts val="1065"/>
              </a:spcBef>
              <a:buFont typeface="Wingdings" panose="05000000000000000000" pitchFamily="2" charset="2"/>
              <a:buChar char="Ø"/>
            </a:pPr>
            <a:r>
              <a:rPr lang="en-IN" sz="3200" dirty="0"/>
              <a:t>Line</a:t>
            </a:r>
            <a:r>
              <a:rPr lang="en-IN" sz="3200" spc="-50" dirty="0"/>
              <a:t> </a:t>
            </a:r>
            <a:r>
              <a:rPr lang="en-IN" sz="3200" dirty="0"/>
              <a:t>Chart</a:t>
            </a:r>
            <a:r>
              <a:rPr lang="en-IN" sz="3200" spc="-45" dirty="0"/>
              <a:t> </a:t>
            </a:r>
            <a:r>
              <a:rPr lang="en-IN" sz="3200" dirty="0"/>
              <a:t>→</a:t>
            </a:r>
            <a:r>
              <a:rPr lang="en-IN" sz="3200" spc="-45" dirty="0"/>
              <a:t> </a:t>
            </a:r>
            <a:r>
              <a:rPr lang="en-IN" sz="3200" dirty="0"/>
              <a:t>Churn</a:t>
            </a:r>
            <a:r>
              <a:rPr lang="en-IN" sz="3200" spc="-45" dirty="0"/>
              <a:t> </a:t>
            </a:r>
            <a:r>
              <a:rPr lang="en-IN" sz="3200" dirty="0"/>
              <a:t>rate</a:t>
            </a:r>
            <a:r>
              <a:rPr lang="en-IN" sz="3200" spc="-45" dirty="0"/>
              <a:t> </a:t>
            </a:r>
            <a:r>
              <a:rPr lang="en-IN" sz="3200" dirty="0"/>
              <a:t>across</a:t>
            </a:r>
            <a:r>
              <a:rPr lang="en-IN" sz="3200" spc="-45" dirty="0"/>
              <a:t> </a:t>
            </a:r>
            <a:r>
              <a:rPr lang="en-IN" sz="3200" dirty="0"/>
              <a:t>tenure</a:t>
            </a:r>
            <a:r>
              <a:rPr lang="en-IN" sz="3200" spc="-45" dirty="0"/>
              <a:t> </a:t>
            </a:r>
            <a:r>
              <a:rPr lang="en-IN" sz="3200" spc="-10" dirty="0"/>
              <a:t>groups</a:t>
            </a:r>
            <a:endParaRPr lang="en-IN" sz="3200" dirty="0"/>
          </a:p>
          <a:p>
            <a:pPr marL="1073785" marR="508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3200" dirty="0"/>
              <a:t>Cards</a:t>
            </a:r>
            <a:r>
              <a:rPr lang="en-IN" sz="3200" spc="-70" dirty="0"/>
              <a:t> </a:t>
            </a:r>
            <a:r>
              <a:rPr lang="en-IN" sz="3200" dirty="0"/>
              <a:t>→</a:t>
            </a:r>
            <a:r>
              <a:rPr lang="en-IN" sz="3200" spc="-65" dirty="0"/>
              <a:t> </a:t>
            </a:r>
            <a:r>
              <a:rPr lang="en-IN" sz="3200" dirty="0"/>
              <a:t>Total</a:t>
            </a:r>
            <a:r>
              <a:rPr lang="en-IN" sz="3200" spc="-65" dirty="0"/>
              <a:t> </a:t>
            </a:r>
            <a:r>
              <a:rPr lang="en-IN" sz="3200" dirty="0"/>
              <a:t>Customers,</a:t>
            </a:r>
            <a:r>
              <a:rPr lang="en-IN" sz="3200" spc="-65" dirty="0"/>
              <a:t> </a:t>
            </a:r>
            <a:r>
              <a:rPr lang="en-IN" sz="3200" dirty="0"/>
              <a:t>Churned</a:t>
            </a:r>
            <a:r>
              <a:rPr lang="en-IN" sz="3200" spc="-70" dirty="0"/>
              <a:t> </a:t>
            </a:r>
            <a:r>
              <a:rPr lang="en-IN" sz="3200" dirty="0"/>
              <a:t>Customers,</a:t>
            </a:r>
            <a:r>
              <a:rPr lang="en-IN" sz="3200" spc="-65" dirty="0"/>
              <a:t> </a:t>
            </a:r>
          </a:p>
          <a:p>
            <a:pPr marL="1073785" marR="508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3200" dirty="0"/>
              <a:t>Churn</a:t>
            </a:r>
            <a:r>
              <a:rPr lang="en-IN" sz="3200" spc="-65" dirty="0"/>
              <a:t> </a:t>
            </a:r>
            <a:r>
              <a:rPr lang="en-IN" sz="3200" dirty="0"/>
              <a:t>Rate,</a:t>
            </a:r>
            <a:r>
              <a:rPr lang="en-IN" sz="3200" spc="-65" dirty="0"/>
              <a:t> </a:t>
            </a:r>
            <a:r>
              <a:rPr lang="en-IN" sz="3200" dirty="0"/>
              <a:t>Avg.</a:t>
            </a:r>
            <a:r>
              <a:rPr lang="en-IN" sz="3200" spc="-70" dirty="0"/>
              <a:t> </a:t>
            </a:r>
            <a:r>
              <a:rPr lang="en-IN" sz="3200" dirty="0"/>
              <a:t>Tenure,</a:t>
            </a:r>
            <a:r>
              <a:rPr lang="en-IN" sz="3200" spc="-65" dirty="0"/>
              <a:t> </a:t>
            </a:r>
            <a:r>
              <a:rPr lang="en-IN" sz="3200" dirty="0"/>
              <a:t>Avg.</a:t>
            </a:r>
            <a:r>
              <a:rPr lang="en-IN" sz="3200" spc="-65" dirty="0"/>
              <a:t> </a:t>
            </a:r>
            <a:r>
              <a:rPr lang="en-IN" sz="3200" dirty="0"/>
              <a:t>Monthly</a:t>
            </a:r>
            <a:r>
              <a:rPr lang="en-IN" sz="3200" spc="-65" dirty="0"/>
              <a:t> </a:t>
            </a:r>
            <a:r>
              <a:rPr lang="en-IN" sz="3200" spc="-10" dirty="0"/>
              <a:t>Charges </a:t>
            </a:r>
          </a:p>
          <a:p>
            <a:pPr marL="1073785" marR="508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3200" dirty="0"/>
              <a:t>Purpose:</a:t>
            </a:r>
            <a:r>
              <a:rPr lang="en-IN" sz="3200" spc="-75" dirty="0"/>
              <a:t> </a:t>
            </a:r>
            <a:r>
              <a:rPr lang="en-IN" sz="3200" dirty="0"/>
              <a:t>Understand</a:t>
            </a:r>
            <a:r>
              <a:rPr lang="en-IN" sz="3200" spc="-70" dirty="0"/>
              <a:t> </a:t>
            </a:r>
            <a:r>
              <a:rPr lang="en-IN" sz="3200" dirty="0"/>
              <a:t>customer</a:t>
            </a:r>
            <a:r>
              <a:rPr lang="en-IN" sz="3200" spc="-70" dirty="0"/>
              <a:t> </a:t>
            </a:r>
            <a:r>
              <a:rPr lang="en-IN" sz="3200" dirty="0"/>
              <a:t>profile</a:t>
            </a:r>
            <a:r>
              <a:rPr lang="en-IN" sz="3200" spc="-75" dirty="0"/>
              <a:t> </a:t>
            </a:r>
            <a:r>
              <a:rPr lang="en-IN" sz="3200" dirty="0"/>
              <a:t>and</a:t>
            </a:r>
            <a:r>
              <a:rPr lang="en-IN" sz="3200" spc="-70" dirty="0"/>
              <a:t> </a:t>
            </a:r>
            <a:r>
              <a:rPr lang="en-IN" sz="3200" dirty="0"/>
              <a:t>churn</a:t>
            </a:r>
            <a:r>
              <a:rPr lang="en-IN" sz="3200" spc="-70" dirty="0"/>
              <a:t> </a:t>
            </a:r>
          </a:p>
          <a:p>
            <a:pPr marL="616585" marR="5080">
              <a:lnSpc>
                <a:spcPct val="150000"/>
              </a:lnSpc>
            </a:pPr>
            <a:r>
              <a:rPr lang="en-IN" sz="3200" spc="-70" dirty="0"/>
              <a:t>		</a:t>
            </a:r>
            <a:r>
              <a:rPr lang="en-IN" sz="3200" dirty="0" err="1"/>
              <a:t>behavior</a:t>
            </a:r>
            <a:r>
              <a:rPr lang="en-IN" sz="3200" spc="-75" dirty="0"/>
              <a:t> </a:t>
            </a:r>
            <a:r>
              <a:rPr lang="en-IN" sz="3200" dirty="0"/>
              <a:t>by</a:t>
            </a:r>
            <a:r>
              <a:rPr lang="en-IN" sz="3200" spc="-70" dirty="0"/>
              <a:t> </a:t>
            </a:r>
            <a:r>
              <a:rPr lang="en-IN" sz="3200" spc="-10" dirty="0"/>
              <a:t>demographics.</a:t>
            </a:r>
            <a:endParaRPr lang="en-IN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7153" y="201508"/>
            <a:ext cx="4429647" cy="997119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CADC7B2-A8C7-B27D-3A47-043476305447}"/>
              </a:ext>
            </a:extLst>
          </p:cNvPr>
          <p:cNvSpPr txBox="1"/>
          <p:nvPr/>
        </p:nvSpPr>
        <p:spPr>
          <a:xfrm>
            <a:off x="6705600" y="201508"/>
            <a:ext cx="11353799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sz="3600" b="1" dirty="0">
                <a:solidFill>
                  <a:srgbClr val="FF0000"/>
                </a:solidFill>
              </a:rPr>
              <a:t>DASHBOARD	 VISUALIZATIONS 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1ABF30-976B-E888-B9B0-474131A4BDC3}"/>
              </a:ext>
            </a:extLst>
          </p:cNvPr>
          <p:cNvSpPr txBox="1"/>
          <p:nvPr/>
        </p:nvSpPr>
        <p:spPr>
          <a:xfrm>
            <a:off x="4876800" y="1104900"/>
            <a:ext cx="14478000" cy="7170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630"/>
              </a:spcBef>
            </a:pPr>
            <a:r>
              <a:rPr lang="en-IN" sz="3600" dirty="0">
                <a:latin typeface="Times New Roman"/>
                <a:cs typeface="Times New Roman"/>
              </a:rPr>
              <a:t>2.</a:t>
            </a:r>
            <a:r>
              <a:rPr lang="en-IN" sz="3600" spc="-90" dirty="0">
                <a:latin typeface="Times New Roman"/>
                <a:cs typeface="Times New Roman"/>
              </a:rPr>
              <a:t> </a:t>
            </a:r>
            <a:r>
              <a:rPr lang="en-IN" sz="3600" dirty="0">
                <a:latin typeface="Times New Roman"/>
                <a:cs typeface="Times New Roman"/>
              </a:rPr>
              <a:t>Service</a:t>
            </a:r>
            <a:r>
              <a:rPr lang="en-IN" sz="3600" spc="-90" dirty="0">
                <a:latin typeface="Times New Roman"/>
                <a:cs typeface="Times New Roman"/>
              </a:rPr>
              <a:t> </a:t>
            </a:r>
            <a:r>
              <a:rPr lang="en-IN" sz="3600" dirty="0">
                <a:latin typeface="Times New Roman"/>
                <a:cs typeface="Times New Roman"/>
              </a:rPr>
              <a:t>Subscription</a:t>
            </a:r>
            <a:r>
              <a:rPr lang="en-IN" sz="3600" spc="-85" dirty="0">
                <a:latin typeface="Times New Roman"/>
                <a:cs typeface="Times New Roman"/>
              </a:rPr>
              <a:t> </a:t>
            </a:r>
            <a:r>
              <a:rPr lang="en-IN" sz="3600" spc="-10" dirty="0">
                <a:latin typeface="Times New Roman"/>
                <a:cs typeface="Times New Roman"/>
              </a:rPr>
              <a:t>Dashboard</a:t>
            </a:r>
            <a:endParaRPr lang="en-IN" sz="3600" dirty="0">
              <a:latin typeface="Times New Roman"/>
              <a:cs typeface="Times New Roman"/>
            </a:endParaRPr>
          </a:p>
          <a:p>
            <a:pPr marL="1073785" indent="-457200">
              <a:lnSpc>
                <a:spcPct val="200000"/>
              </a:lnSpc>
              <a:spcBef>
                <a:spcPts val="1225"/>
              </a:spcBef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/>
                <a:cs typeface="Times New Roman"/>
              </a:rPr>
              <a:t>Visuals</a:t>
            </a:r>
            <a:r>
              <a:rPr lang="en-IN" sz="2800" b="1" spc="-65" dirty="0">
                <a:latin typeface="Times New Roman"/>
                <a:cs typeface="Times New Roman"/>
              </a:rPr>
              <a:t> </a:t>
            </a:r>
            <a:r>
              <a:rPr lang="en-IN" sz="2800" b="1" spc="-10" dirty="0">
                <a:latin typeface="Times New Roman"/>
                <a:cs typeface="Times New Roman"/>
              </a:rPr>
              <a:t>Used:</a:t>
            </a:r>
            <a:endParaRPr lang="en-IN" sz="2800" dirty="0">
              <a:latin typeface="Times New Roman"/>
              <a:cs typeface="Times New Roman"/>
            </a:endParaRPr>
          </a:p>
          <a:p>
            <a:pPr marL="1073785" indent="-457200">
              <a:lnSpc>
                <a:spcPct val="150000"/>
              </a:lnSpc>
              <a:spcBef>
                <a:spcPts val="1065"/>
              </a:spcBef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/>
                <a:cs typeface="Times New Roman"/>
              </a:rPr>
              <a:t>Stacked</a:t>
            </a:r>
            <a:r>
              <a:rPr lang="en-IN" sz="2800" b="1" spc="-6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Column</a:t>
            </a:r>
            <a:r>
              <a:rPr lang="en-IN" sz="2800" b="1" spc="-6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Chart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→</a:t>
            </a:r>
            <a:r>
              <a:rPr lang="en-IN" sz="2800" b="1" spc="-6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Phone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service</a:t>
            </a:r>
            <a:r>
              <a:rPr lang="en-IN" sz="2800" b="1" spc="-6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and</a:t>
            </a:r>
            <a:r>
              <a:rPr lang="en-IN" sz="2800" b="1" spc="-6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internet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service</a:t>
            </a:r>
            <a:r>
              <a:rPr lang="en-IN" sz="2800" b="1" spc="-60" dirty="0">
                <a:latin typeface="Times New Roman"/>
                <a:cs typeface="Times New Roman"/>
              </a:rPr>
              <a:t> </a:t>
            </a:r>
            <a:r>
              <a:rPr lang="en-IN" sz="2800" b="1" spc="-10" dirty="0">
                <a:latin typeface="Times New Roman"/>
                <a:cs typeface="Times New Roman"/>
              </a:rPr>
              <a:t>usage</a:t>
            </a:r>
          </a:p>
          <a:p>
            <a:pPr marL="1073785" marR="508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/>
                <a:cs typeface="Times New Roman"/>
              </a:rPr>
              <a:t>Funnel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Chart</a:t>
            </a:r>
            <a:r>
              <a:rPr lang="en-IN" sz="2800" b="1" spc="-5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→</a:t>
            </a:r>
            <a:r>
              <a:rPr lang="en-IN" sz="2800" b="1" spc="-5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Churn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rate</a:t>
            </a:r>
            <a:r>
              <a:rPr lang="en-IN" sz="2800" b="1" spc="-5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by</a:t>
            </a:r>
            <a:r>
              <a:rPr lang="en-IN" sz="2800" b="1" spc="-5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Internet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Service</a:t>
            </a:r>
            <a:r>
              <a:rPr lang="en-IN" sz="2800" b="1" spc="-5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Type</a:t>
            </a:r>
            <a:r>
              <a:rPr lang="en-IN" sz="2800" b="1" spc="-5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(DSL,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Fiber</a:t>
            </a:r>
            <a:r>
              <a:rPr lang="en-IN" sz="2800" b="1" spc="-5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Optic,</a:t>
            </a:r>
            <a:r>
              <a:rPr lang="en-IN" sz="2800" b="1" spc="-5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No </a:t>
            </a:r>
            <a:r>
              <a:rPr lang="en-IN" sz="2800" b="1" spc="-10" dirty="0">
                <a:latin typeface="Times New Roman"/>
                <a:cs typeface="Times New Roman"/>
              </a:rPr>
              <a:t>Internet)</a:t>
            </a:r>
          </a:p>
          <a:p>
            <a:pPr marL="1073785" marR="508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800" b="1" spc="-1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Clustered</a:t>
            </a:r>
            <a:r>
              <a:rPr lang="en-IN" sz="2800" b="1" spc="-4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Bar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Chart</a:t>
            </a:r>
            <a:r>
              <a:rPr lang="en-IN" sz="2800" b="1" spc="-4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→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spc="-25" dirty="0">
                <a:latin typeface="Times New Roman"/>
                <a:cs typeface="Times New Roman"/>
              </a:rPr>
              <a:t>Add-</a:t>
            </a:r>
            <a:r>
              <a:rPr lang="en-IN" sz="2800" b="1" dirty="0">
                <a:latin typeface="Times New Roman"/>
                <a:cs typeface="Times New Roman"/>
              </a:rPr>
              <a:t>on</a:t>
            </a:r>
            <a:r>
              <a:rPr lang="en-IN" sz="2800" b="1" spc="-4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service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usage</a:t>
            </a:r>
            <a:r>
              <a:rPr lang="en-IN" sz="2800" b="1" spc="-4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by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churned</a:t>
            </a:r>
            <a:r>
              <a:rPr lang="en-IN" sz="2800" b="1" spc="-45" dirty="0">
                <a:latin typeface="Times New Roman"/>
                <a:cs typeface="Times New Roman"/>
              </a:rPr>
              <a:t> </a:t>
            </a:r>
            <a:r>
              <a:rPr lang="en-IN" sz="2800" b="1" spc="-10" dirty="0">
                <a:latin typeface="Times New Roman"/>
                <a:cs typeface="Times New Roman"/>
              </a:rPr>
              <a:t>customers</a:t>
            </a:r>
            <a:endParaRPr lang="en-IN" sz="2800" dirty="0">
              <a:latin typeface="Times New Roman"/>
              <a:cs typeface="Times New Roman"/>
            </a:endParaRPr>
          </a:p>
          <a:p>
            <a:pPr marL="1073785" marR="302768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/>
                <a:cs typeface="Times New Roman"/>
              </a:rPr>
              <a:t>Scatter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Plot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→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Correlation</a:t>
            </a:r>
            <a:r>
              <a:rPr lang="en-IN" sz="2800" b="1" spc="-5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between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number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of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services</a:t>
            </a:r>
            <a:r>
              <a:rPr lang="en-IN" sz="2800" b="1" spc="-5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and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spc="-10" dirty="0">
                <a:latin typeface="Times New Roman"/>
                <a:cs typeface="Times New Roman"/>
              </a:rPr>
              <a:t>churn</a:t>
            </a:r>
          </a:p>
          <a:p>
            <a:pPr marL="1073785" marR="302768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800" b="1" spc="-1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Pie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Chart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→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Fiber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vs.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DSL</a:t>
            </a:r>
            <a:r>
              <a:rPr lang="en-IN" sz="2800" b="1" spc="-3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vs.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No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Internet</a:t>
            </a:r>
            <a:r>
              <a:rPr lang="en-IN" sz="2800" b="1" spc="-40" dirty="0">
                <a:latin typeface="Times New Roman"/>
                <a:cs typeface="Times New Roman"/>
              </a:rPr>
              <a:t> </a:t>
            </a:r>
            <a:r>
              <a:rPr lang="en-IN" sz="2800" b="1" spc="-10" dirty="0">
                <a:latin typeface="Times New Roman"/>
                <a:cs typeface="Times New Roman"/>
              </a:rPr>
              <a:t>customers</a:t>
            </a:r>
            <a:endParaRPr lang="en-IN" sz="2800" dirty="0">
              <a:latin typeface="Times New Roman"/>
              <a:cs typeface="Times New Roman"/>
            </a:endParaRPr>
          </a:p>
          <a:p>
            <a:pPr marL="1073785" marR="175133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/>
                <a:cs typeface="Times New Roman"/>
              </a:rPr>
              <a:t>Slicers</a:t>
            </a:r>
            <a:r>
              <a:rPr lang="en-IN" sz="2800" b="1" spc="-6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→</a:t>
            </a:r>
            <a:r>
              <a:rPr lang="en-IN" sz="2800" b="1" spc="-6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Gender,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Senior</a:t>
            </a:r>
            <a:r>
              <a:rPr lang="en-IN" sz="2800" b="1" spc="-6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Citizen,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Internet</a:t>
            </a:r>
            <a:r>
              <a:rPr lang="en-IN" sz="2800" b="1" spc="-6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Service,</a:t>
            </a:r>
            <a:r>
              <a:rPr lang="en-IN" sz="2800" b="1" spc="-6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Contract</a:t>
            </a:r>
            <a:r>
              <a:rPr lang="en-IN" sz="2800" b="1" spc="-55" dirty="0">
                <a:latin typeface="Times New Roman"/>
                <a:cs typeface="Times New Roman"/>
              </a:rPr>
              <a:t> </a:t>
            </a:r>
            <a:r>
              <a:rPr lang="en-IN" sz="2800" b="1" spc="-20" dirty="0">
                <a:latin typeface="Times New Roman"/>
                <a:cs typeface="Times New Roman"/>
              </a:rPr>
              <a:t>Type</a:t>
            </a:r>
          </a:p>
          <a:p>
            <a:pPr marL="1073785" marR="175133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2800" b="1" spc="-2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Purpose:</a:t>
            </a:r>
            <a:r>
              <a:rPr lang="en-IN" sz="2800" b="1" spc="-7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Identify</a:t>
            </a:r>
            <a:r>
              <a:rPr lang="en-IN" sz="2800" b="1" spc="-75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which</a:t>
            </a:r>
            <a:r>
              <a:rPr lang="en-IN" sz="2800" b="1" spc="-7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services</a:t>
            </a:r>
            <a:r>
              <a:rPr lang="en-IN" sz="2800" b="1" spc="-7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and</a:t>
            </a:r>
            <a:r>
              <a:rPr lang="en-IN" sz="2800" b="1" spc="-7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combinations</a:t>
            </a:r>
            <a:r>
              <a:rPr lang="en-IN" sz="2800" b="1" spc="-7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impact</a:t>
            </a:r>
            <a:r>
              <a:rPr lang="en-IN" sz="2800" b="1" spc="-7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churn</a:t>
            </a:r>
            <a:r>
              <a:rPr lang="en-IN" sz="2800" b="1" spc="-70" dirty="0">
                <a:latin typeface="Times New Roman"/>
                <a:cs typeface="Times New Roman"/>
              </a:rPr>
              <a:t> </a:t>
            </a:r>
            <a:r>
              <a:rPr lang="en-IN" sz="2800" b="1" dirty="0">
                <a:latin typeface="Times New Roman"/>
                <a:cs typeface="Times New Roman"/>
              </a:rPr>
              <a:t>the</a:t>
            </a:r>
            <a:r>
              <a:rPr lang="en-IN" sz="2800" b="1" spc="-70" dirty="0">
                <a:latin typeface="Times New Roman"/>
                <a:cs typeface="Times New Roman"/>
              </a:rPr>
              <a:t> </a:t>
            </a:r>
            <a:r>
              <a:rPr lang="en-IN" sz="2800" b="1" spc="-10" dirty="0">
                <a:latin typeface="Times New Roman"/>
                <a:cs typeface="Times New Roman"/>
              </a:rPr>
              <a:t>most.</a:t>
            </a:r>
            <a:endParaRPr lang="en-IN" sz="2800" dirty="0">
              <a:latin typeface="Times New Roman"/>
              <a:cs typeface="Times New Roman"/>
            </a:endParaRPr>
          </a:p>
          <a:p>
            <a:pPr>
              <a:lnSpc>
                <a:spcPct val="150000"/>
              </a:lnSpc>
            </a:pPr>
            <a:endParaRPr lang="en-IN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0886" y="114300"/>
            <a:ext cx="5878285" cy="9906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4BEE4AC-A8F2-CFEA-DBA2-559C88133835}"/>
              </a:ext>
            </a:extLst>
          </p:cNvPr>
          <p:cNvSpPr txBox="1"/>
          <p:nvPr/>
        </p:nvSpPr>
        <p:spPr>
          <a:xfrm>
            <a:off x="6705600" y="662479"/>
            <a:ext cx="1013460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sz="3600" b="1" spc="-10" dirty="0">
                <a:solidFill>
                  <a:srgbClr val="FF0000"/>
                </a:solidFill>
              </a:rPr>
              <a:t>     Dashboard</a:t>
            </a:r>
            <a:r>
              <a:rPr lang="en-IN" sz="3600" b="1" dirty="0">
                <a:solidFill>
                  <a:srgbClr val="FF0000"/>
                </a:solidFill>
              </a:rPr>
              <a:t>	 </a:t>
            </a:r>
            <a:r>
              <a:rPr lang="en-IN" sz="3600" b="1" spc="-10" dirty="0">
                <a:solidFill>
                  <a:srgbClr val="FF0000"/>
                </a:solidFill>
              </a:rPr>
              <a:t>Visualizations</a:t>
            </a:r>
            <a:endParaRPr lang="en-IN" sz="3600" b="1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0ABBC3-9A53-2CAA-DFE0-2FE411404FEA}"/>
              </a:ext>
            </a:extLst>
          </p:cNvPr>
          <p:cNvSpPr txBox="1"/>
          <p:nvPr/>
        </p:nvSpPr>
        <p:spPr>
          <a:xfrm>
            <a:off x="6019800" y="1562100"/>
            <a:ext cx="14173200" cy="7764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>
              <a:lnSpc>
                <a:spcPct val="200000"/>
              </a:lnSpc>
              <a:spcBef>
                <a:spcPts val="1630"/>
              </a:spcBef>
            </a:pPr>
            <a:r>
              <a:rPr lang="en-US" sz="3200" b="1" dirty="0">
                <a:latin typeface="Times New Roman"/>
                <a:cs typeface="Times New Roman"/>
              </a:rPr>
              <a:t>3.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Contract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&amp;</a:t>
            </a:r>
            <a:r>
              <a:rPr lang="en-US" sz="3200" b="1" spc="-4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Billing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spc="-10" dirty="0">
                <a:latin typeface="Times New Roman"/>
                <a:cs typeface="Times New Roman"/>
              </a:rPr>
              <a:t>Dashboard</a:t>
            </a:r>
            <a:endParaRPr lang="en-US" sz="3200" dirty="0">
              <a:latin typeface="Times New Roman"/>
              <a:cs typeface="Times New Roman"/>
            </a:endParaRPr>
          </a:p>
          <a:p>
            <a:pPr marL="959485" indent="-342900">
              <a:lnSpc>
                <a:spcPct val="200000"/>
              </a:lnSpc>
              <a:spcBef>
                <a:spcPts val="1225"/>
              </a:spcBef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/>
                <a:cs typeface="Times New Roman"/>
              </a:rPr>
              <a:t>Visuals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Used:</a:t>
            </a:r>
            <a:endParaRPr lang="en-US" sz="2400" dirty="0">
              <a:latin typeface="Times New Roman"/>
              <a:cs typeface="Times New Roman"/>
            </a:endParaRPr>
          </a:p>
          <a:p>
            <a:pPr marL="959485" marR="19812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/>
                <a:cs typeface="Times New Roman"/>
              </a:rPr>
              <a:t>Bar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Chart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→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Churn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by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Contract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Type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spc="-20" dirty="0">
                <a:latin typeface="Times New Roman"/>
                <a:cs typeface="Times New Roman"/>
              </a:rPr>
              <a:t>(Month-</a:t>
            </a:r>
            <a:r>
              <a:rPr lang="en-US" sz="2400" b="1" spc="-10" dirty="0">
                <a:latin typeface="Times New Roman"/>
                <a:cs typeface="Times New Roman"/>
              </a:rPr>
              <a:t>to-</a:t>
            </a:r>
            <a:r>
              <a:rPr lang="en-US" sz="2400" b="1" dirty="0">
                <a:latin typeface="Times New Roman"/>
                <a:cs typeface="Times New Roman"/>
              </a:rPr>
              <a:t>month,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One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year,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Two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year)</a:t>
            </a:r>
          </a:p>
          <a:p>
            <a:pPr marL="959485" marR="19812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b="1" spc="-1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Donut</a:t>
            </a:r>
            <a:r>
              <a:rPr lang="en-US" sz="2400" b="1" spc="-7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Chart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→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Payment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Method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distribution</a:t>
            </a:r>
            <a:endParaRPr lang="en-US" sz="2400" dirty="0">
              <a:latin typeface="Times New Roman"/>
              <a:cs typeface="Times New Roman"/>
            </a:endParaRPr>
          </a:p>
          <a:p>
            <a:pPr marL="959485" marR="3866515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/>
                <a:cs typeface="Times New Roman"/>
              </a:rPr>
              <a:t>Clustered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Column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Chart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→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Avg.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Total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Charges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by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Contract</a:t>
            </a:r>
          </a:p>
          <a:p>
            <a:pPr marL="959485" marR="3866515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spc="-20" dirty="0">
                <a:latin typeface="Times New Roman"/>
                <a:cs typeface="Times New Roman"/>
              </a:rPr>
              <a:t>Type </a:t>
            </a:r>
            <a:r>
              <a:rPr lang="en-US" sz="2400" b="1" dirty="0">
                <a:latin typeface="Times New Roman"/>
                <a:cs typeface="Times New Roman"/>
              </a:rPr>
              <a:t>Line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Chart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→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Monthly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Charges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by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Payment</a:t>
            </a:r>
            <a:r>
              <a:rPr lang="en-US" sz="2400" b="1" spc="-50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Method </a:t>
            </a:r>
          </a:p>
          <a:p>
            <a:pPr marL="959485" marR="3866515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/>
                <a:cs typeface="Times New Roman"/>
              </a:rPr>
              <a:t>Matrix/Table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→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Billing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KPIs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by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Contract</a:t>
            </a:r>
            <a:r>
              <a:rPr lang="en-US" sz="2400" b="1" spc="-40" dirty="0">
                <a:latin typeface="Times New Roman"/>
                <a:cs typeface="Times New Roman"/>
              </a:rPr>
              <a:t> </a:t>
            </a:r>
            <a:r>
              <a:rPr lang="en-US" sz="2400" b="1" spc="-20" dirty="0">
                <a:latin typeface="Times New Roman"/>
                <a:cs typeface="Times New Roman"/>
              </a:rPr>
              <a:t>Type</a:t>
            </a:r>
            <a:endParaRPr lang="en-US" sz="2400" dirty="0">
              <a:latin typeface="Times New Roman"/>
              <a:cs typeface="Times New Roman"/>
            </a:endParaRPr>
          </a:p>
          <a:p>
            <a:pPr marL="959485" marR="508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latin typeface="Times New Roman"/>
                <a:cs typeface="Times New Roman"/>
              </a:rPr>
              <a:t>Cards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→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Avg.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Monthly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Charge,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Avg.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Total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Charge,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Churn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Rate,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Total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Churned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Customers</a:t>
            </a:r>
          </a:p>
          <a:p>
            <a:pPr marL="959485" marR="508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2400" b="1" spc="-1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Purpose:</a:t>
            </a:r>
            <a:r>
              <a:rPr lang="en-US" sz="2400" b="1" spc="-8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Analyze</a:t>
            </a:r>
            <a:r>
              <a:rPr lang="en-US" sz="2400" b="1" spc="-7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billing</a:t>
            </a:r>
            <a:r>
              <a:rPr lang="en-US" sz="2400" b="1" spc="-7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behavior</a:t>
            </a:r>
            <a:r>
              <a:rPr lang="en-US" sz="2400" b="1" spc="-7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and</a:t>
            </a:r>
            <a:r>
              <a:rPr lang="en-US" sz="2400" b="1" spc="-7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contractual</a:t>
            </a:r>
            <a:r>
              <a:rPr lang="en-US" sz="2400" b="1" spc="-7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patterns</a:t>
            </a:r>
            <a:r>
              <a:rPr lang="en-US" sz="2400" b="1" spc="-7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influencing</a:t>
            </a:r>
            <a:r>
              <a:rPr lang="en-US" sz="2400" b="1" spc="-75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churn.</a:t>
            </a:r>
            <a:endParaRPr lang="en-US" sz="2400" dirty="0">
              <a:latin typeface="Times New Roman"/>
              <a:cs typeface="Times New Roman"/>
            </a:endParaRPr>
          </a:p>
          <a:p>
            <a:pPr>
              <a:lnSpc>
                <a:spcPct val="200000"/>
              </a:lnSpc>
            </a:pPr>
            <a:endParaRPr lang="en-IN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xfrm>
            <a:off x="14824932" y="8939539"/>
            <a:ext cx="3577423" cy="33009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R="5080" algn="r">
              <a:lnSpc>
                <a:spcPts val="2385"/>
              </a:lnSpc>
            </a:pPr>
            <a:endParaRPr lang="en-IN" sz="2800" b="1" spc="220" dirty="0"/>
          </a:p>
        </p:txBody>
      </p:sp>
      <p:sp>
        <p:nvSpPr>
          <p:cNvPr id="9" name="object 9"/>
          <p:cNvSpPr txBox="1"/>
          <p:nvPr/>
        </p:nvSpPr>
        <p:spPr>
          <a:xfrm>
            <a:off x="11732411" y="701812"/>
            <a:ext cx="839640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225" dirty="0">
                <a:solidFill>
                  <a:srgbClr val="B14F31"/>
                </a:solidFill>
                <a:latin typeface="Calibri"/>
                <a:cs typeface="Calibri"/>
              </a:rPr>
              <a:t>t</a:t>
            </a:r>
            <a:endParaRPr sz="2000" dirty="0">
              <a:latin typeface="Calibri"/>
              <a:cs typeface="Calibri"/>
            </a:endParaRPr>
          </a:p>
        </p:txBody>
      </p:sp>
      <p:pic>
        <p:nvPicPr>
          <p:cNvPr id="19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1" y="0"/>
            <a:ext cx="5638799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6" y="190500"/>
            <a:ext cx="6885214" cy="998200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B1D1841-EF30-3F4A-F6DF-BB6820079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E3E3F09D-204C-0DEF-40B2-D2F93AE2520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87" y="114300"/>
            <a:ext cx="6618514" cy="10058400"/>
          </a:xfrm>
          <a:prstGeom prst="rect">
            <a:avLst/>
          </a:prstGeom>
        </p:spPr>
      </p:pic>
      <p:sp>
        <p:nvSpPr>
          <p:cNvPr id="12" name="object 12">
            <a:extLst>
              <a:ext uri="{FF2B5EF4-FFF2-40B4-BE49-F238E27FC236}">
                <a16:creationId xmlns:a16="http://schemas.microsoft.com/office/drawing/2014/main" id="{3597B060-F740-E584-2F60-2F366C18ADB3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824933" y="8939538"/>
            <a:ext cx="2447290" cy="312265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R="5080" algn="r">
              <a:lnSpc>
                <a:spcPts val="2385"/>
              </a:lnSpc>
            </a:pPr>
            <a:endParaRPr lang="en-IN" b="1" spc="220" dirty="0"/>
          </a:p>
        </p:txBody>
      </p:sp>
    </p:spTree>
    <p:extLst>
      <p:ext uri="{BB962C8B-B14F-4D97-AF65-F5344CB8AC3E}">
        <p14:creationId xmlns:p14="http://schemas.microsoft.com/office/powerpoint/2010/main" val="2459653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A9C2BF-C849-418F-7872-45C3E0207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0F2D7E82-B946-8162-1D15-424357F64A8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" y="0"/>
            <a:ext cx="6555590" cy="9639300"/>
          </a:xfrm>
          <a:prstGeom prst="rect">
            <a:avLst/>
          </a:prstGeom>
        </p:spPr>
      </p:pic>
      <p:sp>
        <p:nvSpPr>
          <p:cNvPr id="12" name="object 12">
            <a:extLst>
              <a:ext uri="{FF2B5EF4-FFF2-40B4-BE49-F238E27FC236}">
                <a16:creationId xmlns:a16="http://schemas.microsoft.com/office/drawing/2014/main" id="{74C2CFD6-F632-230B-F84C-6089AD1C410E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14824932" y="8939538"/>
            <a:ext cx="3463067" cy="33009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R="5080" algn="r">
              <a:lnSpc>
                <a:spcPts val="2385"/>
              </a:lnSpc>
            </a:pPr>
            <a:endParaRPr lang="en-IN" sz="2800" b="1" spc="220" dirty="0"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E7066E5-07FD-DF8E-62D0-9437EB383331}"/>
              </a:ext>
            </a:extLst>
          </p:cNvPr>
          <p:cNvSpPr txBox="1"/>
          <p:nvPr/>
        </p:nvSpPr>
        <p:spPr>
          <a:xfrm>
            <a:off x="11732411" y="701812"/>
            <a:ext cx="812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225" dirty="0">
                <a:solidFill>
                  <a:srgbClr val="B14F31"/>
                </a:solidFill>
                <a:latin typeface="Calibri"/>
                <a:cs typeface="Calibri"/>
              </a:rPr>
              <a:t>t</a:t>
            </a:r>
            <a:endParaRPr sz="20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74808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657" y="190500"/>
            <a:ext cx="5529943" cy="10096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D30D46-EFFE-234F-C942-58476A7F4944}"/>
              </a:ext>
            </a:extLst>
          </p:cNvPr>
          <p:cNvSpPr txBox="1"/>
          <p:nvPr/>
        </p:nvSpPr>
        <p:spPr>
          <a:xfrm>
            <a:off x="228600" y="190500"/>
            <a:ext cx="16459200" cy="5847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sz="3200" b="1" spc="-10" dirty="0">
                <a:solidFill>
                  <a:srgbClr val="FF0000"/>
                </a:solidFill>
              </a:rPr>
              <a:t>                                        Applications</a:t>
            </a:r>
            <a:r>
              <a:rPr lang="en-IN" sz="3200" b="1" dirty="0">
                <a:solidFill>
                  <a:srgbClr val="FF0000"/>
                </a:solidFill>
              </a:rPr>
              <a:t>	</a:t>
            </a:r>
            <a:r>
              <a:rPr lang="en-IN" sz="3200" b="1" spc="-50" dirty="0">
                <a:solidFill>
                  <a:srgbClr val="FF0000"/>
                </a:solidFill>
              </a:rPr>
              <a:t>&amp;       </a:t>
            </a:r>
            <a:r>
              <a:rPr lang="en-IN" sz="3200" b="1" spc="-10" dirty="0">
                <a:solidFill>
                  <a:srgbClr val="FF0000"/>
                </a:solidFill>
              </a:rPr>
              <a:t>Recommendations :</a:t>
            </a:r>
            <a:endParaRPr lang="en-IN" sz="3200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16ACF5-219E-71D3-1ACB-A54D441507AE}"/>
              </a:ext>
            </a:extLst>
          </p:cNvPr>
          <p:cNvSpPr txBox="1"/>
          <p:nvPr/>
        </p:nvSpPr>
        <p:spPr>
          <a:xfrm>
            <a:off x="457200" y="1181100"/>
            <a:ext cx="17602200" cy="91337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9900" indent="-457200">
              <a:lnSpc>
                <a:spcPct val="100000"/>
              </a:lnSpc>
              <a:spcBef>
                <a:spcPts val="1630"/>
              </a:spcBef>
              <a:buFont typeface="Wingdings" panose="05000000000000000000" pitchFamily="2" charset="2"/>
              <a:buChar char="q"/>
            </a:pPr>
            <a:r>
              <a:rPr lang="en-US" sz="2800" b="1" spc="-10" dirty="0">
                <a:solidFill>
                  <a:srgbClr val="FF0000"/>
                </a:solidFill>
              </a:rPr>
              <a:t>Applications :</a:t>
            </a:r>
          </a:p>
          <a:p>
            <a:pPr marL="12700">
              <a:lnSpc>
                <a:spcPct val="100000"/>
              </a:lnSpc>
              <a:spcBef>
                <a:spcPts val="1630"/>
              </a:spcBef>
            </a:pPr>
            <a:endParaRPr lang="en-US" sz="2800" b="1" spc="-10" dirty="0">
              <a:solidFill>
                <a:srgbClr val="FF0000"/>
              </a:solidFill>
            </a:endParaRPr>
          </a:p>
          <a:p>
            <a:pPr marL="1073785" marR="2207895" indent="-457200">
              <a:lnSpc>
                <a:spcPct val="150000"/>
              </a:lnSpc>
              <a:spcBef>
                <a:spcPts val="16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Used</a:t>
            </a:r>
            <a:r>
              <a:rPr lang="en-US" sz="2800" spc="-50" dirty="0"/>
              <a:t> </a:t>
            </a:r>
            <a:r>
              <a:rPr lang="en-US" sz="2800" dirty="0"/>
              <a:t>by</a:t>
            </a:r>
            <a:r>
              <a:rPr lang="en-US" sz="2800" spc="-50" dirty="0"/>
              <a:t> </a:t>
            </a:r>
            <a:r>
              <a:rPr lang="en-US" sz="2800" dirty="0"/>
              <a:t>Marketing</a:t>
            </a:r>
            <a:r>
              <a:rPr lang="en-US" sz="2800" spc="-50" dirty="0"/>
              <a:t> </a:t>
            </a:r>
            <a:r>
              <a:rPr lang="en-US" sz="2800" dirty="0"/>
              <a:t>Teams</a:t>
            </a:r>
            <a:r>
              <a:rPr lang="en-US" sz="2800" spc="-50" dirty="0"/>
              <a:t> </a:t>
            </a:r>
            <a:r>
              <a:rPr lang="en-US" sz="2800" dirty="0"/>
              <a:t>to</a:t>
            </a:r>
            <a:r>
              <a:rPr lang="en-US" sz="2800" spc="-50" dirty="0"/>
              <a:t> </a:t>
            </a:r>
            <a:r>
              <a:rPr lang="en-US" sz="2800" dirty="0"/>
              <a:t>identify</a:t>
            </a:r>
            <a:r>
              <a:rPr lang="en-US" sz="2800" spc="-45" dirty="0"/>
              <a:t> </a:t>
            </a:r>
            <a:r>
              <a:rPr lang="en-US" sz="2800" dirty="0"/>
              <a:t>and</a:t>
            </a:r>
            <a:r>
              <a:rPr lang="en-US" sz="2800" spc="-50" dirty="0"/>
              <a:t> </a:t>
            </a:r>
            <a:r>
              <a:rPr lang="en-US" sz="2800" dirty="0"/>
              <a:t>target</a:t>
            </a:r>
            <a:r>
              <a:rPr lang="en-US" sz="2800" spc="-50" dirty="0"/>
              <a:t> </a:t>
            </a:r>
            <a:r>
              <a:rPr lang="en-US" sz="2800" spc="-20" dirty="0"/>
              <a:t>high-</a:t>
            </a:r>
            <a:r>
              <a:rPr lang="en-US" sz="2800" dirty="0"/>
              <a:t>risk</a:t>
            </a:r>
            <a:r>
              <a:rPr lang="en-US" sz="2800" spc="-50" dirty="0"/>
              <a:t> </a:t>
            </a:r>
            <a:r>
              <a:rPr lang="en-US" sz="2800" dirty="0"/>
              <a:t>customers</a:t>
            </a:r>
            <a:r>
              <a:rPr lang="en-US" sz="2800" spc="-50" dirty="0"/>
              <a:t> </a:t>
            </a:r>
            <a:r>
              <a:rPr lang="en-US" sz="2800" dirty="0"/>
              <a:t>with</a:t>
            </a:r>
            <a:r>
              <a:rPr lang="en-US" sz="2800" spc="-50" dirty="0"/>
              <a:t> </a:t>
            </a:r>
            <a:r>
              <a:rPr lang="en-US" sz="2800" dirty="0"/>
              <a:t>retention</a:t>
            </a:r>
            <a:r>
              <a:rPr lang="en-US" sz="2800" spc="-45" dirty="0"/>
              <a:t> </a:t>
            </a:r>
            <a:r>
              <a:rPr lang="en-US" sz="2800" spc="-10" dirty="0"/>
              <a:t>offers.</a:t>
            </a:r>
          </a:p>
          <a:p>
            <a:pPr marL="1073785" marR="2207895" indent="-457200">
              <a:lnSpc>
                <a:spcPct val="150000"/>
              </a:lnSpc>
              <a:spcBef>
                <a:spcPts val="160"/>
              </a:spcBef>
              <a:buFont typeface="Wingdings" panose="05000000000000000000" pitchFamily="2" charset="2"/>
              <a:buChar char="Ø"/>
            </a:pPr>
            <a:r>
              <a:rPr lang="en-US" sz="2800" spc="-10" dirty="0"/>
              <a:t> </a:t>
            </a:r>
            <a:r>
              <a:rPr lang="en-US" sz="2800" dirty="0"/>
              <a:t>Helps</a:t>
            </a:r>
            <a:r>
              <a:rPr lang="en-US" sz="2800" spc="-70" dirty="0"/>
              <a:t> </a:t>
            </a:r>
            <a:r>
              <a:rPr lang="en-US" sz="2800" dirty="0"/>
              <a:t>Customer</a:t>
            </a:r>
            <a:r>
              <a:rPr lang="en-US" sz="2800" spc="-65" dirty="0"/>
              <a:t> </a:t>
            </a:r>
            <a:r>
              <a:rPr lang="en-US" sz="2800" dirty="0"/>
              <a:t>Support</a:t>
            </a:r>
            <a:r>
              <a:rPr lang="en-US" sz="2800" spc="-70" dirty="0"/>
              <a:t> </a:t>
            </a:r>
            <a:r>
              <a:rPr lang="en-US" sz="2800" dirty="0"/>
              <a:t>prioritize</a:t>
            </a:r>
            <a:r>
              <a:rPr lang="en-US" sz="2800" spc="-65" dirty="0"/>
              <a:t> </a:t>
            </a:r>
            <a:r>
              <a:rPr lang="en-US" sz="2800" dirty="0"/>
              <a:t>service</a:t>
            </a:r>
            <a:r>
              <a:rPr lang="en-US" sz="2800" spc="-70" dirty="0"/>
              <a:t> </a:t>
            </a:r>
            <a:r>
              <a:rPr lang="en-US" sz="2800" dirty="0"/>
              <a:t>improvement</a:t>
            </a:r>
            <a:r>
              <a:rPr lang="en-US" sz="2800" spc="-65" dirty="0"/>
              <a:t> </a:t>
            </a:r>
            <a:r>
              <a:rPr lang="en-US" sz="2800" dirty="0"/>
              <a:t>for</a:t>
            </a:r>
            <a:r>
              <a:rPr lang="en-US" sz="2800" spc="-70" dirty="0"/>
              <a:t> </a:t>
            </a:r>
            <a:r>
              <a:rPr lang="en-US" sz="2800" dirty="0"/>
              <a:t>segments</a:t>
            </a:r>
            <a:r>
              <a:rPr lang="en-US" sz="2800" spc="-65" dirty="0"/>
              <a:t> </a:t>
            </a:r>
            <a:r>
              <a:rPr lang="en-US" sz="2800" dirty="0"/>
              <a:t>with</a:t>
            </a:r>
            <a:r>
              <a:rPr lang="en-US" sz="2800" spc="-70" dirty="0"/>
              <a:t> </a:t>
            </a:r>
            <a:r>
              <a:rPr lang="en-US" sz="2800" dirty="0"/>
              <a:t>high</a:t>
            </a:r>
            <a:r>
              <a:rPr lang="en-US" sz="2800" spc="-65" dirty="0"/>
              <a:t> </a:t>
            </a:r>
            <a:r>
              <a:rPr lang="en-US" sz="2800" spc="-10" dirty="0"/>
              <a:t>churn.</a:t>
            </a:r>
          </a:p>
          <a:p>
            <a:pPr marL="1073785" marR="2473325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dirty="0"/>
              <a:t>Enables</a:t>
            </a:r>
            <a:r>
              <a:rPr lang="en-US" sz="2800" spc="-55" dirty="0"/>
              <a:t> </a:t>
            </a:r>
            <a:r>
              <a:rPr lang="en-US" sz="2800" dirty="0"/>
              <a:t>Management</a:t>
            </a:r>
            <a:r>
              <a:rPr lang="en-US" sz="2800" spc="-55" dirty="0"/>
              <a:t> </a:t>
            </a:r>
            <a:r>
              <a:rPr lang="en-US" sz="2800" dirty="0"/>
              <a:t>to</a:t>
            </a:r>
            <a:r>
              <a:rPr lang="en-US" sz="2800" spc="-50" dirty="0"/>
              <a:t> </a:t>
            </a:r>
            <a:r>
              <a:rPr lang="en-US" sz="2800" dirty="0"/>
              <a:t>track</a:t>
            </a:r>
            <a:r>
              <a:rPr lang="en-US" sz="2800" spc="-55" dirty="0"/>
              <a:t> </a:t>
            </a:r>
            <a:r>
              <a:rPr lang="en-US" sz="2800" dirty="0"/>
              <a:t>key</a:t>
            </a:r>
            <a:r>
              <a:rPr lang="en-US" sz="2800" spc="-55" dirty="0"/>
              <a:t> </a:t>
            </a:r>
            <a:r>
              <a:rPr lang="en-US" sz="2800" dirty="0"/>
              <a:t>churn</a:t>
            </a:r>
            <a:r>
              <a:rPr lang="en-US" sz="2800" spc="-50" dirty="0"/>
              <a:t> </a:t>
            </a:r>
            <a:r>
              <a:rPr lang="en-US" sz="2800" dirty="0"/>
              <a:t>KPIs</a:t>
            </a:r>
            <a:r>
              <a:rPr lang="en-US" sz="2800" spc="-55" dirty="0"/>
              <a:t> </a:t>
            </a:r>
            <a:r>
              <a:rPr lang="en-US" sz="2800" dirty="0"/>
              <a:t>and</a:t>
            </a:r>
            <a:r>
              <a:rPr lang="en-US" sz="2800" spc="-50" dirty="0"/>
              <a:t> </a:t>
            </a:r>
            <a:r>
              <a:rPr lang="en-US" sz="2800" dirty="0"/>
              <a:t>make</a:t>
            </a:r>
            <a:r>
              <a:rPr lang="en-US" sz="2800" spc="-55" dirty="0"/>
              <a:t> </a:t>
            </a:r>
            <a:r>
              <a:rPr lang="en-US" sz="2800" spc="-10" dirty="0"/>
              <a:t>data-</a:t>
            </a:r>
            <a:r>
              <a:rPr lang="en-US" sz="2800" dirty="0"/>
              <a:t>driven</a:t>
            </a:r>
            <a:r>
              <a:rPr lang="en-US" sz="2800" spc="-55" dirty="0"/>
              <a:t> </a:t>
            </a:r>
            <a:r>
              <a:rPr lang="en-US" sz="2800" dirty="0"/>
              <a:t>strategic</a:t>
            </a:r>
            <a:r>
              <a:rPr lang="en-US" sz="2800" spc="-50" dirty="0"/>
              <a:t> </a:t>
            </a:r>
            <a:r>
              <a:rPr lang="en-US" sz="2800" spc="-10" dirty="0"/>
              <a:t>decisions.</a:t>
            </a:r>
          </a:p>
          <a:p>
            <a:pPr marL="1073785" marR="2473325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spc="-10" dirty="0"/>
              <a:t> </a:t>
            </a:r>
            <a:r>
              <a:rPr lang="en-US" sz="2800" dirty="0"/>
              <a:t>Supports</a:t>
            </a:r>
            <a:r>
              <a:rPr lang="en-US" sz="2800" spc="-70" dirty="0"/>
              <a:t> </a:t>
            </a:r>
            <a:r>
              <a:rPr lang="en-US" sz="2800" dirty="0"/>
              <a:t>Product</a:t>
            </a:r>
            <a:r>
              <a:rPr lang="en-US" sz="2800" spc="-65" dirty="0"/>
              <a:t> </a:t>
            </a:r>
            <a:r>
              <a:rPr lang="en-US" sz="2800" dirty="0"/>
              <a:t>Teams</a:t>
            </a:r>
            <a:r>
              <a:rPr lang="en-US" sz="2800" spc="-65" dirty="0"/>
              <a:t> </a:t>
            </a:r>
            <a:r>
              <a:rPr lang="en-US" sz="2800" dirty="0"/>
              <a:t>in</a:t>
            </a:r>
            <a:r>
              <a:rPr lang="en-US" sz="2800" spc="-65" dirty="0"/>
              <a:t> </a:t>
            </a:r>
            <a:r>
              <a:rPr lang="en-US" sz="2800" dirty="0"/>
              <a:t>optimizing</a:t>
            </a:r>
            <a:r>
              <a:rPr lang="en-US" sz="2800" spc="-65" dirty="0"/>
              <a:t> </a:t>
            </a:r>
            <a:r>
              <a:rPr lang="en-US" sz="2800" dirty="0"/>
              <a:t>service</a:t>
            </a:r>
            <a:r>
              <a:rPr lang="en-US" sz="2800" spc="-65" dirty="0"/>
              <a:t> </a:t>
            </a:r>
            <a:r>
              <a:rPr lang="en-US" sz="2800" dirty="0"/>
              <a:t>bundles</a:t>
            </a:r>
            <a:r>
              <a:rPr lang="en-US" sz="2800" spc="-65" dirty="0"/>
              <a:t> </a:t>
            </a:r>
            <a:r>
              <a:rPr lang="en-US" sz="2800" dirty="0"/>
              <a:t>and</a:t>
            </a:r>
            <a:r>
              <a:rPr lang="en-US" sz="2800" spc="-65" dirty="0"/>
              <a:t> </a:t>
            </a:r>
            <a:r>
              <a:rPr lang="en-US" sz="2800" dirty="0"/>
              <a:t>pricing</a:t>
            </a:r>
            <a:r>
              <a:rPr lang="en-US" sz="2800" spc="-65" dirty="0"/>
              <a:t> </a:t>
            </a:r>
            <a:r>
              <a:rPr lang="en-US" sz="2800" spc="-10" dirty="0"/>
              <a:t>models.</a:t>
            </a:r>
            <a:endParaRPr lang="en-US" sz="2800" dirty="0"/>
          </a:p>
          <a:p>
            <a:pPr>
              <a:lnSpc>
                <a:spcPct val="150000"/>
              </a:lnSpc>
              <a:spcBef>
                <a:spcPts val="250"/>
              </a:spcBef>
            </a:pPr>
            <a:endParaRPr lang="en-US" sz="2800" dirty="0"/>
          </a:p>
          <a:p>
            <a:pPr marL="469900" indent="-457200"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sz="2800" spc="-10" dirty="0"/>
              <a:t>   </a:t>
            </a:r>
            <a:r>
              <a:rPr lang="en-US" sz="2800" b="1" spc="-10" dirty="0">
                <a:solidFill>
                  <a:srgbClr val="FF0000"/>
                </a:solidFill>
              </a:rPr>
              <a:t>Recommendations :</a:t>
            </a:r>
          </a:p>
          <a:p>
            <a:pPr marL="469900" indent="-457200">
              <a:lnSpc>
                <a:spcPct val="100000"/>
              </a:lnSpc>
              <a:buFont typeface="Wingdings" panose="05000000000000000000" pitchFamily="2" charset="2"/>
              <a:buChar char="q"/>
            </a:pPr>
            <a:endParaRPr lang="en-US" sz="2800" b="1" spc="-10" dirty="0">
              <a:solidFill>
                <a:srgbClr val="FF0000"/>
              </a:solidFill>
            </a:endParaRPr>
          </a:p>
          <a:p>
            <a:pPr marL="1073785" marR="1486535" indent="-457200">
              <a:lnSpc>
                <a:spcPct val="150000"/>
              </a:lnSpc>
              <a:spcBef>
                <a:spcPts val="16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Encourage</a:t>
            </a:r>
            <a:r>
              <a:rPr lang="en-US" sz="2800" spc="-50" dirty="0"/>
              <a:t> </a:t>
            </a:r>
            <a:r>
              <a:rPr lang="en-US" sz="2800" spc="-10" dirty="0"/>
              <a:t>long-</a:t>
            </a:r>
            <a:r>
              <a:rPr lang="en-US" sz="2800" dirty="0"/>
              <a:t>term</a:t>
            </a:r>
            <a:r>
              <a:rPr lang="en-US" sz="2800" spc="-50" dirty="0"/>
              <a:t> </a:t>
            </a:r>
            <a:r>
              <a:rPr lang="en-US" sz="2800" dirty="0"/>
              <a:t>contracts</a:t>
            </a:r>
            <a:r>
              <a:rPr lang="en-US" sz="2800" spc="-50" dirty="0"/>
              <a:t> </a:t>
            </a:r>
            <a:r>
              <a:rPr lang="en-US" sz="2800" spc="-10" dirty="0"/>
              <a:t>(1-</a:t>
            </a:r>
            <a:r>
              <a:rPr lang="en-US" sz="2800" dirty="0"/>
              <a:t>year</a:t>
            </a:r>
            <a:r>
              <a:rPr lang="en-US" sz="2800" spc="-45" dirty="0"/>
              <a:t> </a:t>
            </a:r>
            <a:r>
              <a:rPr lang="en-US" sz="2800" dirty="0"/>
              <a:t>or</a:t>
            </a:r>
            <a:r>
              <a:rPr lang="en-US" sz="2800" spc="-50" dirty="0"/>
              <a:t> </a:t>
            </a:r>
            <a:r>
              <a:rPr lang="en-US" sz="2800" spc="-10" dirty="0"/>
              <a:t>2-</a:t>
            </a:r>
            <a:r>
              <a:rPr lang="en-US" sz="2800" dirty="0"/>
              <a:t>year</a:t>
            </a:r>
            <a:r>
              <a:rPr lang="en-US" sz="2800" spc="-50" dirty="0"/>
              <a:t> </a:t>
            </a:r>
            <a:r>
              <a:rPr lang="en-US" sz="2800" dirty="0"/>
              <a:t>plans)</a:t>
            </a:r>
            <a:r>
              <a:rPr lang="en-US" sz="2800" spc="-50" dirty="0"/>
              <a:t> </a:t>
            </a:r>
            <a:r>
              <a:rPr lang="en-US" sz="2800" dirty="0"/>
              <a:t>through</a:t>
            </a:r>
            <a:r>
              <a:rPr lang="en-US" sz="2800" spc="-45" dirty="0"/>
              <a:t> </a:t>
            </a:r>
            <a:r>
              <a:rPr lang="en-US" sz="2800" dirty="0"/>
              <a:t>discounts</a:t>
            </a:r>
            <a:r>
              <a:rPr lang="en-US" sz="2800" spc="-50" dirty="0"/>
              <a:t> </a:t>
            </a:r>
            <a:r>
              <a:rPr lang="en-US" sz="2800" dirty="0"/>
              <a:t>and</a:t>
            </a:r>
            <a:r>
              <a:rPr lang="en-US" sz="2800" spc="-50" dirty="0"/>
              <a:t> </a:t>
            </a:r>
            <a:r>
              <a:rPr lang="en-US" sz="2800" dirty="0"/>
              <a:t>loyalty</a:t>
            </a:r>
            <a:r>
              <a:rPr lang="en-US" sz="2800" spc="-50" dirty="0"/>
              <a:t> </a:t>
            </a:r>
            <a:r>
              <a:rPr lang="en-US" sz="2800" spc="-10" dirty="0"/>
              <a:t>rewards.</a:t>
            </a:r>
          </a:p>
          <a:p>
            <a:pPr marL="1073785" marR="1486535" indent="-457200">
              <a:lnSpc>
                <a:spcPct val="150000"/>
              </a:lnSpc>
              <a:spcBef>
                <a:spcPts val="160"/>
              </a:spcBef>
              <a:buFont typeface="Wingdings" panose="05000000000000000000" pitchFamily="2" charset="2"/>
              <a:buChar char="Ø"/>
            </a:pPr>
            <a:r>
              <a:rPr lang="en-US" sz="2800" dirty="0"/>
              <a:t>Promote</a:t>
            </a:r>
            <a:r>
              <a:rPr lang="en-US" sz="2800" spc="-60" dirty="0"/>
              <a:t> </a:t>
            </a:r>
            <a:r>
              <a:rPr lang="en-US" sz="2800" dirty="0"/>
              <a:t>bundled</a:t>
            </a:r>
            <a:r>
              <a:rPr lang="en-US" sz="2800" spc="-60" dirty="0"/>
              <a:t> </a:t>
            </a:r>
            <a:r>
              <a:rPr lang="en-US" sz="2800" dirty="0"/>
              <a:t>service</a:t>
            </a:r>
            <a:r>
              <a:rPr lang="en-US" sz="2800" spc="-60" dirty="0"/>
              <a:t> </a:t>
            </a:r>
            <a:r>
              <a:rPr lang="en-US" sz="2800" dirty="0"/>
              <a:t>packages</a:t>
            </a:r>
            <a:r>
              <a:rPr lang="en-US" sz="2800" spc="-55" dirty="0"/>
              <a:t> </a:t>
            </a:r>
            <a:r>
              <a:rPr lang="en-US" sz="2800" dirty="0"/>
              <a:t>(e.g.,</a:t>
            </a:r>
            <a:r>
              <a:rPr lang="en-US" sz="2800" spc="-60" dirty="0"/>
              <a:t> </a:t>
            </a:r>
            <a:r>
              <a:rPr lang="en-US" sz="2800" dirty="0"/>
              <a:t>Internet</a:t>
            </a:r>
            <a:r>
              <a:rPr lang="en-US" sz="2800" spc="-60" dirty="0"/>
              <a:t> </a:t>
            </a:r>
            <a:r>
              <a:rPr lang="en-US" sz="2800" dirty="0"/>
              <a:t>+</a:t>
            </a:r>
            <a:r>
              <a:rPr lang="en-US" sz="2800" spc="-55" dirty="0"/>
              <a:t> </a:t>
            </a:r>
            <a:r>
              <a:rPr lang="en-US" sz="2800" dirty="0"/>
              <a:t>Streaming</a:t>
            </a:r>
            <a:r>
              <a:rPr lang="en-US" sz="2800" spc="-60" dirty="0"/>
              <a:t> </a:t>
            </a:r>
            <a:r>
              <a:rPr lang="en-US" sz="2800" dirty="0"/>
              <a:t>+</a:t>
            </a:r>
            <a:r>
              <a:rPr lang="en-US" sz="2800" spc="-60" dirty="0"/>
              <a:t> </a:t>
            </a:r>
            <a:r>
              <a:rPr lang="en-US" sz="2800" dirty="0"/>
              <a:t>Security)</a:t>
            </a:r>
            <a:r>
              <a:rPr lang="en-US" sz="2800" spc="-55" dirty="0"/>
              <a:t> </a:t>
            </a:r>
            <a:r>
              <a:rPr lang="en-US" sz="2800" dirty="0"/>
              <a:t>to</a:t>
            </a:r>
            <a:r>
              <a:rPr lang="en-US" sz="2800" spc="-60" dirty="0"/>
              <a:t> </a:t>
            </a:r>
            <a:r>
              <a:rPr lang="en-US" sz="2800" dirty="0"/>
              <a:t>reduce</a:t>
            </a:r>
            <a:r>
              <a:rPr lang="en-US" sz="2800" spc="-60" dirty="0"/>
              <a:t> </a:t>
            </a:r>
            <a:r>
              <a:rPr lang="en-US" sz="2800" spc="-10" dirty="0"/>
              <a:t>churn.</a:t>
            </a:r>
            <a:endParaRPr lang="en-US" sz="2800" dirty="0"/>
          </a:p>
          <a:p>
            <a:pPr marL="1073785" marR="508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dirty="0"/>
              <a:t>Improve</a:t>
            </a:r>
            <a:r>
              <a:rPr lang="en-US" sz="2800" spc="-55" dirty="0"/>
              <a:t> </a:t>
            </a:r>
            <a:r>
              <a:rPr lang="en-US" sz="2800" dirty="0"/>
              <a:t>customer</a:t>
            </a:r>
            <a:r>
              <a:rPr lang="en-US" sz="2800" spc="-50" dirty="0"/>
              <a:t> </a:t>
            </a:r>
            <a:r>
              <a:rPr lang="en-US" sz="2800" dirty="0"/>
              <a:t>retention</a:t>
            </a:r>
            <a:r>
              <a:rPr lang="en-US" sz="2800" spc="-55" dirty="0"/>
              <a:t> </a:t>
            </a:r>
            <a:r>
              <a:rPr lang="en-US" sz="2800" dirty="0"/>
              <a:t>by</a:t>
            </a:r>
            <a:r>
              <a:rPr lang="en-US" sz="2800" spc="-50" dirty="0"/>
              <a:t> </a:t>
            </a:r>
            <a:r>
              <a:rPr lang="en-US" sz="2800" dirty="0"/>
              <a:t>offering</a:t>
            </a:r>
            <a:r>
              <a:rPr lang="en-US" sz="2800" spc="-55" dirty="0"/>
              <a:t> </a:t>
            </a:r>
            <a:r>
              <a:rPr lang="en-US" sz="2800" dirty="0"/>
              <a:t>personalized</a:t>
            </a:r>
            <a:r>
              <a:rPr lang="en-US" sz="2800" spc="-50" dirty="0"/>
              <a:t> </a:t>
            </a:r>
            <a:r>
              <a:rPr lang="en-US" sz="2800" dirty="0"/>
              <a:t>plans</a:t>
            </a:r>
            <a:r>
              <a:rPr lang="en-US" sz="2800" spc="-55" dirty="0"/>
              <a:t> </a:t>
            </a:r>
            <a:r>
              <a:rPr lang="en-US" sz="2800" dirty="0"/>
              <a:t>for</a:t>
            </a:r>
            <a:r>
              <a:rPr lang="en-US" sz="2800" spc="-50" dirty="0"/>
              <a:t> </a:t>
            </a:r>
            <a:r>
              <a:rPr lang="en-US" sz="2800" dirty="0"/>
              <a:t>senior</a:t>
            </a:r>
            <a:r>
              <a:rPr lang="en-US" sz="2800" spc="-55" dirty="0"/>
              <a:t> </a:t>
            </a:r>
            <a:r>
              <a:rPr lang="en-US" sz="2800" dirty="0"/>
              <a:t>citizens</a:t>
            </a:r>
            <a:r>
              <a:rPr lang="en-US" sz="2800" spc="-50" dirty="0"/>
              <a:t> </a:t>
            </a:r>
            <a:r>
              <a:rPr lang="en-US" sz="2800" dirty="0"/>
              <a:t>and</a:t>
            </a:r>
            <a:r>
              <a:rPr lang="en-US" sz="2800" spc="-55" dirty="0"/>
              <a:t> </a:t>
            </a:r>
            <a:r>
              <a:rPr lang="en-US" sz="2800" spc="-20" dirty="0"/>
              <a:t>high-</a:t>
            </a:r>
            <a:r>
              <a:rPr lang="en-US" sz="2800" dirty="0"/>
              <a:t>charge</a:t>
            </a:r>
            <a:r>
              <a:rPr lang="en-US" sz="2800" spc="-50" dirty="0"/>
              <a:t> </a:t>
            </a:r>
            <a:r>
              <a:rPr lang="en-US" sz="2800" spc="-10" dirty="0"/>
              <a:t>users.</a:t>
            </a:r>
          </a:p>
          <a:p>
            <a:pPr marL="1073785" marR="508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spc="-10" dirty="0"/>
              <a:t> </a:t>
            </a:r>
            <a:r>
              <a:rPr lang="en-US" sz="2800" dirty="0"/>
              <a:t>Educate</a:t>
            </a:r>
            <a:r>
              <a:rPr lang="en-US" sz="2800" spc="-60" dirty="0"/>
              <a:t> </a:t>
            </a:r>
            <a:r>
              <a:rPr lang="en-US" sz="2800" dirty="0"/>
              <a:t>customers</a:t>
            </a:r>
            <a:r>
              <a:rPr lang="en-US" sz="2800" spc="-55" dirty="0"/>
              <a:t> </a:t>
            </a:r>
            <a:r>
              <a:rPr lang="en-US" sz="2800" dirty="0"/>
              <a:t>about</a:t>
            </a:r>
            <a:r>
              <a:rPr lang="en-US" sz="2800" spc="-55" dirty="0"/>
              <a:t> </a:t>
            </a:r>
            <a:r>
              <a:rPr lang="en-US" sz="2800" dirty="0"/>
              <a:t>benefits</a:t>
            </a:r>
            <a:r>
              <a:rPr lang="en-US" sz="2800" spc="-60" dirty="0"/>
              <a:t> </a:t>
            </a:r>
            <a:r>
              <a:rPr lang="en-US" sz="2800" dirty="0"/>
              <a:t>of</a:t>
            </a:r>
            <a:r>
              <a:rPr lang="en-US" sz="2800" spc="-55" dirty="0"/>
              <a:t> </a:t>
            </a:r>
            <a:r>
              <a:rPr lang="en-US" sz="2800" dirty="0"/>
              <a:t>online</a:t>
            </a:r>
            <a:r>
              <a:rPr lang="en-US" sz="2800" spc="-55" dirty="0"/>
              <a:t> </a:t>
            </a:r>
            <a:r>
              <a:rPr lang="en-US" sz="2800" dirty="0"/>
              <a:t>backup</a:t>
            </a:r>
            <a:r>
              <a:rPr lang="en-US" sz="2800" spc="-60" dirty="0"/>
              <a:t> </a:t>
            </a:r>
            <a:r>
              <a:rPr lang="en-US" sz="2800" dirty="0"/>
              <a:t>and</a:t>
            </a:r>
            <a:r>
              <a:rPr lang="en-US" sz="2800" spc="-55" dirty="0"/>
              <a:t> </a:t>
            </a:r>
            <a:r>
              <a:rPr lang="en-US" sz="2800" dirty="0"/>
              <a:t>device</a:t>
            </a:r>
            <a:r>
              <a:rPr lang="en-US" sz="2800" spc="-55" dirty="0"/>
              <a:t> </a:t>
            </a:r>
            <a:r>
              <a:rPr lang="en-US" sz="2800" dirty="0"/>
              <a:t>protection</a:t>
            </a:r>
            <a:r>
              <a:rPr lang="en-US" sz="2800" spc="-55" dirty="0"/>
              <a:t> </a:t>
            </a:r>
            <a:r>
              <a:rPr lang="en-US" sz="2800" dirty="0"/>
              <a:t>services,</a:t>
            </a:r>
            <a:r>
              <a:rPr lang="en-US" sz="2800" spc="-60" dirty="0"/>
              <a:t> </a:t>
            </a:r>
            <a:r>
              <a:rPr lang="en-US" sz="2800" dirty="0"/>
              <a:t>as</a:t>
            </a:r>
            <a:r>
              <a:rPr lang="en-US" sz="2800" spc="-55" dirty="0"/>
              <a:t> </a:t>
            </a:r>
            <a:r>
              <a:rPr lang="en-US" sz="2800" dirty="0"/>
              <a:t>these</a:t>
            </a:r>
            <a:r>
              <a:rPr lang="en-US" sz="2800" spc="-55" dirty="0"/>
              <a:t> </a:t>
            </a:r>
            <a:r>
              <a:rPr lang="en-US" sz="2800" dirty="0"/>
              <a:t>reduce</a:t>
            </a:r>
          </a:p>
          <a:p>
            <a:pPr marL="1073785" marR="5080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spc="-60" dirty="0"/>
              <a:t> </a:t>
            </a:r>
            <a:r>
              <a:rPr lang="en-US" sz="2800" spc="-10" dirty="0"/>
              <a:t>churn. </a:t>
            </a:r>
            <a:r>
              <a:rPr lang="en-US" sz="2800" dirty="0"/>
              <a:t>Monitor</a:t>
            </a:r>
            <a:r>
              <a:rPr lang="en-US" sz="2800" spc="-55" dirty="0"/>
              <a:t> </a:t>
            </a:r>
            <a:r>
              <a:rPr lang="en-US" sz="2800" dirty="0"/>
              <a:t>monthly</a:t>
            </a:r>
            <a:r>
              <a:rPr lang="en-US" sz="2800" spc="-50" dirty="0"/>
              <a:t> </a:t>
            </a:r>
            <a:r>
              <a:rPr lang="en-US" sz="2800" dirty="0"/>
              <a:t>charges</a:t>
            </a:r>
            <a:r>
              <a:rPr lang="en-US" sz="2800" spc="-50" dirty="0"/>
              <a:t> </a:t>
            </a:r>
            <a:r>
              <a:rPr lang="en-US" sz="2800" dirty="0"/>
              <a:t>and</a:t>
            </a:r>
            <a:r>
              <a:rPr lang="en-US" sz="2800" spc="-50" dirty="0"/>
              <a:t> </a:t>
            </a:r>
            <a:r>
              <a:rPr lang="en-US" sz="2800" dirty="0"/>
              <a:t>payment</a:t>
            </a:r>
            <a:r>
              <a:rPr lang="en-US" sz="2800" spc="-55" dirty="0"/>
              <a:t> </a:t>
            </a:r>
            <a:r>
              <a:rPr lang="en-US" sz="2800" dirty="0"/>
              <a:t>issues</a:t>
            </a:r>
            <a:r>
              <a:rPr lang="en-US" sz="2800" spc="-50" dirty="0"/>
              <a:t> </a:t>
            </a:r>
            <a:r>
              <a:rPr lang="en-US" sz="2800" dirty="0"/>
              <a:t>closely</a:t>
            </a:r>
            <a:r>
              <a:rPr lang="en-US" sz="2800" spc="-50" dirty="0"/>
              <a:t> </a:t>
            </a:r>
            <a:r>
              <a:rPr lang="en-US" sz="2800" dirty="0"/>
              <a:t>for</a:t>
            </a:r>
            <a:r>
              <a:rPr lang="en-US" sz="2800" spc="-50" dirty="0"/>
              <a:t> </a:t>
            </a:r>
            <a:r>
              <a:rPr lang="en-US" sz="2800" dirty="0"/>
              <a:t>early</a:t>
            </a:r>
            <a:r>
              <a:rPr lang="en-US" sz="2800" spc="-55" dirty="0"/>
              <a:t> </a:t>
            </a:r>
            <a:r>
              <a:rPr lang="en-US" sz="2800" dirty="0"/>
              <a:t>churn</a:t>
            </a:r>
            <a:r>
              <a:rPr lang="en-US" sz="2800" spc="-50" dirty="0"/>
              <a:t> </a:t>
            </a:r>
            <a:r>
              <a:rPr lang="en-US" sz="2800" spc="-10" dirty="0"/>
              <a:t>indicators.</a:t>
            </a:r>
          </a:p>
          <a:p>
            <a:pPr marL="616585" marR="5080">
              <a:lnSpc>
                <a:spcPct val="131700"/>
              </a:lnSpc>
            </a:pP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5D3CDB-AAD9-EE48-B145-CC90456D86B4}"/>
              </a:ext>
            </a:extLst>
          </p:cNvPr>
          <p:cNvSpPr txBox="1"/>
          <p:nvPr/>
        </p:nvSpPr>
        <p:spPr>
          <a:xfrm>
            <a:off x="914400" y="364357"/>
            <a:ext cx="15011400" cy="70788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sz="4000" b="1" spc="-10" dirty="0">
                <a:solidFill>
                  <a:srgbClr val="FF0000"/>
                </a:solidFill>
              </a:rPr>
              <a:t>                             CONCLUSION  :</a:t>
            </a:r>
            <a:endParaRPr lang="en-IN" sz="4000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7A2992-1092-E83C-5B62-F6C02E05C2C0}"/>
              </a:ext>
            </a:extLst>
          </p:cNvPr>
          <p:cNvSpPr txBox="1"/>
          <p:nvPr/>
        </p:nvSpPr>
        <p:spPr>
          <a:xfrm>
            <a:off x="0" y="1555210"/>
            <a:ext cx="19050000" cy="81419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9900" marR="864235" indent="-457200">
              <a:lnSpc>
                <a:spcPct val="150000"/>
              </a:lnSpc>
              <a:spcBef>
                <a:spcPts val="100"/>
              </a:spcBef>
              <a:buFont typeface="Wingdings" panose="05000000000000000000" pitchFamily="2" charset="2"/>
              <a:buChar char="§"/>
            </a:pPr>
            <a:r>
              <a:rPr lang="en-US" sz="3200" b="1" dirty="0">
                <a:latin typeface="Times New Roman"/>
                <a:cs typeface="Times New Roman"/>
              </a:rPr>
              <a:t>The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Power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BI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dashboards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provided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clear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visibility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into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customer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churn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behavior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and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spc="-10" dirty="0">
                <a:latin typeface="Times New Roman"/>
                <a:cs typeface="Times New Roman"/>
              </a:rPr>
              <a:t>patterns.</a:t>
            </a:r>
          </a:p>
          <a:p>
            <a:pPr marL="469900" marR="864235" indent="-457200">
              <a:lnSpc>
                <a:spcPct val="150000"/>
              </a:lnSpc>
              <a:spcBef>
                <a:spcPts val="100"/>
              </a:spcBef>
              <a:buFont typeface="Wingdings" panose="05000000000000000000" pitchFamily="2" charset="2"/>
              <a:buChar char="§"/>
            </a:pPr>
            <a:r>
              <a:rPr lang="en-US" sz="3200" b="1" spc="-1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Analysis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revealed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that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high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monthly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charges,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spc="-25" dirty="0">
                <a:latin typeface="Times New Roman"/>
                <a:cs typeface="Times New Roman"/>
              </a:rPr>
              <a:t>month-</a:t>
            </a:r>
            <a:r>
              <a:rPr lang="en-US" sz="3200" b="1" spc="-10" dirty="0">
                <a:latin typeface="Times New Roman"/>
                <a:cs typeface="Times New Roman"/>
              </a:rPr>
              <a:t>to-</a:t>
            </a:r>
            <a:r>
              <a:rPr lang="en-US" sz="3200" b="1" dirty="0">
                <a:latin typeface="Times New Roman"/>
                <a:cs typeface="Times New Roman"/>
              </a:rPr>
              <a:t>month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contracts,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and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fiber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optic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services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spc="-25" dirty="0">
                <a:latin typeface="Times New Roman"/>
                <a:cs typeface="Times New Roman"/>
              </a:rPr>
              <a:t>are </a:t>
            </a:r>
            <a:r>
              <a:rPr lang="en-US" sz="3200" b="1" dirty="0">
                <a:latin typeface="Times New Roman"/>
                <a:cs typeface="Times New Roman"/>
              </a:rPr>
              <a:t>major</a:t>
            </a:r>
            <a:r>
              <a:rPr lang="en-US" sz="3200" b="1" spc="-6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churn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spc="-10" dirty="0">
                <a:latin typeface="Times New Roman"/>
                <a:cs typeface="Times New Roman"/>
              </a:rPr>
              <a:t>drivers.</a:t>
            </a:r>
          </a:p>
          <a:p>
            <a:pPr marL="469900" marR="389890" indent="-45720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b="1" dirty="0">
                <a:latin typeface="Times New Roman"/>
                <a:cs typeface="Times New Roman"/>
              </a:rPr>
              <a:t>Customers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with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longer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tenure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and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multiple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service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subscriptions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show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greater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loyalty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and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lower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spc="-10" dirty="0">
                <a:latin typeface="Times New Roman"/>
                <a:cs typeface="Times New Roman"/>
              </a:rPr>
              <a:t>churn.</a:t>
            </a:r>
          </a:p>
          <a:p>
            <a:pPr marL="469900" marR="389890" indent="-45720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b="1" spc="-1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Demographic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factors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such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as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senior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citizen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status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and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spc="-10" dirty="0">
                <a:latin typeface="Times New Roman"/>
                <a:cs typeface="Times New Roman"/>
              </a:rPr>
              <a:t>partner/dependent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presence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also</a:t>
            </a:r>
            <a:r>
              <a:rPr lang="en-US" sz="3200" b="1" spc="-5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influence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spc="-20" dirty="0">
                <a:latin typeface="Times New Roman"/>
                <a:cs typeface="Times New Roman"/>
              </a:rPr>
              <a:t>churn </a:t>
            </a:r>
            <a:r>
              <a:rPr lang="en-US" sz="3200" b="1" spc="-10" dirty="0">
                <a:latin typeface="Times New Roman"/>
                <a:cs typeface="Times New Roman"/>
              </a:rPr>
              <a:t>tendency.</a:t>
            </a:r>
            <a:endParaRPr lang="en-US" sz="3200" dirty="0">
              <a:latin typeface="Times New Roman"/>
              <a:cs typeface="Times New Roman"/>
            </a:endParaRPr>
          </a:p>
          <a:p>
            <a:pPr marL="469900" marR="972819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b="1" dirty="0">
                <a:latin typeface="Times New Roman"/>
                <a:cs typeface="Times New Roman"/>
              </a:rPr>
              <a:t>The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insights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enable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the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company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to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design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targeted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retention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strategies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and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reduce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customer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spc="-20" dirty="0">
                <a:latin typeface="Times New Roman"/>
                <a:cs typeface="Times New Roman"/>
              </a:rPr>
              <a:t>loss.</a:t>
            </a:r>
          </a:p>
          <a:p>
            <a:pPr marL="469900" marR="972819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b="1" spc="-2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Implementing</a:t>
            </a:r>
            <a:r>
              <a:rPr lang="en-US" sz="3200" b="1" spc="-65" dirty="0">
                <a:latin typeface="Times New Roman"/>
                <a:cs typeface="Times New Roman"/>
              </a:rPr>
              <a:t> </a:t>
            </a:r>
            <a:r>
              <a:rPr lang="en-US" sz="3200" b="1" spc="-10" dirty="0">
                <a:latin typeface="Times New Roman"/>
                <a:cs typeface="Times New Roman"/>
              </a:rPr>
              <a:t>data-</a:t>
            </a:r>
            <a:r>
              <a:rPr lang="en-US" sz="3200" b="1" dirty="0">
                <a:latin typeface="Times New Roman"/>
                <a:cs typeface="Times New Roman"/>
              </a:rPr>
              <a:t>driven</a:t>
            </a:r>
            <a:r>
              <a:rPr lang="en-US" sz="3200" b="1" spc="-6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actions</a:t>
            </a:r>
            <a:r>
              <a:rPr lang="en-US" sz="3200" b="1" spc="-6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can</a:t>
            </a:r>
            <a:r>
              <a:rPr lang="en-US" sz="3200" b="1" spc="-6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help</a:t>
            </a:r>
            <a:r>
              <a:rPr lang="en-US" sz="3200" b="1" spc="-6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boost</a:t>
            </a:r>
            <a:r>
              <a:rPr lang="en-US" sz="3200" b="1" spc="-6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customer</a:t>
            </a:r>
            <a:r>
              <a:rPr lang="en-US" sz="3200" b="1" spc="-6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satisfaction,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increase</a:t>
            </a:r>
            <a:r>
              <a:rPr lang="en-US" sz="3200" b="1" spc="-6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retention</a:t>
            </a:r>
            <a:r>
              <a:rPr lang="en-US" sz="3200" b="1" spc="-6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rate,</a:t>
            </a:r>
            <a:r>
              <a:rPr lang="en-US" sz="3200" b="1" spc="-65" dirty="0">
                <a:latin typeface="Times New Roman"/>
                <a:cs typeface="Times New Roman"/>
              </a:rPr>
              <a:t> </a:t>
            </a:r>
            <a:r>
              <a:rPr lang="en-US" sz="3200" b="1" spc="-25" dirty="0">
                <a:latin typeface="Times New Roman"/>
                <a:cs typeface="Times New Roman"/>
              </a:rPr>
              <a:t>and </a:t>
            </a:r>
            <a:r>
              <a:rPr lang="en-US" sz="3200" b="1" dirty="0">
                <a:latin typeface="Times New Roman"/>
                <a:cs typeface="Times New Roman"/>
              </a:rPr>
              <a:t>maximize</a:t>
            </a:r>
            <a:r>
              <a:rPr lang="en-US" sz="3200" b="1" spc="-80" dirty="0">
                <a:latin typeface="Times New Roman"/>
                <a:cs typeface="Times New Roman"/>
              </a:rPr>
              <a:t> </a:t>
            </a:r>
            <a:r>
              <a:rPr lang="en-US" sz="3200" b="1" spc="-10" dirty="0">
                <a:latin typeface="Times New Roman"/>
                <a:cs typeface="Times New Roman"/>
              </a:rPr>
              <a:t>revenue.</a:t>
            </a:r>
            <a:endParaRPr lang="en-US" sz="3200" dirty="0">
              <a:latin typeface="Times New Roman"/>
              <a:cs typeface="Times New Roman"/>
            </a:endParaRPr>
          </a:p>
          <a:p>
            <a:pPr marL="469900" marR="508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3200" b="1" dirty="0">
                <a:latin typeface="Times New Roman"/>
                <a:cs typeface="Times New Roman"/>
              </a:rPr>
              <a:t>Overall,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the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project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demonstrates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how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Power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BI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transforms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raw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data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into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actionable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business</a:t>
            </a:r>
            <a:r>
              <a:rPr lang="en-US" sz="3200" b="1" spc="-55" dirty="0">
                <a:latin typeface="Times New Roman"/>
                <a:cs typeface="Times New Roman"/>
              </a:rPr>
              <a:t> </a:t>
            </a:r>
            <a:r>
              <a:rPr lang="en-US" sz="3200" b="1" dirty="0">
                <a:latin typeface="Times New Roman"/>
                <a:cs typeface="Times New Roman"/>
              </a:rPr>
              <a:t>insights</a:t>
            </a:r>
            <a:r>
              <a:rPr lang="en-US" sz="3200" b="1" spc="-60" dirty="0">
                <a:latin typeface="Times New Roman"/>
                <a:cs typeface="Times New Roman"/>
              </a:rPr>
              <a:t> </a:t>
            </a:r>
            <a:r>
              <a:rPr lang="en-US" sz="3200" b="1" spc="-25" dirty="0">
                <a:latin typeface="Times New Roman"/>
                <a:cs typeface="Times New Roman"/>
              </a:rPr>
              <a:t>for </a:t>
            </a:r>
            <a:r>
              <a:rPr lang="en-US" sz="3200" b="1" dirty="0">
                <a:latin typeface="Times New Roman"/>
                <a:cs typeface="Times New Roman"/>
              </a:rPr>
              <a:t>strategic</a:t>
            </a:r>
            <a:r>
              <a:rPr lang="en-US" sz="3200" b="1" spc="-30" dirty="0">
                <a:latin typeface="Times New Roman"/>
                <a:cs typeface="Times New Roman"/>
              </a:rPr>
              <a:t> </a:t>
            </a:r>
            <a:r>
              <a:rPr lang="en-US" sz="3200" b="1" spc="-10" dirty="0">
                <a:latin typeface="Times New Roman"/>
                <a:cs typeface="Times New Roman"/>
              </a:rPr>
              <a:t>decision-making.</a:t>
            </a:r>
            <a:endParaRPr lang="en-US" sz="3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hatsApp Image 2025-10-25 at 12.53.34 AM.jpeg">
            <a:extLst>
              <a:ext uri="{FF2B5EF4-FFF2-40B4-BE49-F238E27FC236}">
                <a16:creationId xmlns:a16="http://schemas.microsoft.com/office/drawing/2014/main" id="{94563CA0-38F5-41FE-C260-C16738AFE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886" y="0"/>
            <a:ext cx="18298886" cy="1028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926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465</TotalTime>
  <Words>911</Words>
  <Application>Microsoft Office PowerPoint</Application>
  <PresentationFormat>Custom</PresentationFormat>
  <Paragraphs>98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 and Green Modern Customer Support Presentation</dc:title>
  <dc:creator>Yuva Raju</dc:creator>
  <cp:keywords>DAG4gRjCEX0,BAGzf4mnVyo,0</cp:keywords>
  <cp:lastModifiedBy>Yuva Raju</cp:lastModifiedBy>
  <cp:revision>3</cp:revision>
  <dcterms:created xsi:type="dcterms:W3CDTF">2025-11-12T17:59:52Z</dcterms:created>
  <dcterms:modified xsi:type="dcterms:W3CDTF">2025-11-14T19:06:48Z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2025-11-12T00:00:00Z</vt:filetime>
  </property>
  <property fmtid="{D5CDD505-2E9C-101B-9397-08002B2CF9AE}" pid="3" name="Creator">
    <vt:lpwstr>Canva</vt:lpwstr>
  </property>
  <property fmtid="{D5CDD505-2E9C-101B-9397-08002B2CF9AE}" pid="4" name="LastSaved">
    <vt:filetime>2025-11-12T00:00:00Z</vt:filetime>
  </property>
  <property fmtid="{D5CDD505-2E9C-101B-9397-08002B2CF9AE}" pid="5" name="Producer">
    <vt:lpwstr>Canva</vt:lpwstr>
  </property>
</Properties>
</file>